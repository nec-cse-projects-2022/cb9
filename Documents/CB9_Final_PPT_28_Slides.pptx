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8.jpg" ContentType="image/jpeg"/>
  <Override PartName="/ppt/media/image9.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60" r:id="rId3"/>
    <p:sldId id="258" r:id="rId4"/>
    <p:sldId id="259" r:id="rId5"/>
    <p:sldId id="261" r:id="rId6"/>
    <p:sldId id="262" r:id="rId7"/>
    <p:sldId id="264" r:id="rId8"/>
    <p:sldId id="263" r:id="rId9"/>
    <p:sldId id="265" r:id="rId10"/>
    <p:sldId id="266" r:id="rId11"/>
    <p:sldId id="267" r:id="rId12"/>
    <p:sldId id="286" r:id="rId13"/>
    <p:sldId id="288" r:id="rId14"/>
    <p:sldId id="268" r:id="rId15"/>
    <p:sldId id="279" r:id="rId16"/>
    <p:sldId id="280" r:id="rId17"/>
    <p:sldId id="281" r:id="rId18"/>
    <p:sldId id="269" r:id="rId19"/>
    <p:sldId id="289" r:id="rId20"/>
    <p:sldId id="282" r:id="rId21"/>
    <p:sldId id="283" r:id="rId22"/>
    <p:sldId id="270" r:id="rId23"/>
    <p:sldId id="271" r:id="rId24"/>
    <p:sldId id="285" r:id="rId25"/>
    <p:sldId id="287" r:id="rId26"/>
    <p:sldId id="284" r:id="rId27"/>
    <p:sldId id="274" r:id="rId28"/>
    <p:sldId id="275" r:id="rId29"/>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80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2806699" y="529843"/>
            <a:ext cx="6578600" cy="70104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336357"/>
            <a:ext cx="10356850" cy="44875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529987" y="6451049"/>
            <a:ext cx="1242059"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5" name="Holder 5"/>
          <p:cNvSpPr>
            <a:spLocks noGrp="1"/>
          </p:cNvSpPr>
          <p:nvPr>
            <p:ph type="dt" sz="half" idx="6"/>
          </p:nvPr>
        </p:nvSpPr>
        <p:spPr>
          <a:xfrm>
            <a:off x="917575" y="6451049"/>
            <a:ext cx="74993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6" name="Holder 6"/>
          <p:cNvSpPr>
            <a:spLocks noGrp="1"/>
          </p:cNvSpPr>
          <p:nvPr>
            <p:ph type="sldNum" sz="quarter" idx="7"/>
          </p:nvPr>
        </p:nvSpPr>
        <p:spPr>
          <a:xfrm>
            <a:off x="11082401" y="6451049"/>
            <a:ext cx="2286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document/10930496" TargetMode="External"/><Relationship Id="rId2" Type="http://schemas.openxmlformats.org/officeDocument/2006/relationships/hyperlink" Target="https://ieeexplore.ieee.org/document/10979267" TargetMode="External"/><Relationship Id="rId1" Type="http://schemas.openxmlformats.org/officeDocument/2006/relationships/slideLayout" Target="../slideLayouts/slideLayout2.xml"/><Relationship Id="rId6" Type="http://schemas.openxmlformats.org/officeDocument/2006/relationships/hyperlink" Target="https://ieeexplore.ieee.org/document/10984146" TargetMode="External"/><Relationship Id="rId5" Type="http://schemas.openxmlformats.org/officeDocument/2006/relationships/hyperlink" Target="https://ieeexplore.ieee.org/document/11042312" TargetMode="External"/><Relationship Id="rId4" Type="http://schemas.openxmlformats.org/officeDocument/2006/relationships/hyperlink" Target="https://ieeexplore.ieee.org/document/1103582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2072639" y="696704"/>
            <a:ext cx="8277859" cy="1145184"/>
          </a:xfrm>
          <a:prstGeom prst="rect">
            <a:avLst/>
          </a:prstGeom>
        </p:spPr>
        <p:txBody>
          <a:bodyPr vert="horz" wrap="square" lIns="0" tIns="64769" rIns="0" bIns="0" rtlCol="0">
            <a:spAutoFit/>
          </a:bodyPr>
          <a:lstStyle/>
          <a:p>
            <a:pPr algn="ctr">
              <a:lnSpc>
                <a:spcPct val="100000"/>
              </a:lnSpc>
              <a:spcBef>
                <a:spcPts val="509"/>
              </a:spcBef>
            </a:pPr>
            <a:r>
              <a:rPr sz="1800" spc="-10" dirty="0"/>
              <a:t>Department</a:t>
            </a:r>
            <a:r>
              <a:rPr sz="1800" spc="65" dirty="0"/>
              <a:t> </a:t>
            </a:r>
            <a:r>
              <a:rPr sz="1800" dirty="0"/>
              <a:t>of</a:t>
            </a:r>
            <a:r>
              <a:rPr sz="1800" spc="-10" dirty="0"/>
              <a:t> </a:t>
            </a:r>
            <a:r>
              <a:rPr sz="1800" spc="-20" dirty="0"/>
              <a:t>Computer</a:t>
            </a:r>
            <a:r>
              <a:rPr sz="1800" spc="90" dirty="0"/>
              <a:t> </a:t>
            </a:r>
            <a:r>
              <a:rPr sz="1800" dirty="0"/>
              <a:t>Science</a:t>
            </a:r>
            <a:r>
              <a:rPr sz="1800" spc="-60" dirty="0"/>
              <a:t> </a:t>
            </a:r>
            <a:r>
              <a:rPr sz="1800" spc="-10" dirty="0"/>
              <a:t>and</a:t>
            </a:r>
            <a:r>
              <a:rPr sz="1800" spc="40" dirty="0"/>
              <a:t> </a:t>
            </a:r>
            <a:r>
              <a:rPr sz="1800" dirty="0"/>
              <a:t>Engineering</a:t>
            </a:r>
          </a:p>
          <a:p>
            <a:pPr algn="ctr">
              <a:lnSpc>
                <a:spcPct val="100000"/>
              </a:lnSpc>
              <a:spcBef>
                <a:spcPts val="545"/>
              </a:spcBef>
            </a:pPr>
            <a:r>
              <a:rPr lang="en-US" sz="2400" dirty="0">
                <a:solidFill>
                  <a:srgbClr val="FF0000"/>
                </a:solidFill>
              </a:rPr>
              <a:t>A Machine Learning Framework for Forest Fire Prediction in the Nallamala Forest Using NDVI and Synthetic Weather Data</a:t>
            </a:r>
            <a:endParaRPr sz="2400" dirty="0">
              <a:solidFill>
                <a:srgbClr val="FF0000"/>
              </a:solidFill>
            </a:endParaRPr>
          </a:p>
        </p:txBody>
      </p:sp>
      <p:sp>
        <p:nvSpPr>
          <p:cNvPr id="6" name="object 6"/>
          <p:cNvSpPr txBox="1"/>
          <p:nvPr/>
        </p:nvSpPr>
        <p:spPr>
          <a:xfrm>
            <a:off x="5184393" y="1987033"/>
            <a:ext cx="1503045" cy="266065"/>
          </a:xfrm>
          <a:prstGeom prst="rect">
            <a:avLst/>
          </a:prstGeom>
        </p:spPr>
        <p:txBody>
          <a:bodyPr vert="horz" wrap="square" lIns="0" tIns="15875" rIns="0" bIns="0" rtlCol="0">
            <a:spAutoFit/>
          </a:bodyPr>
          <a:lstStyle/>
          <a:p>
            <a:pPr marL="12700">
              <a:lnSpc>
                <a:spcPct val="100000"/>
              </a:lnSpc>
              <a:spcBef>
                <a:spcPts val="125"/>
              </a:spcBef>
            </a:pPr>
            <a:r>
              <a:rPr sz="1550" spc="5" dirty="0">
                <a:latin typeface="Times New Roman"/>
                <a:cs typeface="Times New Roman"/>
              </a:rPr>
              <a:t>PRESENTED</a:t>
            </a:r>
            <a:r>
              <a:rPr sz="1550" spc="120" dirty="0">
                <a:latin typeface="Times New Roman"/>
                <a:cs typeface="Times New Roman"/>
              </a:rPr>
              <a:t> </a:t>
            </a:r>
            <a:r>
              <a:rPr sz="1550" spc="15" dirty="0">
                <a:latin typeface="Times New Roman"/>
                <a:cs typeface="Times New Roman"/>
              </a:rPr>
              <a:t>BY</a:t>
            </a:r>
            <a:endParaRPr sz="1550" dirty="0">
              <a:latin typeface="Times New Roman"/>
              <a:cs typeface="Times New Roman"/>
            </a:endParaRPr>
          </a:p>
        </p:txBody>
      </p:sp>
      <p:sp>
        <p:nvSpPr>
          <p:cNvPr id="7" name="object 7"/>
          <p:cNvSpPr txBox="1"/>
          <p:nvPr/>
        </p:nvSpPr>
        <p:spPr>
          <a:xfrm>
            <a:off x="3714749" y="2315548"/>
            <a:ext cx="5241702" cy="1035668"/>
          </a:xfrm>
          <a:prstGeom prst="rect">
            <a:avLst/>
          </a:prstGeom>
        </p:spPr>
        <p:txBody>
          <a:bodyPr vert="horz" wrap="square" lIns="0" tIns="12065" rIns="0" bIns="0" rtlCol="0">
            <a:spAutoFit/>
          </a:bodyPr>
          <a:lstStyle/>
          <a:p>
            <a:pPr marL="12700" marR="5080" indent="8890">
              <a:lnSpc>
                <a:spcPct val="137300"/>
              </a:lnSpc>
              <a:spcBef>
                <a:spcPts val="95"/>
              </a:spcBef>
            </a:pPr>
            <a:r>
              <a:rPr lang="en-IN" sz="1600" spc="-10" dirty="0">
                <a:latin typeface="Times New Roman" panose="02020603050405020304" pitchFamily="18" charset="0"/>
                <a:cs typeface="Times New Roman" panose="02020603050405020304" pitchFamily="18" charset="0"/>
              </a:rPr>
              <a:t>Gairuboina Naveen Kumar                (22471A05F5)</a:t>
            </a:r>
          </a:p>
          <a:p>
            <a:pPr marL="12700" marR="5080" indent="8890">
              <a:lnSpc>
                <a:spcPct val="137300"/>
              </a:lnSpc>
              <a:spcBef>
                <a:spcPts val="95"/>
              </a:spcBef>
            </a:pPr>
            <a:r>
              <a:rPr lang="en-US" sz="1600" spc="-10" dirty="0">
                <a:latin typeface="Times New Roman" panose="02020603050405020304" pitchFamily="18" charset="0"/>
                <a:cs typeface="Times New Roman" panose="02020603050405020304" pitchFamily="18" charset="0"/>
              </a:rPr>
              <a:t>Dogiparthi Venkata Sai Girish           (22471A05F2)</a:t>
            </a:r>
          </a:p>
          <a:p>
            <a:pPr marL="21590">
              <a:lnSpc>
                <a:spcPct val="100000"/>
              </a:lnSpc>
              <a:spcBef>
                <a:spcPts val="690"/>
              </a:spcBef>
            </a:pPr>
            <a:r>
              <a:rPr lang="en-IN" sz="1600" spc="-20" dirty="0">
                <a:latin typeface="Times New Roman" panose="02020603050405020304" pitchFamily="18" charset="0"/>
                <a:cs typeface="Times New Roman" panose="02020603050405020304" pitchFamily="18" charset="0"/>
              </a:rPr>
              <a:t>Sanikommu Nirupam Reddy               (22471A05I6)</a:t>
            </a:r>
            <a:endParaRPr sz="16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3886201" y="4038600"/>
            <a:ext cx="4424426" cy="2287549"/>
          </a:xfrm>
          <a:prstGeom prst="rect">
            <a:avLst/>
          </a:prstGeom>
        </p:spPr>
        <p:txBody>
          <a:bodyPr vert="horz" wrap="square" lIns="0" tIns="20320" rIns="0" bIns="0" rtlCol="0">
            <a:spAutoFit/>
          </a:bodyPr>
          <a:lstStyle/>
          <a:p>
            <a:pPr marL="1022350" marR="1009650" algn="ctr">
              <a:lnSpc>
                <a:spcPct val="122000"/>
              </a:lnSpc>
              <a:spcBef>
                <a:spcPts val="160"/>
              </a:spcBef>
            </a:pPr>
            <a:r>
              <a:rPr sz="1800" spc="-15" dirty="0">
                <a:solidFill>
                  <a:srgbClr val="006600"/>
                </a:solidFill>
                <a:latin typeface="Times New Roman"/>
                <a:cs typeface="Times New Roman"/>
              </a:rPr>
              <a:t>Under</a:t>
            </a:r>
            <a:r>
              <a:rPr sz="1800" spc="50" dirty="0">
                <a:solidFill>
                  <a:srgbClr val="006600"/>
                </a:solidFill>
                <a:latin typeface="Times New Roman"/>
                <a:cs typeface="Times New Roman"/>
              </a:rPr>
              <a:t> </a:t>
            </a:r>
            <a:r>
              <a:rPr sz="1800" spc="5" dirty="0">
                <a:solidFill>
                  <a:srgbClr val="006600"/>
                </a:solidFill>
                <a:latin typeface="Times New Roman"/>
                <a:cs typeface="Times New Roman"/>
              </a:rPr>
              <a:t>the</a:t>
            </a:r>
            <a:r>
              <a:rPr sz="1800" spc="-65" dirty="0">
                <a:solidFill>
                  <a:srgbClr val="006600"/>
                </a:solidFill>
                <a:latin typeface="Times New Roman"/>
                <a:cs typeface="Times New Roman"/>
              </a:rPr>
              <a:t> </a:t>
            </a:r>
            <a:r>
              <a:rPr sz="1800" spc="-5" dirty="0">
                <a:solidFill>
                  <a:srgbClr val="006600"/>
                </a:solidFill>
                <a:latin typeface="Times New Roman"/>
                <a:cs typeface="Times New Roman"/>
              </a:rPr>
              <a:t>G</a:t>
            </a:r>
            <a:r>
              <a:rPr lang="en-IN" sz="1800" spc="-5" dirty="0">
                <a:solidFill>
                  <a:srgbClr val="006600"/>
                </a:solidFill>
                <a:latin typeface="Times New Roman"/>
                <a:cs typeface="Times New Roman"/>
              </a:rPr>
              <a:t>uidance</a:t>
            </a:r>
            <a:r>
              <a:rPr lang="en-IN" sz="1800" spc="5" dirty="0">
                <a:solidFill>
                  <a:srgbClr val="006600"/>
                </a:solidFill>
                <a:latin typeface="Times New Roman"/>
                <a:cs typeface="Times New Roman"/>
              </a:rPr>
              <a:t> </a:t>
            </a:r>
            <a:r>
              <a:rPr lang="en-IN" sz="1800" dirty="0">
                <a:solidFill>
                  <a:srgbClr val="006600"/>
                </a:solidFill>
                <a:latin typeface="Times New Roman"/>
                <a:cs typeface="Times New Roman"/>
              </a:rPr>
              <a:t>of</a:t>
            </a:r>
            <a:r>
              <a:rPr lang="en-IN" dirty="0">
                <a:solidFill>
                  <a:srgbClr val="006600"/>
                </a:solidFill>
                <a:latin typeface="Times New Roman"/>
                <a:cs typeface="Times New Roman"/>
              </a:rPr>
              <a:t>  </a:t>
            </a:r>
          </a:p>
          <a:p>
            <a:pPr marR="292735" algn="ctr">
              <a:lnSpc>
                <a:spcPct val="150000"/>
              </a:lnSpc>
              <a:spcBef>
                <a:spcPts val="50"/>
              </a:spcBef>
              <a:spcAft>
                <a:spcPts val="0"/>
              </a:spcAft>
            </a:pPr>
            <a:r>
              <a:rPr lang="en-US" sz="1400" b="1" dirty="0">
                <a:effectLst/>
                <a:latin typeface="Times New Roman" panose="02020603050405020304" pitchFamily="18" charset="0"/>
                <a:ea typeface="Times New Roman" panose="02020603050405020304" pitchFamily="18" charset="0"/>
              </a:rPr>
              <a:t>         Dr S.</a:t>
            </a:r>
            <a:r>
              <a:rPr lang="en-US" sz="1400" b="1" dirty="0">
                <a:latin typeface="Times New Roman" panose="02020603050405020304" pitchFamily="18" charset="0"/>
                <a:ea typeface="Times New Roman" panose="02020603050405020304" pitchFamily="18" charset="0"/>
              </a:rPr>
              <a:t> Siva Nageswara Rao</a:t>
            </a:r>
            <a:r>
              <a:rPr lang="en-US" sz="1400" b="1" dirty="0">
                <a:effectLst/>
                <a:latin typeface="Times New Roman" panose="02020603050405020304" pitchFamily="18" charset="0"/>
                <a:ea typeface="Times New Roman" panose="02020603050405020304" pitchFamily="18" charset="0"/>
              </a:rPr>
              <a:t>, </a:t>
            </a:r>
            <a:r>
              <a:rPr lang="en-US" sz="1400" b="1" baseline="-25000" dirty="0">
                <a:effectLst/>
                <a:latin typeface="Times New Roman" panose="02020603050405020304" pitchFamily="18" charset="0"/>
                <a:ea typeface="Times New Roman" panose="02020603050405020304" pitchFamily="18" charset="0"/>
              </a:rPr>
              <a:t>M.Tech., Ph.D.</a:t>
            </a:r>
          </a:p>
          <a:p>
            <a:pPr marR="292735" algn="ctr">
              <a:lnSpc>
                <a:spcPct val="150000"/>
              </a:lnSpc>
              <a:spcBef>
                <a:spcPts val="50"/>
              </a:spcBef>
              <a:spcAft>
                <a:spcPts val="0"/>
              </a:spcAft>
            </a:pPr>
            <a:r>
              <a:rPr lang="en-US" sz="1400" b="1" dirty="0">
                <a:effectLst/>
                <a:latin typeface="Times New Roman" panose="02020603050405020304" pitchFamily="18" charset="0"/>
                <a:ea typeface="Times New Roman" panose="02020603050405020304" pitchFamily="18" charset="0"/>
              </a:rPr>
              <a:t>       </a:t>
            </a:r>
            <a:r>
              <a:rPr lang="en-IN" sz="1550" spc="-5" dirty="0">
                <a:latin typeface="Times New Roman"/>
                <a:cs typeface="Times New Roman"/>
              </a:rPr>
              <a:t>Professor</a:t>
            </a:r>
            <a:r>
              <a:rPr lang="en-IN" sz="1550" b="1" dirty="0">
                <a:latin typeface="Times New Roman"/>
                <a:cs typeface="Times New Roman"/>
              </a:rPr>
              <a:t> </a:t>
            </a:r>
            <a:endParaRPr lang="en-IN" sz="1550" dirty="0">
              <a:latin typeface="Times New Roman"/>
              <a:cs typeface="Times New Roman"/>
            </a:endParaRPr>
          </a:p>
          <a:p>
            <a:pPr algn="ctr">
              <a:lnSpc>
                <a:spcPct val="100000"/>
              </a:lnSpc>
              <a:spcBef>
                <a:spcPts val="1070"/>
              </a:spcBef>
            </a:pPr>
            <a:r>
              <a:rPr sz="1550" spc="-10" dirty="0">
                <a:solidFill>
                  <a:srgbClr val="888888"/>
                </a:solidFill>
                <a:latin typeface="Times New Roman"/>
                <a:cs typeface="Times New Roman"/>
              </a:rPr>
              <a:t>Department</a:t>
            </a:r>
            <a:r>
              <a:rPr sz="1550" spc="290" dirty="0">
                <a:solidFill>
                  <a:srgbClr val="888888"/>
                </a:solidFill>
                <a:latin typeface="Times New Roman"/>
                <a:cs typeface="Times New Roman"/>
              </a:rPr>
              <a:t> </a:t>
            </a:r>
            <a:r>
              <a:rPr sz="1550" spc="25" dirty="0">
                <a:solidFill>
                  <a:srgbClr val="888888"/>
                </a:solidFill>
                <a:latin typeface="Times New Roman"/>
                <a:cs typeface="Times New Roman"/>
              </a:rPr>
              <a:t>of</a:t>
            </a:r>
            <a:r>
              <a:rPr sz="1550" spc="-15" dirty="0">
                <a:solidFill>
                  <a:srgbClr val="888888"/>
                </a:solidFill>
                <a:latin typeface="Times New Roman"/>
                <a:cs typeface="Times New Roman"/>
              </a:rPr>
              <a:t> </a:t>
            </a:r>
            <a:r>
              <a:rPr sz="1550" spc="10" dirty="0">
                <a:solidFill>
                  <a:srgbClr val="888888"/>
                </a:solidFill>
                <a:latin typeface="Times New Roman"/>
                <a:cs typeface="Times New Roman"/>
              </a:rPr>
              <a:t>Computer</a:t>
            </a:r>
            <a:r>
              <a:rPr sz="1550" spc="135" dirty="0">
                <a:solidFill>
                  <a:srgbClr val="888888"/>
                </a:solidFill>
                <a:latin typeface="Times New Roman"/>
                <a:cs typeface="Times New Roman"/>
              </a:rPr>
              <a:t> </a:t>
            </a:r>
            <a:r>
              <a:rPr sz="1550" spc="-15" dirty="0">
                <a:solidFill>
                  <a:srgbClr val="888888"/>
                </a:solidFill>
                <a:latin typeface="Times New Roman"/>
                <a:cs typeface="Times New Roman"/>
              </a:rPr>
              <a:t>Science</a:t>
            </a:r>
            <a:r>
              <a:rPr sz="1550" spc="260" dirty="0">
                <a:solidFill>
                  <a:srgbClr val="888888"/>
                </a:solidFill>
                <a:latin typeface="Times New Roman"/>
                <a:cs typeface="Times New Roman"/>
              </a:rPr>
              <a:t> </a:t>
            </a:r>
            <a:r>
              <a:rPr sz="1550" spc="-10" dirty="0">
                <a:solidFill>
                  <a:srgbClr val="888888"/>
                </a:solidFill>
                <a:latin typeface="Times New Roman"/>
                <a:cs typeface="Times New Roman"/>
              </a:rPr>
              <a:t>and</a:t>
            </a:r>
            <a:r>
              <a:rPr sz="1550" spc="90" dirty="0">
                <a:solidFill>
                  <a:srgbClr val="888888"/>
                </a:solidFill>
                <a:latin typeface="Times New Roman"/>
                <a:cs typeface="Times New Roman"/>
              </a:rPr>
              <a:t> </a:t>
            </a:r>
            <a:r>
              <a:rPr sz="1550" spc="-10" dirty="0">
                <a:solidFill>
                  <a:srgbClr val="888888"/>
                </a:solidFill>
                <a:latin typeface="Times New Roman"/>
                <a:cs typeface="Times New Roman"/>
              </a:rPr>
              <a:t>Engineering,</a:t>
            </a:r>
            <a:endParaRPr sz="1550" dirty="0">
              <a:latin typeface="Times New Roman"/>
              <a:cs typeface="Times New Roman"/>
            </a:endParaRPr>
          </a:p>
          <a:p>
            <a:pPr marL="12700" marR="5080" algn="ctr">
              <a:lnSpc>
                <a:spcPct val="173700"/>
              </a:lnSpc>
              <a:spcBef>
                <a:spcPts val="70"/>
              </a:spcBef>
            </a:pPr>
            <a:r>
              <a:rPr sz="1550" spc="-5" dirty="0">
                <a:solidFill>
                  <a:srgbClr val="888888"/>
                </a:solidFill>
                <a:latin typeface="Times New Roman"/>
                <a:cs typeface="Times New Roman"/>
              </a:rPr>
              <a:t>Narasaraopeta</a:t>
            </a:r>
            <a:r>
              <a:rPr sz="1550" dirty="0">
                <a:solidFill>
                  <a:srgbClr val="888888"/>
                </a:solidFill>
                <a:latin typeface="Times New Roman"/>
                <a:cs typeface="Times New Roman"/>
              </a:rPr>
              <a:t> </a:t>
            </a:r>
            <a:r>
              <a:rPr sz="1550" spc="-10" dirty="0">
                <a:solidFill>
                  <a:srgbClr val="888888"/>
                </a:solidFill>
                <a:latin typeface="Times New Roman"/>
                <a:cs typeface="Times New Roman"/>
              </a:rPr>
              <a:t>Engineering</a:t>
            </a:r>
            <a:r>
              <a:rPr sz="1550" spc="-5" dirty="0">
                <a:solidFill>
                  <a:srgbClr val="888888"/>
                </a:solidFill>
                <a:latin typeface="Times New Roman"/>
                <a:cs typeface="Times New Roman"/>
              </a:rPr>
              <a:t> </a:t>
            </a:r>
            <a:r>
              <a:rPr sz="1550" spc="5" dirty="0">
                <a:solidFill>
                  <a:srgbClr val="888888"/>
                </a:solidFill>
                <a:latin typeface="Times New Roman"/>
                <a:cs typeface="Times New Roman"/>
              </a:rPr>
              <a:t>College </a:t>
            </a:r>
            <a:r>
              <a:rPr sz="1550" spc="10" dirty="0">
                <a:solidFill>
                  <a:srgbClr val="888888"/>
                </a:solidFill>
                <a:latin typeface="Times New Roman"/>
                <a:cs typeface="Times New Roman"/>
              </a:rPr>
              <a:t>(Autonomous), </a:t>
            </a:r>
            <a:r>
              <a:rPr sz="1550" spc="-375" dirty="0">
                <a:solidFill>
                  <a:srgbClr val="888888"/>
                </a:solidFill>
                <a:latin typeface="Times New Roman"/>
                <a:cs typeface="Times New Roman"/>
              </a:rPr>
              <a:t> </a:t>
            </a:r>
            <a:r>
              <a:rPr sz="1550" spc="-5" dirty="0">
                <a:solidFill>
                  <a:srgbClr val="888888"/>
                </a:solidFill>
                <a:latin typeface="Times New Roman"/>
                <a:cs typeface="Times New Roman"/>
              </a:rPr>
              <a:t>Narasaraopet-</a:t>
            </a:r>
            <a:r>
              <a:rPr sz="1550" spc="285" dirty="0">
                <a:solidFill>
                  <a:srgbClr val="888888"/>
                </a:solidFill>
                <a:latin typeface="Times New Roman"/>
                <a:cs typeface="Times New Roman"/>
              </a:rPr>
              <a:t> </a:t>
            </a:r>
            <a:r>
              <a:rPr sz="1550" spc="30" dirty="0">
                <a:solidFill>
                  <a:srgbClr val="888888"/>
                </a:solidFill>
                <a:latin typeface="Times New Roman"/>
                <a:cs typeface="Times New Roman"/>
              </a:rPr>
              <a:t>522</a:t>
            </a:r>
            <a:r>
              <a:rPr sz="1550" spc="20" dirty="0">
                <a:solidFill>
                  <a:srgbClr val="888888"/>
                </a:solidFill>
                <a:latin typeface="Times New Roman"/>
                <a:cs typeface="Times New Roman"/>
              </a:rPr>
              <a:t> </a:t>
            </a:r>
            <a:r>
              <a:rPr sz="1550" spc="30" dirty="0">
                <a:solidFill>
                  <a:srgbClr val="888888"/>
                </a:solidFill>
                <a:latin typeface="Times New Roman"/>
                <a:cs typeface="Times New Roman"/>
              </a:rPr>
              <a:t>601.</a:t>
            </a:r>
            <a:endParaRPr sz="1550" dirty="0">
              <a:latin typeface="Times New Roman"/>
              <a:cs typeface="Times New Roman"/>
            </a:endParaRPr>
          </a:p>
        </p:txBody>
      </p:sp>
      <p:pic>
        <p:nvPicPr>
          <p:cNvPr id="10" name="object 10"/>
          <p:cNvPicPr/>
          <p:nvPr/>
        </p:nvPicPr>
        <p:blipFill>
          <a:blip r:embed="rId2" cstate="print"/>
          <a:stretch>
            <a:fillRect/>
          </a:stretch>
        </p:blipFill>
        <p:spPr>
          <a:xfrm>
            <a:off x="66675" y="131344"/>
            <a:ext cx="3648074" cy="505326"/>
          </a:xfrm>
          <a:prstGeom prst="rect">
            <a:avLst/>
          </a:prstGeom>
        </p:spPr>
      </p:pic>
      <p:sp>
        <p:nvSpPr>
          <p:cNvPr id="11" name="object 11"/>
          <p:cNvSpPr txBox="1">
            <a:spLocks noGrp="1"/>
          </p:cNvSpPr>
          <p:nvPr>
            <p:ph type="dt" sz="half" idx="6"/>
          </p:nvPr>
        </p:nvSpPr>
        <p:spPr>
          <a:xfrm>
            <a:off x="838200" y="6451049"/>
            <a:ext cx="749935" cy="179536"/>
          </a:xfrm>
          <a:prstGeom prst="rect">
            <a:avLst/>
          </a:prstGeom>
        </p:spPr>
        <p:txBody>
          <a:bodyPr vert="horz" wrap="square" lIns="0" tIns="0" rIns="0" bIns="0" rtlCol="0">
            <a:spAutoFit/>
          </a:bodyPr>
          <a:lstStyle/>
          <a:p>
            <a:pPr marL="12700">
              <a:lnSpc>
                <a:spcPts val="1410"/>
              </a:lnSpc>
            </a:pPr>
            <a:r>
              <a:rPr lang="en-IN" spc="5" dirty="0"/>
              <a:t>10</a:t>
            </a:r>
            <a:r>
              <a:rPr spc="5" dirty="0"/>
              <a:t>-</a:t>
            </a:r>
            <a:r>
              <a:rPr lang="en-IN" spc="5" dirty="0"/>
              <a:t>02</a:t>
            </a:r>
            <a:r>
              <a:rPr spc="5" dirty="0"/>
              <a:t>-202</a:t>
            </a:r>
            <a:r>
              <a:rPr lang="en-US" spc="5" dirty="0"/>
              <a:t>6</a:t>
            </a:r>
            <a:endParaRPr spc="5" dirty="0"/>
          </a:p>
        </p:txBody>
      </p:sp>
      <p:sp>
        <p:nvSpPr>
          <p:cNvPr id="12" name="object 12"/>
          <p:cNvSpPr txBox="1"/>
          <p:nvPr/>
        </p:nvSpPr>
        <p:spPr>
          <a:xfrm>
            <a:off x="4350002" y="6451048"/>
            <a:ext cx="907797"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0"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.03</a:t>
            </a:r>
            <a:endParaRPr sz="1200" dirty="0">
              <a:latin typeface="Times New Roman"/>
              <a:cs typeface="Times New Roman"/>
            </a:endParaRPr>
          </a:p>
        </p:txBody>
      </p:sp>
      <p:sp>
        <p:nvSpPr>
          <p:cNvPr id="13" name="object 13"/>
          <p:cNvSpPr txBox="1"/>
          <p:nvPr/>
        </p:nvSpPr>
        <p:spPr>
          <a:xfrm>
            <a:off x="5530658" y="6451049"/>
            <a:ext cx="1078421" cy="179536"/>
          </a:xfrm>
          <a:prstGeom prst="rect">
            <a:avLst/>
          </a:prstGeom>
        </p:spPr>
        <p:txBody>
          <a:bodyPr vert="horz" wrap="square" lIns="0" tIns="0" rIns="0" bIns="0" rtlCol="0">
            <a:spAutoFit/>
          </a:bodyPr>
          <a:lstStyle/>
          <a:p>
            <a:pPr marL="12700">
              <a:lnSpc>
                <a:spcPts val="1410"/>
              </a:lnSpc>
            </a:pPr>
            <a:r>
              <a:rPr sz="1200" spc="-20" dirty="0">
                <a:solidFill>
                  <a:srgbClr val="888888"/>
                </a:solidFill>
                <a:latin typeface="Times New Roman"/>
                <a:cs typeface="Times New Roman"/>
              </a:rPr>
              <a:t>Batch</a:t>
            </a:r>
            <a:r>
              <a:rPr sz="1200" spc="80"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14" name="object 14"/>
          <p:cNvSpPr txBox="1"/>
          <p:nvPr/>
        </p:nvSpPr>
        <p:spPr>
          <a:xfrm>
            <a:off x="6609080" y="6451049"/>
            <a:ext cx="1242060" cy="194310"/>
          </a:xfrm>
          <a:prstGeom prst="rect">
            <a:avLst/>
          </a:prstGeom>
        </p:spPr>
        <p:txBody>
          <a:bodyPr vert="horz" wrap="square" lIns="0" tIns="0" rIns="0" bIns="0" rtlCol="0">
            <a:spAutoFit/>
          </a:bodyPr>
          <a:lstStyle/>
          <a:p>
            <a:pPr marL="12700">
              <a:lnSpc>
                <a:spcPts val="1410"/>
              </a:lnSpc>
            </a:pPr>
            <a:r>
              <a:rPr sz="1200" spc="-35" dirty="0">
                <a:solidFill>
                  <a:srgbClr val="888888"/>
                </a:solidFill>
                <a:latin typeface="Times New Roman"/>
                <a:cs typeface="Times New Roman"/>
              </a:rPr>
              <a:t>Department</a:t>
            </a:r>
            <a:r>
              <a:rPr sz="1200" spc="295" dirty="0">
                <a:solidFill>
                  <a:srgbClr val="888888"/>
                </a:solidFill>
                <a:latin typeface="Times New Roman"/>
                <a:cs typeface="Times New Roman"/>
              </a:rPr>
              <a:t> </a:t>
            </a:r>
            <a:r>
              <a:rPr sz="1200" dirty="0">
                <a:solidFill>
                  <a:srgbClr val="888888"/>
                </a:solidFill>
                <a:latin typeface="Times New Roman"/>
                <a:cs typeface="Times New Roman"/>
              </a:rPr>
              <a:t>of</a:t>
            </a:r>
            <a:r>
              <a:rPr sz="1200" spc="25" dirty="0">
                <a:solidFill>
                  <a:srgbClr val="888888"/>
                </a:solidFill>
                <a:latin typeface="Times New Roman"/>
                <a:cs typeface="Times New Roman"/>
              </a:rPr>
              <a:t> </a:t>
            </a:r>
            <a:r>
              <a:rPr sz="1200" spc="5" dirty="0">
                <a:solidFill>
                  <a:srgbClr val="888888"/>
                </a:solidFill>
                <a:latin typeface="Times New Roman"/>
                <a:cs typeface="Times New Roman"/>
              </a:rPr>
              <a:t>CSE</a:t>
            </a:r>
            <a:endParaRPr sz="1200" dirty="0">
              <a:latin typeface="Times New Roman"/>
              <a:cs typeface="Times New Roman"/>
            </a:endParaRPr>
          </a:p>
        </p:txBody>
      </p:sp>
      <p:sp>
        <p:nvSpPr>
          <p:cNvPr id="15" name="object 15"/>
          <p:cNvSpPr txBox="1"/>
          <p:nvPr/>
        </p:nvSpPr>
        <p:spPr>
          <a:xfrm>
            <a:off x="11184001" y="6451049"/>
            <a:ext cx="101600" cy="179536"/>
          </a:xfrm>
          <a:prstGeom prst="rect">
            <a:avLst/>
          </a:prstGeom>
        </p:spPr>
        <p:txBody>
          <a:bodyPr vert="horz" wrap="square" lIns="0" tIns="0" rIns="0" bIns="0" rtlCol="0">
            <a:spAutoFit/>
          </a:bodyPr>
          <a:lstStyle/>
          <a:p>
            <a:pPr marL="12700">
              <a:lnSpc>
                <a:spcPts val="1410"/>
              </a:lnSpc>
            </a:pPr>
            <a:r>
              <a:rPr lang="en-US" sz="1200" dirty="0">
                <a:solidFill>
                  <a:srgbClr val="888888"/>
                </a:solidFill>
                <a:latin typeface="Times New Roman"/>
                <a:cs typeface="Times New Roman"/>
              </a:rPr>
              <a:t>1</a:t>
            </a:r>
            <a:endParaRPr sz="12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59096" y="529843"/>
            <a:ext cx="2621280" cy="701040"/>
          </a:xfrm>
          <a:prstGeom prst="rect">
            <a:avLst/>
          </a:prstGeom>
        </p:spPr>
        <p:txBody>
          <a:bodyPr vert="horz" wrap="square" lIns="0" tIns="16510" rIns="0" bIns="0" rtlCol="0">
            <a:spAutoFit/>
          </a:bodyPr>
          <a:lstStyle/>
          <a:p>
            <a:pPr marL="12700">
              <a:lnSpc>
                <a:spcPct val="100000"/>
              </a:lnSpc>
              <a:spcBef>
                <a:spcPts val="130"/>
              </a:spcBef>
            </a:pPr>
            <a:r>
              <a:rPr spc="15" dirty="0"/>
              <a:t>OUTLINE</a:t>
            </a:r>
          </a:p>
        </p:txBody>
      </p:sp>
      <p:sp>
        <p:nvSpPr>
          <p:cNvPr id="4" name="object 4"/>
          <p:cNvSpPr txBox="1">
            <a:spLocks noGrp="1"/>
          </p:cNvSpPr>
          <p:nvPr>
            <p:ph type="dt" sz="half" idx="6"/>
          </p:nvPr>
        </p:nvSpPr>
        <p:spPr>
          <a:xfrm>
            <a:off x="917575" y="6451049"/>
            <a:ext cx="911225" cy="359073"/>
          </a:xfrm>
          <a:prstGeom prst="rect">
            <a:avLst/>
          </a:prstGeom>
        </p:spPr>
        <p:txBody>
          <a:bodyPr vert="horz" wrap="square" lIns="0" tIns="0" rIns="0" bIns="0" rtlCol="0">
            <a:spAutoFit/>
          </a:bodyPr>
          <a:lstStyle/>
          <a:p>
            <a:pPr marL="12700">
              <a:lnSpc>
                <a:spcPts val="1410"/>
              </a:lnSpc>
            </a:pPr>
            <a:r>
              <a:rPr lang="en-US" spc="5" dirty="0"/>
              <a:t> </a:t>
            </a:r>
            <a:r>
              <a:rPr lang="en-IN" spc="5" dirty="0"/>
              <a:t>10-11-2025</a:t>
            </a:r>
          </a:p>
          <a:p>
            <a:pPr marL="12700">
              <a:lnSpc>
                <a:spcPts val="1410"/>
              </a:lnSpc>
            </a:pPr>
            <a:endParaRPr spc="5" dirty="0"/>
          </a:p>
        </p:txBody>
      </p:sp>
      <p:sp>
        <p:nvSpPr>
          <p:cNvPr id="5" name="object 5"/>
          <p:cNvSpPr txBox="1"/>
          <p:nvPr/>
        </p:nvSpPr>
        <p:spPr>
          <a:xfrm>
            <a:off x="4426329" y="6451049"/>
            <a:ext cx="911225"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6"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a:t>
            </a:fld>
            <a:endParaRPr dirty="0"/>
          </a:p>
        </p:txBody>
      </p:sp>
      <p:sp>
        <p:nvSpPr>
          <p:cNvPr id="3" name="object 3"/>
          <p:cNvSpPr txBox="1"/>
          <p:nvPr/>
        </p:nvSpPr>
        <p:spPr>
          <a:xfrm>
            <a:off x="917574" y="1173924"/>
            <a:ext cx="5559426" cy="4846198"/>
          </a:xfrm>
          <a:prstGeom prst="rect">
            <a:avLst/>
          </a:prstGeom>
        </p:spPr>
        <p:txBody>
          <a:bodyPr vert="horz" wrap="square" lIns="0" tIns="62230" rIns="0" bIns="0" rtlCol="0">
            <a:spAutoFit/>
          </a:bodyPr>
          <a:lstStyle/>
          <a:p>
            <a:pPr marL="527685" indent="-514984">
              <a:lnSpc>
                <a:spcPct val="100000"/>
              </a:lnSpc>
              <a:spcBef>
                <a:spcPts val="490"/>
              </a:spcBef>
              <a:buAutoNum type="arabicPeriod"/>
              <a:tabLst>
                <a:tab pos="527050" algn="l"/>
                <a:tab pos="527685" algn="l"/>
              </a:tabLst>
            </a:pPr>
            <a:r>
              <a:rPr sz="1800" dirty="0">
                <a:latin typeface="Times New Roman"/>
                <a:cs typeface="Times New Roman"/>
              </a:rPr>
              <a:t>Abstract</a:t>
            </a:r>
          </a:p>
          <a:p>
            <a:pPr marL="527685" indent="-514984">
              <a:lnSpc>
                <a:spcPct val="100000"/>
              </a:lnSpc>
              <a:spcBef>
                <a:spcPts val="390"/>
              </a:spcBef>
              <a:buAutoNum type="arabicPeriod"/>
              <a:tabLst>
                <a:tab pos="527050" algn="l"/>
                <a:tab pos="527685" algn="l"/>
              </a:tabLst>
            </a:pPr>
            <a:r>
              <a:rPr sz="1800" dirty="0">
                <a:latin typeface="Times New Roman"/>
                <a:cs typeface="Times New Roman"/>
              </a:rPr>
              <a:t>Introduction</a:t>
            </a:r>
          </a:p>
          <a:p>
            <a:pPr marL="527685" indent="-514984">
              <a:spcBef>
                <a:spcPts val="320"/>
              </a:spcBef>
              <a:buFontTx/>
              <a:buAutoNum type="arabicPeriod"/>
              <a:tabLst>
                <a:tab pos="527050" algn="l"/>
                <a:tab pos="527685" algn="l"/>
              </a:tabLst>
            </a:pPr>
            <a:r>
              <a:rPr lang="en-IN" sz="1800" dirty="0">
                <a:latin typeface="Times New Roman"/>
                <a:cs typeface="Times New Roman"/>
              </a:rPr>
              <a:t>Problem</a:t>
            </a:r>
            <a:r>
              <a:rPr lang="en-IN" sz="1800" spc="-75" dirty="0">
                <a:latin typeface="Times New Roman"/>
                <a:cs typeface="Times New Roman"/>
              </a:rPr>
              <a:t> </a:t>
            </a:r>
            <a:r>
              <a:rPr lang="en-IN" sz="1800" spc="-10" dirty="0">
                <a:latin typeface="Times New Roman"/>
                <a:cs typeface="Times New Roman"/>
              </a:rPr>
              <a:t>Statement</a:t>
            </a:r>
            <a:endParaRPr sz="1800" dirty="0">
              <a:latin typeface="Times New Roman"/>
              <a:cs typeface="Times New Roman"/>
            </a:endParaRPr>
          </a:p>
          <a:p>
            <a:pPr marL="527685" indent="-514984">
              <a:lnSpc>
                <a:spcPct val="100000"/>
              </a:lnSpc>
              <a:spcBef>
                <a:spcPts val="395"/>
              </a:spcBef>
              <a:buAutoNum type="arabicPeriod"/>
              <a:tabLst>
                <a:tab pos="527050" algn="l"/>
                <a:tab pos="527685" algn="l"/>
              </a:tabLst>
            </a:pPr>
            <a:r>
              <a:rPr lang="en-IN" sz="1800" spc="5" dirty="0">
                <a:latin typeface="Times New Roman"/>
                <a:cs typeface="Times New Roman"/>
              </a:rPr>
              <a:t>Literature</a:t>
            </a:r>
            <a:r>
              <a:rPr lang="en-IN" sz="1800" spc="-95" dirty="0">
                <a:latin typeface="Times New Roman"/>
                <a:cs typeface="Times New Roman"/>
              </a:rPr>
              <a:t> </a:t>
            </a:r>
            <a:r>
              <a:rPr lang="en-IN" sz="1800" spc="-15" dirty="0">
                <a:latin typeface="Times New Roman"/>
                <a:cs typeface="Times New Roman"/>
              </a:rPr>
              <a:t>Survey</a:t>
            </a:r>
            <a:endParaRPr sz="1800" dirty="0">
              <a:latin typeface="Times New Roman"/>
              <a:cs typeface="Times New Roman"/>
            </a:endParaRPr>
          </a:p>
          <a:p>
            <a:pPr marL="527685" indent="-514984">
              <a:lnSpc>
                <a:spcPct val="100000"/>
              </a:lnSpc>
              <a:spcBef>
                <a:spcPts val="320"/>
              </a:spcBef>
              <a:buAutoNum type="arabicPeriod"/>
              <a:tabLst>
                <a:tab pos="527050" algn="l"/>
                <a:tab pos="527685" algn="l"/>
              </a:tabLst>
            </a:pPr>
            <a:r>
              <a:rPr lang="en-IN" sz="1800" spc="5" dirty="0">
                <a:latin typeface="Times New Roman"/>
                <a:cs typeface="Times New Roman"/>
              </a:rPr>
              <a:t>Research</a:t>
            </a:r>
            <a:r>
              <a:rPr lang="en-IN" sz="1800" spc="-110" dirty="0">
                <a:latin typeface="Times New Roman"/>
                <a:cs typeface="Times New Roman"/>
              </a:rPr>
              <a:t> </a:t>
            </a:r>
            <a:r>
              <a:rPr lang="en-IN" sz="1800" spc="-5" dirty="0">
                <a:latin typeface="Times New Roman"/>
                <a:cs typeface="Times New Roman"/>
              </a:rPr>
              <a:t>Gaps </a:t>
            </a:r>
            <a:endParaRPr sz="1800" dirty="0">
              <a:latin typeface="Times New Roman"/>
              <a:cs typeface="Times New Roman"/>
            </a:endParaRPr>
          </a:p>
          <a:p>
            <a:pPr marL="527685" indent="-514984">
              <a:lnSpc>
                <a:spcPct val="100000"/>
              </a:lnSpc>
              <a:spcBef>
                <a:spcPts val="390"/>
              </a:spcBef>
              <a:buAutoNum type="arabicPeriod"/>
              <a:tabLst>
                <a:tab pos="527050" algn="l"/>
                <a:tab pos="527685" algn="l"/>
              </a:tabLst>
            </a:pPr>
            <a:r>
              <a:rPr sz="1800" spc="-5" dirty="0">
                <a:latin typeface="Times New Roman"/>
                <a:cs typeface="Times New Roman"/>
              </a:rPr>
              <a:t>Objectives</a:t>
            </a:r>
            <a:endParaRPr sz="1800" dirty="0">
              <a:latin typeface="Times New Roman"/>
              <a:cs typeface="Times New Roman"/>
            </a:endParaRPr>
          </a:p>
          <a:p>
            <a:pPr marL="527685" indent="-514984">
              <a:spcBef>
                <a:spcPts val="320"/>
              </a:spcBef>
              <a:buFontTx/>
              <a:buAutoNum type="arabicPeriod"/>
              <a:tabLst>
                <a:tab pos="527050" algn="l"/>
                <a:tab pos="527685" algn="l"/>
              </a:tabLst>
            </a:pPr>
            <a:r>
              <a:rPr lang="en-IN" sz="1800" spc="-15" dirty="0">
                <a:latin typeface="Times New Roman"/>
                <a:cs typeface="Times New Roman"/>
              </a:rPr>
              <a:t>Methodology</a:t>
            </a:r>
            <a:r>
              <a:rPr lang="en-IN" sz="1800" spc="-20" dirty="0">
                <a:latin typeface="Times New Roman"/>
                <a:cs typeface="Times New Roman"/>
              </a:rPr>
              <a:t> </a:t>
            </a:r>
            <a:endParaRPr sz="1800" dirty="0">
              <a:latin typeface="Times New Roman"/>
              <a:cs typeface="Times New Roman"/>
            </a:endParaRPr>
          </a:p>
          <a:p>
            <a:pPr marL="527685" indent="-514984">
              <a:lnSpc>
                <a:spcPct val="100000"/>
              </a:lnSpc>
              <a:spcBef>
                <a:spcPts val="390"/>
              </a:spcBef>
              <a:buAutoNum type="arabicPeriod"/>
              <a:tabLst>
                <a:tab pos="527050" algn="l"/>
                <a:tab pos="527685" algn="l"/>
              </a:tabLst>
            </a:pPr>
            <a:r>
              <a:rPr lang="en-IN" sz="1800" spc="-10" dirty="0">
                <a:latin typeface="Times New Roman"/>
                <a:cs typeface="Times New Roman"/>
              </a:rPr>
              <a:t>Block</a:t>
            </a:r>
            <a:r>
              <a:rPr lang="en-IN" sz="1800" spc="-5" dirty="0">
                <a:latin typeface="Times New Roman"/>
                <a:cs typeface="Times New Roman"/>
              </a:rPr>
              <a:t> </a:t>
            </a:r>
            <a:r>
              <a:rPr lang="en-IN" sz="1800" spc="-20" dirty="0">
                <a:latin typeface="Times New Roman"/>
                <a:cs typeface="Times New Roman"/>
              </a:rPr>
              <a:t>Diagram</a:t>
            </a:r>
            <a:r>
              <a:rPr lang="en-IN" sz="1800" spc="90" dirty="0">
                <a:latin typeface="Times New Roman"/>
                <a:cs typeface="Times New Roman"/>
              </a:rPr>
              <a:t> </a:t>
            </a:r>
            <a:r>
              <a:rPr lang="en-IN" sz="1800" dirty="0">
                <a:latin typeface="Times New Roman"/>
                <a:cs typeface="Times New Roman"/>
              </a:rPr>
              <a:t>/</a:t>
            </a:r>
            <a:r>
              <a:rPr lang="en-IN" sz="1800" spc="20" dirty="0">
                <a:latin typeface="Times New Roman"/>
                <a:cs typeface="Times New Roman"/>
              </a:rPr>
              <a:t> </a:t>
            </a:r>
            <a:r>
              <a:rPr lang="en-IN" sz="1800" spc="-25" dirty="0">
                <a:latin typeface="Times New Roman"/>
                <a:cs typeface="Times New Roman"/>
              </a:rPr>
              <a:t>Flow</a:t>
            </a:r>
            <a:r>
              <a:rPr lang="en-IN" sz="1800" spc="40" dirty="0">
                <a:latin typeface="Times New Roman"/>
                <a:cs typeface="Times New Roman"/>
              </a:rPr>
              <a:t> </a:t>
            </a:r>
            <a:r>
              <a:rPr lang="en-IN" sz="1800" spc="-20" dirty="0">
                <a:latin typeface="Times New Roman"/>
                <a:cs typeface="Times New Roman"/>
              </a:rPr>
              <a:t>Diagram </a:t>
            </a:r>
            <a:endParaRPr sz="1800" dirty="0">
              <a:latin typeface="Times New Roman"/>
              <a:cs typeface="Times New Roman"/>
            </a:endParaRPr>
          </a:p>
          <a:p>
            <a:pPr marL="527685" indent="-514984">
              <a:lnSpc>
                <a:spcPct val="100000"/>
              </a:lnSpc>
              <a:spcBef>
                <a:spcPts val="320"/>
              </a:spcBef>
              <a:buAutoNum type="arabicPeriod"/>
              <a:tabLst>
                <a:tab pos="527050" algn="l"/>
                <a:tab pos="527685" algn="l"/>
              </a:tabLst>
            </a:pPr>
            <a:r>
              <a:rPr sz="1800" spc="-10" dirty="0">
                <a:latin typeface="Times New Roman"/>
                <a:cs typeface="Times New Roman"/>
              </a:rPr>
              <a:t>Implementation</a:t>
            </a:r>
            <a:endParaRPr sz="1800" dirty="0">
              <a:latin typeface="Times New Roman"/>
              <a:cs typeface="Times New Roman"/>
            </a:endParaRPr>
          </a:p>
          <a:p>
            <a:pPr marL="527685" indent="-514984">
              <a:lnSpc>
                <a:spcPct val="100000"/>
              </a:lnSpc>
              <a:spcBef>
                <a:spcPts val="395"/>
              </a:spcBef>
              <a:buAutoNum type="arabicPeriod"/>
              <a:tabLst>
                <a:tab pos="527050" algn="l"/>
                <a:tab pos="527685" algn="l"/>
              </a:tabLst>
            </a:pPr>
            <a:r>
              <a:rPr sz="1800" dirty="0">
                <a:latin typeface="Times New Roman"/>
                <a:cs typeface="Times New Roman"/>
              </a:rPr>
              <a:t>R</a:t>
            </a:r>
            <a:r>
              <a:rPr sz="1800" spc="15" dirty="0">
                <a:latin typeface="Times New Roman"/>
                <a:cs typeface="Times New Roman"/>
              </a:rPr>
              <a:t>e</a:t>
            </a:r>
            <a:r>
              <a:rPr sz="1800" spc="-30" dirty="0">
                <a:latin typeface="Times New Roman"/>
                <a:cs typeface="Times New Roman"/>
              </a:rPr>
              <a:t>s</a:t>
            </a:r>
            <a:r>
              <a:rPr sz="1800" dirty="0">
                <a:latin typeface="Times New Roman"/>
                <a:cs typeface="Times New Roman"/>
              </a:rPr>
              <a:t>u</a:t>
            </a:r>
            <a:r>
              <a:rPr sz="1800" spc="-55" dirty="0">
                <a:latin typeface="Times New Roman"/>
                <a:cs typeface="Times New Roman"/>
              </a:rPr>
              <a:t>l</a:t>
            </a:r>
            <a:r>
              <a:rPr sz="1800" spc="20" dirty="0">
                <a:latin typeface="Times New Roman"/>
                <a:cs typeface="Times New Roman"/>
              </a:rPr>
              <a:t>t</a:t>
            </a:r>
            <a:r>
              <a:rPr sz="1800" dirty="0">
                <a:latin typeface="Times New Roman"/>
                <a:cs typeface="Times New Roman"/>
              </a:rPr>
              <a:t>s</a:t>
            </a:r>
            <a:r>
              <a:rPr sz="1800" spc="45" dirty="0">
                <a:latin typeface="Times New Roman"/>
                <a:cs typeface="Times New Roman"/>
              </a:rPr>
              <a:t> </a:t>
            </a:r>
            <a:r>
              <a:rPr sz="1800" spc="20" dirty="0">
                <a:latin typeface="Times New Roman"/>
                <a:cs typeface="Times New Roman"/>
              </a:rPr>
              <a:t>a</a:t>
            </a:r>
            <a:r>
              <a:rPr sz="1800" dirty="0">
                <a:latin typeface="Times New Roman"/>
                <a:cs typeface="Times New Roman"/>
              </a:rPr>
              <a:t>nd</a:t>
            </a:r>
            <a:r>
              <a:rPr sz="1800" spc="-155" dirty="0">
                <a:latin typeface="Times New Roman"/>
                <a:cs typeface="Times New Roman"/>
              </a:rPr>
              <a:t> </a:t>
            </a:r>
            <a:r>
              <a:rPr sz="1800" spc="-30" dirty="0">
                <a:latin typeface="Times New Roman"/>
                <a:cs typeface="Times New Roman"/>
              </a:rPr>
              <a:t>A</a:t>
            </a:r>
            <a:r>
              <a:rPr sz="1800" dirty="0">
                <a:latin typeface="Times New Roman"/>
                <a:cs typeface="Times New Roman"/>
              </a:rPr>
              <a:t>n</a:t>
            </a:r>
            <a:r>
              <a:rPr sz="1800" spc="20" dirty="0">
                <a:latin typeface="Times New Roman"/>
                <a:cs typeface="Times New Roman"/>
              </a:rPr>
              <a:t>a</a:t>
            </a:r>
            <a:r>
              <a:rPr sz="1800" spc="-55" dirty="0">
                <a:latin typeface="Times New Roman"/>
                <a:cs typeface="Times New Roman"/>
              </a:rPr>
              <a:t>l</a:t>
            </a:r>
            <a:r>
              <a:rPr sz="1800" dirty="0">
                <a:latin typeface="Times New Roman"/>
                <a:cs typeface="Times New Roman"/>
              </a:rPr>
              <a:t>y</a:t>
            </a:r>
            <a:r>
              <a:rPr sz="1800" spc="-30" dirty="0">
                <a:latin typeface="Times New Roman"/>
                <a:cs typeface="Times New Roman"/>
              </a:rPr>
              <a:t>s</a:t>
            </a:r>
            <a:r>
              <a:rPr sz="1800" spc="-55" dirty="0">
                <a:latin typeface="Times New Roman"/>
                <a:cs typeface="Times New Roman"/>
              </a:rPr>
              <a:t>i</a:t>
            </a:r>
            <a:r>
              <a:rPr sz="1800" dirty="0">
                <a:latin typeface="Times New Roman"/>
                <a:cs typeface="Times New Roman"/>
              </a:rPr>
              <a:t>s</a:t>
            </a:r>
          </a:p>
          <a:p>
            <a:pPr marL="527685" indent="-514984">
              <a:lnSpc>
                <a:spcPct val="100000"/>
              </a:lnSpc>
              <a:spcBef>
                <a:spcPts val="315"/>
              </a:spcBef>
              <a:buAutoNum type="arabicPeriod"/>
              <a:tabLst>
                <a:tab pos="527050" algn="l"/>
                <a:tab pos="527685" algn="l"/>
              </a:tabLst>
            </a:pPr>
            <a:r>
              <a:rPr sz="1800" spc="-15" dirty="0">
                <a:latin typeface="Times New Roman"/>
                <a:cs typeface="Times New Roman"/>
              </a:rPr>
              <a:t>Conclusion</a:t>
            </a:r>
            <a:r>
              <a:rPr sz="1800" spc="65" dirty="0">
                <a:latin typeface="Times New Roman"/>
                <a:cs typeface="Times New Roman"/>
              </a:rPr>
              <a:t> </a:t>
            </a:r>
            <a:endParaRPr lang="en-US" spc="65" dirty="0">
              <a:latin typeface="Times New Roman"/>
              <a:cs typeface="Times New Roman"/>
            </a:endParaRPr>
          </a:p>
          <a:p>
            <a:pPr marL="527685" indent="-514984">
              <a:lnSpc>
                <a:spcPct val="100000"/>
              </a:lnSpc>
              <a:spcBef>
                <a:spcPts val="315"/>
              </a:spcBef>
              <a:buAutoNum type="arabicPeriod"/>
              <a:tabLst>
                <a:tab pos="527050" algn="l"/>
                <a:tab pos="527685" algn="l"/>
              </a:tabLst>
            </a:pPr>
            <a:r>
              <a:rPr sz="1800" spc="-5" dirty="0">
                <a:latin typeface="Times New Roman"/>
                <a:cs typeface="Times New Roman"/>
              </a:rPr>
              <a:t>Future</a:t>
            </a:r>
            <a:r>
              <a:rPr sz="1800" spc="15" dirty="0">
                <a:latin typeface="Times New Roman"/>
                <a:cs typeface="Times New Roman"/>
              </a:rPr>
              <a:t> </a:t>
            </a:r>
            <a:r>
              <a:rPr sz="1800" spc="-20" dirty="0">
                <a:latin typeface="Times New Roman"/>
                <a:cs typeface="Times New Roman"/>
              </a:rPr>
              <a:t>Scope</a:t>
            </a:r>
            <a:endParaRPr sz="1800" dirty="0">
              <a:latin typeface="Times New Roman"/>
              <a:cs typeface="Times New Roman"/>
            </a:endParaRPr>
          </a:p>
          <a:p>
            <a:pPr marL="527685" indent="-514984">
              <a:lnSpc>
                <a:spcPct val="100000"/>
              </a:lnSpc>
              <a:spcBef>
                <a:spcPts val="400"/>
              </a:spcBef>
              <a:buAutoNum type="arabicPeriod"/>
              <a:tabLst>
                <a:tab pos="527050" algn="l"/>
                <a:tab pos="527685" algn="l"/>
              </a:tabLst>
            </a:pPr>
            <a:r>
              <a:rPr sz="1800" spc="10" dirty="0">
                <a:latin typeface="Times New Roman"/>
                <a:cs typeface="Times New Roman"/>
              </a:rPr>
              <a:t>References</a:t>
            </a:r>
            <a:endParaRPr sz="1800" dirty="0">
              <a:latin typeface="Times New Roman"/>
              <a:cs typeface="Times New Roman"/>
            </a:endParaRPr>
          </a:p>
          <a:p>
            <a:pPr marL="527685" indent="-514984">
              <a:lnSpc>
                <a:spcPct val="100000"/>
              </a:lnSpc>
              <a:spcBef>
                <a:spcPts val="315"/>
              </a:spcBef>
              <a:buAutoNum type="arabicPeriod"/>
              <a:tabLst>
                <a:tab pos="527050" algn="l"/>
                <a:tab pos="527685" algn="l"/>
              </a:tabLst>
            </a:pPr>
            <a:r>
              <a:rPr sz="1800" spc="-30" dirty="0">
                <a:latin typeface="Times New Roman"/>
                <a:cs typeface="Times New Roman"/>
              </a:rPr>
              <a:t>Q</a:t>
            </a:r>
            <a:r>
              <a:rPr sz="1800" dirty="0">
                <a:latin typeface="Times New Roman"/>
                <a:cs typeface="Times New Roman"/>
              </a:rPr>
              <a:t>u</a:t>
            </a:r>
            <a:r>
              <a:rPr sz="1800" spc="20" dirty="0">
                <a:latin typeface="Times New Roman"/>
                <a:cs typeface="Times New Roman"/>
              </a:rPr>
              <a:t>e</a:t>
            </a:r>
            <a:r>
              <a:rPr sz="1800" spc="-30" dirty="0">
                <a:latin typeface="Times New Roman"/>
                <a:cs typeface="Times New Roman"/>
              </a:rPr>
              <a:t>s</a:t>
            </a:r>
            <a:r>
              <a:rPr sz="1800" spc="20" dirty="0">
                <a:latin typeface="Times New Roman"/>
                <a:cs typeface="Times New Roman"/>
              </a:rPr>
              <a:t>t</a:t>
            </a:r>
            <a:r>
              <a:rPr sz="1800" spc="-55" dirty="0">
                <a:latin typeface="Times New Roman"/>
                <a:cs typeface="Times New Roman"/>
              </a:rPr>
              <a:t>i</a:t>
            </a:r>
            <a:r>
              <a:rPr sz="1800" dirty="0">
                <a:latin typeface="Times New Roman"/>
                <a:cs typeface="Times New Roman"/>
              </a:rPr>
              <a:t>on</a:t>
            </a:r>
            <a:r>
              <a:rPr sz="1800" spc="70" dirty="0">
                <a:latin typeface="Times New Roman"/>
                <a:cs typeface="Times New Roman"/>
              </a:rPr>
              <a:t> </a:t>
            </a:r>
            <a:r>
              <a:rPr sz="1800" spc="20" dirty="0">
                <a:latin typeface="Times New Roman"/>
                <a:cs typeface="Times New Roman"/>
              </a:rPr>
              <a:t>a</a:t>
            </a:r>
            <a:r>
              <a:rPr sz="1800" dirty="0">
                <a:latin typeface="Times New Roman"/>
                <a:cs typeface="Times New Roman"/>
              </a:rPr>
              <a:t>nd</a:t>
            </a:r>
            <a:r>
              <a:rPr sz="1800" spc="-155" dirty="0">
                <a:latin typeface="Times New Roman"/>
                <a:cs typeface="Times New Roman"/>
              </a:rPr>
              <a:t> </a:t>
            </a:r>
            <a:r>
              <a:rPr sz="1800" spc="-30" dirty="0">
                <a:latin typeface="Times New Roman"/>
                <a:cs typeface="Times New Roman"/>
              </a:rPr>
              <a:t>A</a:t>
            </a:r>
            <a:r>
              <a:rPr sz="1800" dirty="0">
                <a:latin typeface="Times New Roman"/>
                <a:cs typeface="Times New Roman"/>
              </a:rPr>
              <a:t>n</a:t>
            </a:r>
            <a:r>
              <a:rPr sz="1800" spc="-30" dirty="0">
                <a:latin typeface="Times New Roman"/>
                <a:cs typeface="Times New Roman"/>
              </a:rPr>
              <a:t>sw</a:t>
            </a:r>
            <a:r>
              <a:rPr sz="1800" spc="20" dirty="0">
                <a:latin typeface="Times New Roman"/>
                <a:cs typeface="Times New Roman"/>
              </a:rPr>
              <a:t>e</a:t>
            </a:r>
            <a:r>
              <a:rPr sz="1800" dirty="0">
                <a:latin typeface="Times New Roman"/>
                <a:cs typeface="Times New Roman"/>
              </a:rPr>
              <a:t>rs</a:t>
            </a:r>
          </a:p>
          <a:p>
            <a:pPr marL="527685" indent="-514984">
              <a:lnSpc>
                <a:spcPct val="100000"/>
              </a:lnSpc>
              <a:spcBef>
                <a:spcPts val="395"/>
              </a:spcBef>
              <a:buAutoNum type="arabicPeriod"/>
              <a:tabLst>
                <a:tab pos="527050" algn="l"/>
                <a:tab pos="527685" algn="l"/>
              </a:tabLst>
            </a:pPr>
            <a:r>
              <a:rPr sz="1800" spc="-10" dirty="0">
                <a:latin typeface="Times New Roman"/>
                <a:cs typeface="Times New Roman"/>
              </a:rPr>
              <a:t>Acknowledgements</a:t>
            </a:r>
            <a:endParaRPr sz="1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75151" y="296885"/>
            <a:ext cx="3096895" cy="701040"/>
          </a:xfrm>
          <a:prstGeom prst="rect">
            <a:avLst/>
          </a:prstGeom>
        </p:spPr>
        <p:txBody>
          <a:bodyPr vert="horz" wrap="square" lIns="0" tIns="16510" rIns="0" bIns="0" rtlCol="0">
            <a:spAutoFit/>
          </a:bodyPr>
          <a:lstStyle/>
          <a:p>
            <a:pPr marL="12700">
              <a:lnSpc>
                <a:spcPct val="100000"/>
              </a:lnSpc>
              <a:spcBef>
                <a:spcPts val="130"/>
              </a:spcBef>
            </a:pPr>
            <a:r>
              <a:rPr spc="45" dirty="0"/>
              <a:t>A</a:t>
            </a:r>
            <a:r>
              <a:rPr spc="60" dirty="0"/>
              <a:t>B</a:t>
            </a:r>
            <a:r>
              <a:rPr spc="20" dirty="0"/>
              <a:t>S</a:t>
            </a:r>
            <a:r>
              <a:rPr spc="-10" dirty="0"/>
              <a:t>T</a:t>
            </a:r>
            <a:r>
              <a:rPr spc="45" dirty="0"/>
              <a:t>RA</a:t>
            </a:r>
            <a:r>
              <a:rPr spc="-25" dirty="0"/>
              <a:t>C</a:t>
            </a:r>
            <a:r>
              <a:rPr spc="20" dirty="0"/>
              <a:t>T</a:t>
            </a:r>
          </a:p>
        </p:txBody>
      </p:sp>
      <p:sp>
        <p:nvSpPr>
          <p:cNvPr id="4" name="object 4"/>
          <p:cNvSpPr txBox="1">
            <a:spLocks noGrp="1"/>
          </p:cNvSpPr>
          <p:nvPr>
            <p:ph type="dt" sz="half" idx="6"/>
          </p:nvPr>
        </p:nvSpPr>
        <p:spPr>
          <a:xfrm>
            <a:off x="917575" y="6451049"/>
            <a:ext cx="911225" cy="359073"/>
          </a:xfrm>
          <a:prstGeom prst="rect">
            <a:avLst/>
          </a:prstGeom>
        </p:spPr>
        <p:txBody>
          <a:bodyPr vert="horz" wrap="square" lIns="0" tIns="0" rIns="0" bIns="0" rtlCol="0">
            <a:spAutoFit/>
          </a:bodyPr>
          <a:lstStyle/>
          <a:p>
            <a:pPr marL="12700">
              <a:lnSpc>
                <a:spcPts val="1410"/>
              </a:lnSpc>
            </a:pPr>
            <a:r>
              <a:rPr lang="en-US" spc="5" dirty="0"/>
              <a:t> </a:t>
            </a:r>
            <a:r>
              <a:rPr lang="en-IN" spc="5" dirty="0"/>
              <a:t>10-11-2025</a:t>
            </a:r>
          </a:p>
          <a:p>
            <a:pPr marL="12700">
              <a:lnSpc>
                <a:spcPts val="1410"/>
              </a:lnSpc>
            </a:pPr>
            <a:endParaRPr spc="5" dirty="0"/>
          </a:p>
        </p:txBody>
      </p:sp>
      <p:sp>
        <p:nvSpPr>
          <p:cNvPr id="5" name="object 5"/>
          <p:cNvSpPr txBox="1"/>
          <p:nvPr/>
        </p:nvSpPr>
        <p:spPr>
          <a:xfrm>
            <a:off x="4426330" y="6451049"/>
            <a:ext cx="1037656"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US"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6"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3</a:t>
            </a:fld>
            <a:endParaRPr dirty="0"/>
          </a:p>
        </p:txBody>
      </p:sp>
      <p:sp>
        <p:nvSpPr>
          <p:cNvPr id="3" name="object 3"/>
          <p:cNvSpPr txBox="1"/>
          <p:nvPr/>
        </p:nvSpPr>
        <p:spPr>
          <a:xfrm>
            <a:off x="917575" y="1450022"/>
            <a:ext cx="10320655" cy="415242"/>
          </a:xfrm>
          <a:prstGeom prst="rect">
            <a:avLst/>
          </a:prstGeom>
        </p:spPr>
        <p:txBody>
          <a:bodyPr vert="horz" wrap="square" lIns="0" tIns="54610" rIns="0" bIns="0" rtlCol="0">
            <a:spAutoFit/>
          </a:bodyPr>
          <a:lstStyle/>
          <a:p>
            <a:pPr marL="12700" marR="5080">
              <a:lnSpc>
                <a:spcPct val="90200"/>
              </a:lnSpc>
              <a:spcBef>
                <a:spcPts val="430"/>
              </a:spcBef>
            </a:pPr>
            <a:endParaRPr sz="2600" dirty="0">
              <a:latin typeface="Calibri"/>
              <a:cs typeface="Calibri"/>
            </a:endParaRPr>
          </a:p>
        </p:txBody>
      </p:sp>
      <p:sp>
        <p:nvSpPr>
          <p:cNvPr id="10" name="TextBox 9">
            <a:extLst>
              <a:ext uri="{FF2B5EF4-FFF2-40B4-BE49-F238E27FC236}">
                <a16:creationId xmlns:a16="http://schemas.microsoft.com/office/drawing/2014/main" id="{621D70BB-5239-88AF-01A6-8B000EAE3E37}"/>
              </a:ext>
            </a:extLst>
          </p:cNvPr>
          <p:cNvSpPr txBox="1"/>
          <p:nvPr/>
        </p:nvSpPr>
        <p:spPr>
          <a:xfrm>
            <a:off x="381000" y="690434"/>
            <a:ext cx="11109197" cy="5388463"/>
          </a:xfrm>
          <a:prstGeom prst="rect">
            <a:avLst/>
          </a:prstGeom>
          <a:noFill/>
        </p:spPr>
        <p:txBody>
          <a:bodyPr wrap="square">
            <a:spAutoFit/>
          </a:bodyPr>
          <a:lstStyle/>
          <a:p>
            <a:endParaRPr lang="en-US" sz="2400" dirty="0">
              <a:latin typeface="Times New Roman" pitchFamily="18" charset="0"/>
              <a:cs typeface="Times New Roman" pitchFamily="18" charset="0"/>
            </a:endParaRPr>
          </a:p>
          <a:p>
            <a:pPr algn="just">
              <a:lnSpc>
                <a:spcPct val="150000"/>
              </a:lnSpc>
            </a:pPr>
            <a:r>
              <a:rPr lang="en-US" sz="2400" dirty="0">
                <a:latin typeface="Times New Roman" pitchFamily="18" charset="0"/>
                <a:cs typeface="Times New Roman" pitchFamily="18" charset="0"/>
              </a:rPr>
              <a:t>	</a:t>
            </a:r>
            <a:r>
              <a:rPr lang="en-US" sz="2400" dirty="0"/>
              <a:t>This project presents a machine learning-based framework for early forest fire prediction in the Nallamala Forest region. It integrates MODIS NDVI data, representing vegetation health, with synthetically generated weather data </a:t>
            </a:r>
            <a:r>
              <a:rPr lang="en-US" sz="2400" b="1" dirty="0"/>
              <a:t>from</a:t>
            </a:r>
            <a:r>
              <a:rPr lang="en-US" sz="2400" dirty="0"/>
              <a:t> </a:t>
            </a:r>
            <a:r>
              <a:rPr lang="en-US" sz="2400" b="1" dirty="0"/>
              <a:t>2012 to 2025 </a:t>
            </a:r>
            <a:r>
              <a:rPr lang="en-US" sz="2400" dirty="0"/>
              <a:t>to identify fire-prone conditions. To address the class imbalance between fire and non-fire events, the Synthetic Minority Oversampling Technique (SMOTE) is applied. The predictive model employs an ensemble of XGBoost and LightGBM classifiers using a voting approach, achieving an </a:t>
            </a:r>
            <a:r>
              <a:rPr lang="en-US" sz="2400" b="1" dirty="0"/>
              <a:t>accuracy of 91.46% </a:t>
            </a:r>
            <a:r>
              <a:rPr lang="en-US" sz="2400" dirty="0"/>
              <a:t>and a recall of 69%. The proposed system demonstrates strong potential for proactive forest management and climate resilience through timely fire risk prediction and early intervention support</a:t>
            </a:r>
            <a:r>
              <a:rPr lang="en-US" sz="2400" dirty="0">
                <a:latin typeface="Times New Roman" pitchFamily="18" charset="0"/>
                <a:cs typeface="Times New Roman" pitchFamily="18" charset="0"/>
              </a:rPr>
              <a:t>.</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05834" y="529843"/>
            <a:ext cx="4526915" cy="701040"/>
          </a:xfrm>
          <a:prstGeom prst="rect">
            <a:avLst/>
          </a:prstGeom>
        </p:spPr>
        <p:txBody>
          <a:bodyPr vert="horz" wrap="square" lIns="0" tIns="16510" rIns="0" bIns="0" rtlCol="0">
            <a:spAutoFit/>
          </a:bodyPr>
          <a:lstStyle/>
          <a:p>
            <a:pPr marL="12700">
              <a:lnSpc>
                <a:spcPct val="100000"/>
              </a:lnSpc>
              <a:spcBef>
                <a:spcPts val="130"/>
              </a:spcBef>
            </a:pPr>
            <a:r>
              <a:rPr spc="15" dirty="0"/>
              <a:t>INTRODUCTION</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419600" y="6451049"/>
            <a:ext cx="91440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615240" y="6451049"/>
            <a:ext cx="1014160"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xfrm>
            <a:off x="7060120" y="6432472"/>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4</a:t>
            </a:fld>
            <a:endParaRPr dirty="0"/>
          </a:p>
        </p:txBody>
      </p:sp>
      <p:sp>
        <p:nvSpPr>
          <p:cNvPr id="3" name="object 3"/>
          <p:cNvSpPr txBox="1"/>
          <p:nvPr/>
        </p:nvSpPr>
        <p:spPr>
          <a:xfrm>
            <a:off x="1013078" y="1378438"/>
            <a:ext cx="10512425" cy="4101123"/>
          </a:xfrm>
          <a:prstGeom prst="rect">
            <a:avLst/>
          </a:prstGeom>
        </p:spPr>
        <p:txBody>
          <a:bodyPr vert="horz" wrap="square" lIns="0" tIns="99060" rIns="0" bIns="0" rtlCol="0">
            <a:spAutoFit/>
          </a:bodyPr>
          <a:lstStyle/>
          <a:p>
            <a:pPr marL="241300" indent="-229235" algn="just">
              <a:lnSpc>
                <a:spcPct val="100000"/>
              </a:lnSpc>
              <a:spcBef>
                <a:spcPts val="780"/>
              </a:spcBef>
              <a:buFont typeface="Arial MT"/>
              <a:buChar char="•"/>
              <a:tabLst>
                <a:tab pos="241935" algn="l"/>
                <a:tab pos="2888615" algn="l"/>
              </a:tabLst>
            </a:pPr>
            <a:r>
              <a:rPr lang="en-US" sz="2400" dirty="0"/>
              <a:t>Nallamala Forest is a biodiversity-rich yet fire-prone tropical region in India.</a:t>
            </a:r>
            <a:br>
              <a:rPr lang="en-US" sz="2400" dirty="0"/>
            </a:br>
            <a:r>
              <a:rPr lang="en-US" sz="2400" dirty="0"/>
              <a:t>Its dry climate and dense vegetation make it highly susceptible to wildfires. Frequent wildfires due to heatwaves, lightning, and human activity.</a:t>
            </a:r>
          </a:p>
          <a:p>
            <a:pPr marL="241300" indent="-229235" algn="just">
              <a:lnSpc>
                <a:spcPct val="100000"/>
              </a:lnSpc>
              <a:spcBef>
                <a:spcPts val="780"/>
              </a:spcBef>
              <a:buFont typeface="Arial MT"/>
              <a:buChar char="•"/>
              <a:tabLst>
                <a:tab pos="241935" algn="l"/>
                <a:tab pos="2888615" algn="l"/>
              </a:tabLst>
            </a:pPr>
            <a:r>
              <a:rPr lang="en-US" sz="2400" dirty="0"/>
              <a:t>Frequent fires occur due to heatwaves, lightning, and human-induced activities.</a:t>
            </a:r>
            <a:br>
              <a:rPr lang="en-US" sz="2400" dirty="0"/>
            </a:br>
            <a:r>
              <a:rPr lang="en-US" sz="2400" dirty="0"/>
              <a:t>These events cause severe ecological and economic damage each year.NDVI and meteorological data provide early fire indicators.</a:t>
            </a:r>
          </a:p>
          <a:p>
            <a:pPr marL="241300" indent="-229235" algn="just">
              <a:lnSpc>
                <a:spcPct val="100000"/>
              </a:lnSpc>
              <a:spcBef>
                <a:spcPts val="780"/>
              </a:spcBef>
              <a:buFont typeface="Arial MT"/>
              <a:buChar char="•"/>
              <a:tabLst>
                <a:tab pos="241935" algn="l"/>
                <a:tab pos="2888615" algn="l"/>
              </a:tabLst>
            </a:pPr>
            <a:r>
              <a:rPr lang="en-US" sz="2400" dirty="0"/>
              <a:t>Existing systems detect fires only after ignition, offering minimal response time.</a:t>
            </a:r>
            <a:br>
              <a:rPr lang="en-US" sz="2400" dirty="0"/>
            </a:br>
            <a:r>
              <a:rPr lang="en-US" sz="2400" dirty="0"/>
              <a:t>This reactive approach limits early prevention and effective management.</a:t>
            </a:r>
          </a:p>
          <a:p>
            <a:pPr marL="241300" indent="-229235" algn="just">
              <a:lnSpc>
                <a:spcPct val="100000"/>
              </a:lnSpc>
              <a:spcBef>
                <a:spcPts val="780"/>
              </a:spcBef>
              <a:buFont typeface="Arial MT"/>
              <a:buChar char="•"/>
              <a:tabLst>
                <a:tab pos="241935" algn="l"/>
                <a:tab pos="2888615" algn="l"/>
              </a:tabLst>
            </a:pPr>
            <a:r>
              <a:rPr lang="en-US" sz="2400" dirty="0"/>
              <a:t>The project aims to build a predictive ML model using NDVI and weather data.</a:t>
            </a:r>
            <a:br>
              <a:rPr lang="en-US" sz="2400" dirty="0"/>
            </a:br>
            <a:r>
              <a:rPr lang="en-US" sz="2400" dirty="0"/>
              <a:t>This enables early forecasting and supports proactive forest management.</a:t>
            </a:r>
            <a:endParaRPr sz="24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52445" y="529843"/>
            <a:ext cx="6442075" cy="701040"/>
          </a:xfrm>
          <a:prstGeom prst="rect">
            <a:avLst/>
          </a:prstGeom>
        </p:spPr>
        <p:txBody>
          <a:bodyPr vert="horz" wrap="square" lIns="0" tIns="16510" rIns="0" bIns="0" rtlCol="0">
            <a:spAutoFit/>
          </a:bodyPr>
          <a:lstStyle/>
          <a:p>
            <a:pPr marL="12700">
              <a:lnSpc>
                <a:spcPct val="100000"/>
              </a:lnSpc>
              <a:spcBef>
                <a:spcPts val="130"/>
              </a:spcBef>
            </a:pPr>
            <a:r>
              <a:rPr spc="20" dirty="0"/>
              <a:t>PROBLEM</a:t>
            </a:r>
            <a:r>
              <a:rPr spc="-240" dirty="0"/>
              <a:t> </a:t>
            </a:r>
            <a:r>
              <a:rPr spc="-55" dirty="0"/>
              <a:t>STATEMENT</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426330" y="6451049"/>
            <a:ext cx="9076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xfrm>
            <a:off x="6794881" y="6451049"/>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5</a:t>
            </a:fld>
            <a:endParaRPr dirty="0"/>
          </a:p>
        </p:txBody>
      </p:sp>
      <p:sp>
        <p:nvSpPr>
          <p:cNvPr id="10" name="TextBox 9">
            <a:extLst>
              <a:ext uri="{FF2B5EF4-FFF2-40B4-BE49-F238E27FC236}">
                <a16:creationId xmlns:a16="http://schemas.microsoft.com/office/drawing/2014/main" id="{8F3F7C4C-E9CF-C66E-B7DA-DBCCAAD90C3A}"/>
              </a:ext>
            </a:extLst>
          </p:cNvPr>
          <p:cNvSpPr txBox="1"/>
          <p:nvPr/>
        </p:nvSpPr>
        <p:spPr>
          <a:xfrm>
            <a:off x="685800" y="1447800"/>
            <a:ext cx="11125200" cy="3680303"/>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en-US" sz="2400" dirty="0"/>
              <a:t>Existing fire detection systems are reactive, identifying fires only after ignition.</a:t>
            </a:r>
          </a:p>
          <a:p>
            <a:pPr marL="342900" indent="-342900" algn="just">
              <a:lnSpc>
                <a:spcPct val="200000"/>
              </a:lnSpc>
              <a:buFont typeface="Arial" panose="020B0604020202020204" pitchFamily="34" charset="0"/>
              <a:buChar char="•"/>
            </a:pPr>
            <a:r>
              <a:rPr lang="en-US" sz="2400" dirty="0"/>
              <a:t>NDVI and meteorological indicators remain underutilized for predictive modeling.</a:t>
            </a:r>
          </a:p>
          <a:p>
            <a:pPr marL="342900" indent="-342900" algn="just">
              <a:lnSpc>
                <a:spcPct val="200000"/>
              </a:lnSpc>
              <a:buFont typeface="Arial" panose="020B0604020202020204" pitchFamily="34" charset="0"/>
              <a:buChar char="•"/>
            </a:pPr>
            <a:r>
              <a:rPr lang="en-US" sz="2400" dirty="0"/>
              <a:t>There is a need for a region-specific ML framework for early wildfire forecasting.</a:t>
            </a:r>
          </a:p>
          <a:p>
            <a:pPr marL="342900" indent="-342900" algn="just">
              <a:lnSpc>
                <a:spcPct val="200000"/>
              </a:lnSpc>
              <a:buFont typeface="Arial" panose="020B0604020202020204" pitchFamily="34" charset="0"/>
              <a:buChar char="•"/>
            </a:pPr>
            <a:r>
              <a:rPr lang="en-US" sz="2400" dirty="0"/>
              <a:t>Current models do not effectively use synthetic or generated weather data, making prediction difficult in areas with limited environmental records.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5200" y="411612"/>
            <a:ext cx="5518785" cy="632460"/>
          </a:xfrm>
          <a:prstGeom prst="rect">
            <a:avLst/>
          </a:prstGeom>
        </p:spPr>
        <p:txBody>
          <a:bodyPr vert="horz" wrap="square" lIns="0" tIns="16510" rIns="0" bIns="0" rtlCol="0">
            <a:spAutoFit/>
          </a:bodyPr>
          <a:lstStyle/>
          <a:p>
            <a:pPr marL="12700">
              <a:lnSpc>
                <a:spcPct val="100000"/>
              </a:lnSpc>
              <a:spcBef>
                <a:spcPts val="130"/>
              </a:spcBef>
            </a:pPr>
            <a:r>
              <a:rPr sz="3950" spc="-30" dirty="0"/>
              <a:t>LITERATURE</a:t>
            </a:r>
            <a:r>
              <a:rPr sz="3950" spc="250" dirty="0"/>
              <a:t> </a:t>
            </a:r>
            <a:r>
              <a:rPr sz="3950" spc="-30" dirty="0"/>
              <a:t>SURVEY</a:t>
            </a:r>
            <a:endParaRPr sz="3950" dirty="0"/>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a:t>
            </a:r>
            <a:r>
              <a:rPr spc="5" dirty="0"/>
              <a:t>-202</a:t>
            </a:r>
            <a:r>
              <a:rPr lang="en-IN" spc="5" dirty="0"/>
              <a:t>5</a:t>
            </a:r>
            <a:endParaRPr spc="5" dirty="0"/>
          </a:p>
        </p:txBody>
      </p:sp>
      <p:sp>
        <p:nvSpPr>
          <p:cNvPr id="5" name="object 5"/>
          <p:cNvSpPr txBox="1"/>
          <p:nvPr/>
        </p:nvSpPr>
        <p:spPr>
          <a:xfrm>
            <a:off x="4426330" y="6451049"/>
            <a:ext cx="9076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6</a:t>
            </a:fld>
            <a:endParaRPr dirty="0"/>
          </a:p>
        </p:txBody>
      </p:sp>
      <p:graphicFrame>
        <p:nvGraphicFramePr>
          <p:cNvPr id="12" name="Table 3">
            <a:extLst>
              <a:ext uri="{FF2B5EF4-FFF2-40B4-BE49-F238E27FC236}">
                <a16:creationId xmlns:a16="http://schemas.microsoft.com/office/drawing/2014/main" id="{0B2DBF82-339B-B352-3719-DA8B4BA8CA70}"/>
              </a:ext>
            </a:extLst>
          </p:cNvPr>
          <p:cNvGraphicFramePr>
            <a:graphicFrameLocks noGrp="1"/>
          </p:cNvGraphicFramePr>
          <p:nvPr>
            <p:extLst>
              <p:ext uri="{D42A27DB-BD31-4B8C-83A1-F6EECF244321}">
                <p14:modId xmlns:p14="http://schemas.microsoft.com/office/powerpoint/2010/main" val="3127654224"/>
              </p:ext>
            </p:extLst>
          </p:nvPr>
        </p:nvGraphicFramePr>
        <p:xfrm>
          <a:off x="533400" y="1080729"/>
          <a:ext cx="10820400" cy="5297006"/>
        </p:xfrm>
        <a:graphic>
          <a:graphicData uri="http://schemas.openxmlformats.org/drawingml/2006/table">
            <a:tbl>
              <a:tblPr firstRow="1" bandRow="1"/>
              <a:tblGrid>
                <a:gridCol w="608080">
                  <a:extLst>
                    <a:ext uri="{9D8B030D-6E8A-4147-A177-3AD203B41FA5}">
                      <a16:colId xmlns:a16="http://schemas.microsoft.com/office/drawing/2014/main" val="166576671"/>
                    </a:ext>
                  </a:extLst>
                </a:gridCol>
                <a:gridCol w="1982720">
                  <a:extLst>
                    <a:ext uri="{9D8B030D-6E8A-4147-A177-3AD203B41FA5}">
                      <a16:colId xmlns:a16="http://schemas.microsoft.com/office/drawing/2014/main" val="946789180"/>
                    </a:ext>
                  </a:extLst>
                </a:gridCol>
                <a:gridCol w="1580510">
                  <a:extLst>
                    <a:ext uri="{9D8B030D-6E8A-4147-A177-3AD203B41FA5}">
                      <a16:colId xmlns:a16="http://schemas.microsoft.com/office/drawing/2014/main" val="3483638722"/>
                    </a:ext>
                  </a:extLst>
                </a:gridCol>
                <a:gridCol w="1670798">
                  <a:extLst>
                    <a:ext uri="{9D8B030D-6E8A-4147-A177-3AD203B41FA5}">
                      <a16:colId xmlns:a16="http://schemas.microsoft.com/office/drawing/2014/main" val="1190061112"/>
                    </a:ext>
                  </a:extLst>
                </a:gridCol>
                <a:gridCol w="1886750">
                  <a:extLst>
                    <a:ext uri="{9D8B030D-6E8A-4147-A177-3AD203B41FA5}">
                      <a16:colId xmlns:a16="http://schemas.microsoft.com/office/drawing/2014/main" val="3469305604"/>
                    </a:ext>
                  </a:extLst>
                </a:gridCol>
                <a:gridCol w="1545771">
                  <a:extLst>
                    <a:ext uri="{9D8B030D-6E8A-4147-A177-3AD203B41FA5}">
                      <a16:colId xmlns:a16="http://schemas.microsoft.com/office/drawing/2014/main" val="3853106642"/>
                    </a:ext>
                  </a:extLst>
                </a:gridCol>
                <a:gridCol w="1545771">
                  <a:extLst>
                    <a:ext uri="{9D8B030D-6E8A-4147-A177-3AD203B41FA5}">
                      <a16:colId xmlns:a16="http://schemas.microsoft.com/office/drawing/2014/main" val="1601472594"/>
                    </a:ext>
                  </a:extLst>
                </a:gridCol>
              </a:tblGrid>
              <a:tr h="561692">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dirty="0">
                          <a:solidFill>
                            <a:schemeClr val="tx1"/>
                          </a:solidFill>
                          <a:latin typeface="Times New Roman" panose="02020603050405020304" pitchFamily="18" charset="0"/>
                          <a:cs typeface="Times New Roman" panose="02020603050405020304" pitchFamily="18" charset="0"/>
                        </a:rPr>
                        <a:t>No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dirty="0">
                          <a:solidFill>
                            <a:schemeClr val="tx1"/>
                          </a:solidFill>
                          <a:latin typeface="Times New Roman" panose="02020603050405020304" pitchFamily="18" charset="0"/>
                          <a:cs typeface="Times New Roman" panose="02020603050405020304" pitchFamily="18" charset="0"/>
                        </a:rPr>
                        <a:t>Author</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dirty="0">
                          <a:solidFill>
                            <a:schemeClr val="tx1"/>
                          </a:solidFill>
                          <a:latin typeface="Times New Roman" panose="02020603050405020304" pitchFamily="18" charset="0"/>
                          <a:cs typeface="Times New Roman" panose="02020603050405020304" pitchFamily="18" charset="0"/>
                        </a:rPr>
                        <a:t>Journal Name &amp; Year</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Methodology Adapted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Key Findings </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Gaps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37051210"/>
                  </a:ext>
                </a:extLst>
              </a:tr>
              <a:tr h="1226853">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1</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Projecting Forest Fire Probability in South Korea Under Climate Change, Population, and Forest Management Scenarios Using AI &amp; Process-Based Hybrid Model (FLAM-Net)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Hyun-Woo Jo, </a:t>
                      </a:r>
                      <a:r>
                        <a:rPr lang="en-US" sz="1100" dirty="0" err="1">
                          <a:latin typeface="Times New Roman" panose="02020603050405020304" pitchFamily="18" charset="0"/>
                          <a:cs typeface="Times New Roman" panose="02020603050405020304" pitchFamily="18" charset="0"/>
                        </a:rPr>
                        <a:t>Myoungsoo</a:t>
                      </a:r>
                      <a:r>
                        <a:rPr lang="en-US" sz="1100" dirty="0">
                          <a:latin typeface="Times New Roman" panose="02020603050405020304" pitchFamily="18" charset="0"/>
                          <a:cs typeface="Times New Roman" panose="02020603050405020304" pitchFamily="18" charset="0"/>
                        </a:rPr>
                        <a:t> Won, Florian </a:t>
                      </a:r>
                      <a:r>
                        <a:rPr lang="en-US" sz="1100" dirty="0" err="1">
                          <a:latin typeface="Times New Roman" panose="02020603050405020304" pitchFamily="18" charset="0"/>
                          <a:cs typeface="Times New Roman" panose="02020603050405020304" pitchFamily="18" charset="0"/>
                        </a:rPr>
                        <a:t>Kraxner</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Seong</a:t>
                      </a:r>
                      <a:r>
                        <a:rPr lang="en-US" sz="1100" dirty="0">
                          <a:latin typeface="Times New Roman" panose="02020603050405020304" pitchFamily="18" charset="0"/>
                          <a:cs typeface="Times New Roman" panose="02020603050405020304" pitchFamily="18" charset="0"/>
                        </a:rPr>
                        <a:t> Woo Jeon, </a:t>
                      </a:r>
                      <a:r>
                        <a:rPr lang="en-US" sz="1100" dirty="0" err="1">
                          <a:latin typeface="Times New Roman" panose="02020603050405020304" pitchFamily="18" charset="0"/>
                          <a:cs typeface="Times New Roman" panose="02020603050405020304" pitchFamily="18" charset="0"/>
                        </a:rPr>
                        <a:t>Yowhan</a:t>
                      </a:r>
                      <a:r>
                        <a:rPr lang="en-US" sz="1100" dirty="0">
                          <a:latin typeface="Times New Roman" panose="02020603050405020304" pitchFamily="18" charset="0"/>
                          <a:cs typeface="Times New Roman" panose="02020603050405020304" pitchFamily="18" charset="0"/>
                        </a:rPr>
                        <a:t> Son, Andrey </a:t>
                      </a:r>
                      <a:r>
                        <a:rPr lang="en-US" sz="1100" dirty="0" err="1">
                          <a:latin typeface="Times New Roman" panose="02020603050405020304" pitchFamily="18" charset="0"/>
                          <a:cs typeface="Times New Roman" panose="02020603050405020304" pitchFamily="18" charset="0"/>
                        </a:rPr>
                        <a:t>Krasovskiy</a:t>
                      </a:r>
                      <a:r>
                        <a:rPr lang="en-US" sz="1100" dirty="0">
                          <a:latin typeface="Times New Roman" panose="02020603050405020304" pitchFamily="18" charset="0"/>
                          <a:cs typeface="Times New Roman" panose="02020603050405020304" pitchFamily="18" charset="0"/>
                        </a:rPr>
                        <a:t>, Woo-</a:t>
                      </a:r>
                      <a:r>
                        <a:rPr lang="en-US" sz="1100" dirty="0" err="1">
                          <a:latin typeface="Times New Roman" panose="02020603050405020304" pitchFamily="18" charset="0"/>
                          <a:cs typeface="Times New Roman" panose="02020603050405020304" pitchFamily="18" charset="0"/>
                        </a:rPr>
                        <a:t>Kyun</a:t>
                      </a:r>
                      <a:r>
                        <a:rPr lang="en-US" sz="1100" dirty="0">
                          <a:latin typeface="Times New Roman" panose="02020603050405020304" pitchFamily="18" charset="0"/>
                          <a:cs typeface="Times New Roman" panose="02020603050405020304" pitchFamily="18" charset="0"/>
                        </a:rPr>
                        <a:t> Lee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hlinkClick r:id="rId2"/>
                        </a:rPr>
                        <a:t>https://ieeexplore.ieee.org/document/10979267</a:t>
                      </a:r>
                      <a:r>
                        <a:rPr lang="en-US" sz="1100" dirty="0">
                          <a:latin typeface="Times New Roman" panose="02020603050405020304" pitchFamily="18" charset="0"/>
                          <a:cs typeface="Times New Roman" panose="02020603050405020304" pitchFamily="18" charset="0"/>
                        </a:rPr>
                        <a:t> and 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Long Short-Term Memory (LSTM), Temporal Convolutional Network (TCN), Neural Basis Expansion Analysis for Time Series (N-BEATS).</a:t>
                      </a:r>
                    </a:p>
                    <a:p>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Accurately projected fire probability integrating climate and topography.</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Region-specific; not adaptable to Indian ecosystems</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925414"/>
                  </a:ext>
                </a:extLst>
              </a:tr>
              <a:tr h="739068">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Real-Time Detection of Forest Fires Using </a:t>
                      </a:r>
                      <a:r>
                        <a:rPr lang="en-US" sz="1100" dirty="0" err="1"/>
                        <a:t>FireNet</a:t>
                      </a:r>
                      <a:r>
                        <a:rPr lang="en-US" sz="1100" dirty="0"/>
                        <a:t>-CNN and Explainable AI Techniques</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 </a:t>
                      </a:r>
                      <a:r>
                        <a:rPr lang="en-IN" sz="1100" dirty="0"/>
                        <a:t>Alam G.M.I., Tasnia N., Biswas T., et al.</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3"/>
                        </a:rPr>
                        <a:t>https://ieeexplore.ieee.org/document/10930496</a:t>
                      </a:r>
                      <a:r>
                        <a:rPr lang="en-US" sz="1100" dirty="0">
                          <a:latin typeface="Times New Roman" panose="02020603050405020304" pitchFamily="18" charset="0"/>
                          <a:cs typeface="Times New Roman" panose="02020603050405020304" pitchFamily="18" charset="0"/>
                        </a:rPr>
                        <a:t> &amp; 2023</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Convolutional Neural Network (CNN)</a:t>
                      </a:r>
                    </a:p>
                    <a:p>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Achieved 99.05% accuracy using </a:t>
                      </a:r>
                      <a:r>
                        <a:rPr lang="en-US" sz="1100" dirty="0" err="1"/>
                        <a:t>FireNet</a:t>
                      </a:r>
                      <a:r>
                        <a:rPr lang="en-US" sz="1100" dirty="0"/>
                        <a:t>-CNN with explainable AI</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Focused on detection, not early prediction</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357853"/>
                  </a:ext>
                </a:extLst>
              </a:tr>
              <a:tr h="739068">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3</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Multimodal Deep Transfer Learning with CNN-LSTM Fusion for Enhanced Forest Fire Detection</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IN" sz="1100" dirty="0"/>
                        <a:t>Ojha N.K., Katoch M.</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4"/>
                        </a:rPr>
                        <a:t>https://ieeexplore.ieee.org/document/11035820</a:t>
                      </a:r>
                      <a:r>
                        <a:rPr lang="en-US" sz="1100" dirty="0">
                          <a:latin typeface="Times New Roman" panose="02020603050405020304" pitchFamily="18" charset="0"/>
                          <a:cs typeface="Times New Roman" panose="02020603050405020304" pitchFamily="18" charset="0"/>
                        </a:rPr>
                        <a:t> &amp;</a:t>
                      </a:r>
                    </a:p>
                    <a:p>
                      <a:r>
                        <a:rPr lang="en-US" sz="1100" dirty="0">
                          <a:latin typeface="Times New Roman" panose="02020603050405020304" pitchFamily="18" charset="0"/>
                          <a:cs typeface="Times New Roman" panose="02020603050405020304" pitchFamily="18" charset="0"/>
                        </a:rPr>
                        <a:t>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IN" sz="1100" dirty="0"/>
                        <a:t>CNN-LSTM Fusion Network</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Improved dynamic wildfire risk assessment and temporal accuracy</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IN" sz="1100" dirty="0"/>
                        <a:t>Computationally intensive and data-hungry</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36231"/>
                  </a:ext>
                </a:extLst>
              </a:tr>
              <a:tr h="901663">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4</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Forest Fire Prediction Based on Climate Change Using Hybrid Optimized K-Means Clustering Algorithm</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100" dirty="0" err="1"/>
                        <a:t>Swaroopan</a:t>
                      </a:r>
                      <a:r>
                        <a:rPr lang="en-IN" sz="1100" dirty="0"/>
                        <a:t> N.M.J., Rani A.J.M.</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5"/>
                        </a:rPr>
                        <a:t>https://ieeexplore.ieee.org/document/11042312</a:t>
                      </a:r>
                      <a:r>
                        <a:rPr lang="en-US" sz="1100" dirty="0">
                          <a:latin typeface="Times New Roman" panose="02020603050405020304" pitchFamily="18" charset="0"/>
                          <a:cs typeface="Times New Roman" panose="02020603050405020304" pitchFamily="18" charset="0"/>
                        </a:rPr>
                        <a:t> &amp;</a:t>
                      </a:r>
                    </a:p>
                    <a:p>
                      <a:r>
                        <a:rPr lang="en-US" sz="1100" dirty="0">
                          <a:latin typeface="Times New Roman" panose="02020603050405020304" pitchFamily="18" charset="0"/>
                          <a:cs typeface="Times New Roman" panose="02020603050405020304" pitchFamily="18" charset="0"/>
                        </a:rPr>
                        <a:t>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Artificial Neural Networks (ANN) , Convolutional Neural Networks (CNN) and</a:t>
                      </a:r>
                    </a:p>
                    <a:p>
                      <a:r>
                        <a:rPr lang="en-US" sz="1100" dirty="0">
                          <a:latin typeface="Times New Roman" panose="02020603050405020304" pitchFamily="18" charset="0"/>
                          <a:cs typeface="Times New Roman" panose="02020603050405020304" pitchFamily="18" charset="0"/>
                        </a:rPr>
                        <a:t>Support Vector Machine (SVM)</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Effectively modeled climate-induced fire risks</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Limited scalability for large datasets</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5402542"/>
                  </a:ext>
                </a:extLst>
              </a:tr>
              <a:tr h="999326">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Forest Fire Forecasting Leveraging MODIS Satellite Data Using Machine Learning for Jharkhand State, India</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IN" sz="1100" dirty="0"/>
                        <a:t>Moral P., </a:t>
                      </a:r>
                      <a:r>
                        <a:rPr lang="en-IN" sz="1100" dirty="0" err="1"/>
                        <a:t>Parasar</a:t>
                      </a:r>
                      <a:r>
                        <a:rPr lang="en-IN" sz="1100" dirty="0"/>
                        <a:t> P., Mukherjee N.R., Kumari N., Krishna A.P., Mustafi A.</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6"/>
                        </a:rPr>
                        <a:t>https://ieeexplore.ieee.org/document/10984146</a:t>
                      </a:r>
                      <a:r>
                        <a:rPr lang="en-US" sz="1100" dirty="0">
                          <a:latin typeface="Times New Roman" panose="02020603050405020304" pitchFamily="18" charset="0"/>
                          <a:cs typeface="Times New Roman" panose="02020603050405020304" pitchFamily="18" charset="0"/>
                        </a:rPr>
                        <a:t> &amp;</a:t>
                      </a:r>
                    </a:p>
                    <a:p>
                      <a:r>
                        <a:rPr lang="en-US" sz="1100" dirty="0">
                          <a:latin typeface="Times New Roman" panose="02020603050405020304" pitchFamily="18" charset="0"/>
                          <a:cs typeface="Times New Roman" panose="02020603050405020304" pitchFamily="18" charset="0"/>
                        </a:rPr>
                        <a:t>2024</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full resolution </a:t>
                      </a:r>
                      <a:r>
                        <a:rPr lang="fr-FR" sz="1100" b="0" i="0" kern="1200" dirty="0" err="1">
                          <a:solidFill>
                            <a:schemeClr val="tx1"/>
                          </a:solidFill>
                          <a:effectLst/>
                          <a:latin typeface="Times New Roman" panose="02020603050405020304" pitchFamily="18" charset="0"/>
                          <a:ea typeface="+mn-ea"/>
                          <a:cs typeface="Times New Roman" panose="02020603050405020304" pitchFamily="18" charset="0"/>
                        </a:rPr>
                        <a:t>Convolutional</a:t>
                      </a:r>
                      <a:r>
                        <a:rPr lang="fr-FR" sz="1100" b="0" i="0" kern="1200" dirty="0">
                          <a:solidFill>
                            <a:schemeClr val="tx1"/>
                          </a:solidFill>
                          <a:effectLst/>
                          <a:latin typeface="Times New Roman" panose="02020603050405020304" pitchFamily="18" charset="0"/>
                          <a:ea typeface="+mn-ea"/>
                          <a:cs typeface="Times New Roman" panose="02020603050405020304" pitchFamily="18" charset="0"/>
                        </a:rPr>
                        <a:t> Neural Network </a:t>
                      </a: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(CNN)</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Achieved R² = 1.0 using MODIS fire data for regional forecasting</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t>Tested only in Jharkhand; lacks general validation</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4751" y="529843"/>
            <a:ext cx="6117590" cy="701040"/>
          </a:xfrm>
          <a:prstGeom prst="rect">
            <a:avLst/>
          </a:prstGeom>
        </p:spPr>
        <p:txBody>
          <a:bodyPr vert="horz" wrap="square" lIns="0" tIns="16510" rIns="0" bIns="0" rtlCol="0">
            <a:spAutoFit/>
          </a:bodyPr>
          <a:lstStyle/>
          <a:p>
            <a:pPr marL="12700">
              <a:lnSpc>
                <a:spcPct val="100000"/>
              </a:lnSpc>
              <a:spcBef>
                <a:spcPts val="130"/>
              </a:spcBef>
            </a:pPr>
            <a:r>
              <a:rPr spc="-15" dirty="0"/>
              <a:t>L</a:t>
            </a:r>
            <a:r>
              <a:rPr spc="10" dirty="0"/>
              <a:t>I</a:t>
            </a:r>
            <a:r>
              <a:rPr spc="-15" dirty="0"/>
              <a:t>TE</a:t>
            </a:r>
            <a:r>
              <a:rPr spc="45" dirty="0"/>
              <a:t>R</a:t>
            </a:r>
            <a:r>
              <a:rPr spc="-254" dirty="0"/>
              <a:t>A</a:t>
            </a:r>
            <a:r>
              <a:rPr spc="-15" dirty="0"/>
              <a:t>T</a:t>
            </a:r>
            <a:r>
              <a:rPr spc="45" dirty="0"/>
              <a:t>UR</a:t>
            </a:r>
            <a:r>
              <a:rPr spc="20" dirty="0"/>
              <a:t>E</a:t>
            </a:r>
            <a:r>
              <a:rPr spc="-235" dirty="0"/>
              <a:t> </a:t>
            </a:r>
            <a:r>
              <a:rPr spc="15" dirty="0"/>
              <a:t>S</a:t>
            </a:r>
            <a:r>
              <a:rPr spc="55" dirty="0"/>
              <a:t>U</a:t>
            </a:r>
            <a:r>
              <a:rPr spc="-100" dirty="0"/>
              <a:t>R</a:t>
            </a:r>
            <a:r>
              <a:rPr spc="45" dirty="0"/>
              <a:t>V</a:t>
            </a:r>
            <a:r>
              <a:rPr spc="-15" dirty="0"/>
              <a:t>E</a:t>
            </a:r>
            <a:r>
              <a:rPr spc="20" dirty="0"/>
              <a:t>Y</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114800" y="6451049"/>
            <a:ext cx="10697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184520" y="6451049"/>
            <a:ext cx="961862"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7</a:t>
            </a:fld>
            <a:endParaRPr dirty="0"/>
          </a:p>
        </p:txBody>
      </p:sp>
      <p:graphicFrame>
        <p:nvGraphicFramePr>
          <p:cNvPr id="9" name="Table 8">
            <a:extLst>
              <a:ext uri="{FF2B5EF4-FFF2-40B4-BE49-F238E27FC236}">
                <a16:creationId xmlns:a16="http://schemas.microsoft.com/office/drawing/2014/main" id="{34EAAAD4-5B2C-490A-B12B-DAF1AE973C0B}"/>
              </a:ext>
            </a:extLst>
          </p:cNvPr>
          <p:cNvGraphicFramePr>
            <a:graphicFrameLocks noGrp="1"/>
          </p:cNvGraphicFramePr>
          <p:nvPr>
            <p:extLst>
              <p:ext uri="{D42A27DB-BD31-4B8C-83A1-F6EECF244321}">
                <p14:modId xmlns:p14="http://schemas.microsoft.com/office/powerpoint/2010/main" val="1605241501"/>
              </p:ext>
            </p:extLst>
          </p:nvPr>
        </p:nvGraphicFramePr>
        <p:xfrm>
          <a:off x="457200" y="1447801"/>
          <a:ext cx="11277601" cy="4556760"/>
        </p:xfrm>
        <a:graphic>
          <a:graphicData uri="http://schemas.openxmlformats.org/drawingml/2006/table">
            <a:tbl>
              <a:tblPr firstRow="1" bandRow="1">
                <a:tableStyleId>{5940675A-B579-460E-94D1-54222C63F5DA}</a:tableStyleId>
              </a:tblPr>
              <a:tblGrid>
                <a:gridCol w="544436">
                  <a:extLst>
                    <a:ext uri="{9D8B030D-6E8A-4147-A177-3AD203B41FA5}">
                      <a16:colId xmlns:a16="http://schemas.microsoft.com/office/drawing/2014/main" val="20000"/>
                    </a:ext>
                  </a:extLst>
                </a:gridCol>
                <a:gridCol w="2394538">
                  <a:extLst>
                    <a:ext uri="{9D8B030D-6E8A-4147-A177-3AD203B41FA5}">
                      <a16:colId xmlns:a16="http://schemas.microsoft.com/office/drawing/2014/main" val="20001"/>
                    </a:ext>
                  </a:extLst>
                </a:gridCol>
                <a:gridCol w="1649843">
                  <a:extLst>
                    <a:ext uri="{9D8B030D-6E8A-4147-A177-3AD203B41FA5}">
                      <a16:colId xmlns:a16="http://schemas.microsoft.com/office/drawing/2014/main" val="20002"/>
                    </a:ext>
                  </a:extLst>
                </a:gridCol>
                <a:gridCol w="1159912">
                  <a:extLst>
                    <a:ext uri="{9D8B030D-6E8A-4147-A177-3AD203B41FA5}">
                      <a16:colId xmlns:a16="http://schemas.microsoft.com/office/drawing/2014/main" val="20003"/>
                    </a:ext>
                  </a:extLst>
                </a:gridCol>
                <a:gridCol w="1722108">
                  <a:extLst>
                    <a:ext uri="{9D8B030D-6E8A-4147-A177-3AD203B41FA5}">
                      <a16:colId xmlns:a16="http://schemas.microsoft.com/office/drawing/2014/main" val="20004"/>
                    </a:ext>
                  </a:extLst>
                </a:gridCol>
                <a:gridCol w="1812745">
                  <a:extLst>
                    <a:ext uri="{9D8B030D-6E8A-4147-A177-3AD203B41FA5}">
                      <a16:colId xmlns:a16="http://schemas.microsoft.com/office/drawing/2014/main" val="20005"/>
                    </a:ext>
                  </a:extLst>
                </a:gridCol>
                <a:gridCol w="1994019">
                  <a:extLst>
                    <a:ext uri="{9D8B030D-6E8A-4147-A177-3AD203B41FA5}">
                      <a16:colId xmlns:a16="http://schemas.microsoft.com/office/drawing/2014/main" val="20006"/>
                    </a:ext>
                  </a:extLst>
                </a:gridCol>
              </a:tblGrid>
              <a:tr h="1160658">
                <a:tc>
                  <a:txBody>
                    <a:bodyPr/>
                    <a:lstStyle/>
                    <a:p>
                      <a:r>
                        <a:rPr lang="en-IN"/>
                        <a:t>6</a:t>
                      </a:r>
                      <a:endParaRPr lang="en-IN" dirty="0"/>
                    </a:p>
                  </a:txBody>
                  <a:tcPr/>
                </a:tc>
                <a:tc>
                  <a:txBody>
                    <a:bodyPr/>
                    <a:lstStyle/>
                    <a:p>
                      <a:r>
                        <a:rPr lang="en-US" sz="1100"/>
                        <a:t>Performance Analysis of Fire and Smoke Detection System Employing Machine Learning Techniques</a:t>
                      </a:r>
                      <a:endParaRPr lang="en-IN" sz="1100" dirty="0"/>
                    </a:p>
                  </a:txBody>
                  <a:tcPr/>
                </a:tc>
                <a:tc>
                  <a:txBody>
                    <a:bodyPr/>
                    <a:lstStyle/>
                    <a:p>
                      <a:r>
                        <a:rPr lang="en-IN" sz="1100"/>
                        <a:t>Shanmukha Krishna Chaitanya M., Bhagya Satya Sri V., Gowreesh Raja D., Uma Sankararao V., Naresh Kumar V.</a:t>
                      </a:r>
                      <a:endParaRPr lang="en-IN" sz="1100" dirty="0"/>
                    </a:p>
                  </a:txBody>
                  <a:tcPr/>
                </a:tc>
                <a:tc>
                  <a:txBody>
                    <a:bodyPr/>
                    <a:lstStyle/>
                    <a:p>
                      <a:r>
                        <a:rPr lang="en-IN" sz="1100"/>
                        <a:t>ICCRTEE (IEEE), 2025</a:t>
                      </a:r>
                      <a:endParaRPr lang="en-IN" sz="1100" dirty="0"/>
                    </a:p>
                  </a:txBody>
                  <a:tcPr/>
                </a:tc>
                <a:tc>
                  <a:txBody>
                    <a:bodyPr/>
                    <a:lstStyle/>
                    <a:p>
                      <a:r>
                        <a:rPr lang="en-US" sz="1100" dirty="0"/>
                        <a:t>Compared ML models (LR, NB, KNN, DT, RF, SVM); Used SMOTE-Tomek; Feature removal; Correlation-based feature selection; Normalization (Robust Scaling)</a:t>
                      </a:r>
                      <a:endParaRPr lang="en-IN" sz="1100" dirty="0"/>
                    </a:p>
                  </a:txBody>
                  <a:tcPr/>
                </a:tc>
                <a:tc>
                  <a:txBody>
                    <a:bodyPr/>
                    <a:lstStyle/>
                    <a:p>
                      <a:r>
                        <a:rPr lang="en-US" sz="1100" dirty="0"/>
                        <a:t>• SVM and RF showed </a:t>
                      </a:r>
                      <a:r>
                        <a:rPr lang="en-US" sz="1100" b="1" dirty="0"/>
                        <a:t>high computational time</a:t>
                      </a:r>
                      <a:r>
                        <a:rPr lang="en-US" sz="1100" dirty="0"/>
                        <a:t>, reducing real-time feasibility. </a:t>
                      </a:r>
                      <a:br>
                        <a:rPr lang="en-US" sz="1100" dirty="0"/>
                      </a:br>
                      <a:r>
                        <a:rPr lang="en-US" sz="1100" dirty="0"/>
                        <a:t>• Dataset was highly imbalanced.</a:t>
                      </a:r>
                      <a:endParaRPr lang="en-IN" sz="1100" dirty="0"/>
                    </a:p>
                  </a:txBody>
                  <a:tcPr/>
                </a:tc>
                <a:tc>
                  <a:txBody>
                    <a:bodyPr/>
                    <a:lstStyle/>
                    <a:p>
                      <a:r>
                        <a:rPr lang="en-US" sz="1100" dirty="0"/>
                        <a:t>• Only sensor dataset used; no image or satellite data </a:t>
                      </a:r>
                      <a:br>
                        <a:rPr lang="en-US" sz="1100" dirty="0"/>
                      </a:br>
                      <a:r>
                        <a:rPr lang="en-US" sz="1100" dirty="0"/>
                        <a:t>• No deep learning comparison (CNN/LSTM) </a:t>
                      </a:r>
                      <a:br>
                        <a:rPr lang="en-US" sz="1100" dirty="0"/>
                      </a:br>
                      <a:r>
                        <a:rPr lang="en-US" sz="1100" dirty="0"/>
                        <a:t>• No real-time or outdoor testing </a:t>
                      </a:r>
                      <a:br>
                        <a:rPr lang="en-US" sz="1100" dirty="0"/>
                      </a:br>
                      <a:r>
                        <a:rPr lang="en-US" sz="1100" dirty="0"/>
                        <a:t> </a:t>
                      </a:r>
                      <a:endParaRPr lang="en-IN" sz="1100" dirty="0"/>
                    </a:p>
                  </a:txBody>
                  <a:tcPr/>
                </a:tc>
                <a:extLst>
                  <a:ext uri="{0D108BD9-81ED-4DB2-BD59-A6C34878D82A}">
                    <a16:rowId xmlns:a16="http://schemas.microsoft.com/office/drawing/2014/main" val="10000"/>
                  </a:ext>
                </a:extLst>
              </a:tr>
              <a:tr h="853014">
                <a:tc>
                  <a:txBody>
                    <a:bodyPr/>
                    <a:lstStyle/>
                    <a:p>
                      <a:r>
                        <a:rPr lang="en-IN"/>
                        <a:t>7</a:t>
                      </a:r>
                      <a:endParaRPr lang="en-IN" dirty="0"/>
                    </a:p>
                  </a:txBody>
                  <a:tcPr/>
                </a:tc>
                <a:tc>
                  <a:txBody>
                    <a:bodyPr/>
                    <a:lstStyle/>
                    <a:p>
                      <a:r>
                        <a:rPr lang="en-US" sz="1100"/>
                        <a:t> Sustainable AI Systems for Monitoring and Predicting Wildfires in Vulnerable Forest Regions (WiSEFire)</a:t>
                      </a:r>
                      <a:endParaRPr lang="en-IN" sz="11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IN" sz="1100"/>
                        <a:t>T. Selvin Retna Raj et al.</a:t>
                      </a:r>
                      <a:endParaRPr lang="en-IN" sz="1100" dirty="0"/>
                    </a:p>
                  </a:txBody>
                  <a:tcPr/>
                </a:tc>
                <a:tc>
                  <a:txBody>
                    <a:bodyPr/>
                    <a:lstStyle/>
                    <a:p>
                      <a:r>
                        <a:rPr lang="en-IN" sz="1100"/>
                        <a:t>ICMSCI, 2025</a:t>
                      </a:r>
                      <a:endParaRPr lang="en-IN" sz="1100" dirty="0"/>
                    </a:p>
                  </a:txBody>
                  <a:tcPr/>
                </a:tc>
                <a:tc>
                  <a:txBody>
                    <a:bodyPr/>
                    <a:lstStyle/>
                    <a:p>
                      <a:r>
                        <a:rPr lang="en-IN" sz="1100"/>
                        <a:t> </a:t>
                      </a:r>
                      <a:r>
                        <a:rPr lang="en-US" sz="1100"/>
                        <a:t>Random Forest,GRU</a:t>
                      </a:r>
                      <a:br>
                        <a:rPr lang="en-US" sz="1100"/>
                      </a:br>
                      <a:r>
                        <a:rPr lang="en-US" sz="1100"/>
                        <a:t>, Multi-source data: IoT sensors + Satellite + Weather</a:t>
                      </a:r>
                      <a:endParaRPr lang="en-IN" sz="11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100" dirty="0"/>
                        <a:t>• Requires large multi-source data, increasing system complexity. </a:t>
                      </a:r>
                      <a:br>
                        <a:rPr lang="en-US" sz="1100" dirty="0"/>
                      </a:br>
                      <a:r>
                        <a:rPr lang="en-US" sz="1100" dirty="0"/>
                        <a:t> </a:t>
                      </a:r>
                      <a:endParaRPr lang="en-IN" sz="11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100"/>
                        <a:t>• No real-time field deployment tested </a:t>
                      </a:r>
                      <a:br>
                        <a:rPr lang="en-US" sz="1100"/>
                      </a:br>
                      <a:r>
                        <a:rPr lang="en-US" sz="1100"/>
                        <a:t>• No comparison with advanced deep learning models (ViT, Transformers)</a:t>
                      </a:r>
                      <a:endParaRPr lang="en-IN" sz="1100" dirty="0"/>
                    </a:p>
                  </a:txBody>
                  <a:tcPr/>
                </a:tc>
                <a:extLst>
                  <a:ext uri="{0D108BD9-81ED-4DB2-BD59-A6C34878D82A}">
                    <a16:rowId xmlns:a16="http://schemas.microsoft.com/office/drawing/2014/main" val="10001"/>
                  </a:ext>
                </a:extLst>
              </a:tr>
              <a:tr h="1006836">
                <a:tc>
                  <a:txBody>
                    <a:bodyPr/>
                    <a:lstStyle/>
                    <a:p>
                      <a:r>
                        <a:rPr lang="en-IN"/>
                        <a:t>8</a:t>
                      </a:r>
                      <a:endParaRPr lang="en-IN" dirty="0"/>
                    </a:p>
                  </a:txBody>
                  <a:tcPr/>
                </a:tc>
                <a:tc>
                  <a:txBody>
                    <a:bodyPr/>
                    <a:lstStyle/>
                    <a:p>
                      <a:pPr algn="just"/>
                      <a:r>
                        <a:rPr lang="en-US" sz="1100"/>
                        <a:t>Integrating XAI and Machine Learning for an Effective Forest Fire Prediction System</a:t>
                      </a:r>
                      <a:endParaRPr lang="en-US" sz="1100" dirty="0"/>
                    </a:p>
                  </a:txBody>
                  <a:tcPr anchor="ctr"/>
                </a:tc>
                <a:tc>
                  <a:txBody>
                    <a:bodyPr/>
                    <a:lstStyle/>
                    <a:p>
                      <a:pPr algn="ctr"/>
                      <a:r>
                        <a:rPr lang="en-IN" sz="1100"/>
                        <a:t>Nippon Datta, Muhammad Saqib, Mohammad Tarek Aziz et al.</a:t>
                      </a:r>
                      <a:endParaRPr lang="en-US" sz="1100" dirty="0"/>
                    </a:p>
                  </a:txBody>
                  <a:tcPr anchor="ctr"/>
                </a:tc>
                <a:tc>
                  <a:txBody>
                    <a:bodyPr/>
                    <a:lstStyle/>
                    <a:p>
                      <a:pPr algn="just"/>
                      <a:r>
                        <a:rPr lang="en-IN" sz="1100"/>
                        <a:t>ICETECC (IEEE), 2025.</a:t>
                      </a:r>
                      <a:endParaRPr lang="en-IN" sz="1100" dirty="0"/>
                    </a:p>
                  </a:txBody>
                  <a:tcPr/>
                </a:tc>
                <a:tc>
                  <a:txBody>
                    <a:bodyPr/>
                    <a:lstStyle/>
                    <a:p>
                      <a:pPr algn="just"/>
                      <a:r>
                        <a:rPr lang="en-IN" sz="1100"/>
                        <a:t>LogisticRegression classifier,SMOTE oversampling, PCA , SHAP SVM, Decision Tree, Random Forest and Naïve Bayes;</a:t>
                      </a:r>
                      <a:endParaRPr lang="en-IN" sz="1100" dirty="0"/>
                    </a:p>
                  </a:txBody>
                  <a:tcPr/>
                </a:tc>
                <a:tc>
                  <a:txBody>
                    <a:bodyPr/>
                    <a:lstStyle/>
                    <a:p>
                      <a:pPr algn="just"/>
                      <a:r>
                        <a:rPr lang="en-US" sz="1100"/>
                        <a:t>Dataset is small and geographic-limited (243 original samples), so results may not generalize.</a:t>
                      </a:r>
                      <a:endParaRPr lang="en-IN" sz="1100" dirty="0"/>
                    </a:p>
                  </a:txBody>
                  <a:tcPr/>
                </a:tc>
                <a:tc>
                  <a:txBody>
                    <a:bodyPr/>
                    <a:lstStyle/>
                    <a:p>
                      <a:pPr algn="just"/>
                      <a:r>
                        <a:rPr lang="en-US" sz="1100"/>
                        <a:t>• No field / cross-regional validation or external datasets used. </a:t>
                      </a:r>
                    </a:p>
                    <a:p>
                      <a:pPr algn="just"/>
                      <a:r>
                        <a:rPr lang="en-US" sz="1100"/>
                        <a:t>  </a:t>
                      </a:r>
                      <a:endParaRPr lang="en-IN" sz="1100" dirty="0"/>
                    </a:p>
                  </a:txBody>
                  <a:tcPr/>
                </a:tc>
                <a:extLst>
                  <a:ext uri="{0D108BD9-81ED-4DB2-BD59-A6C34878D82A}">
                    <a16:rowId xmlns:a16="http://schemas.microsoft.com/office/drawing/2014/main" val="10002"/>
                  </a:ext>
                </a:extLst>
              </a:tr>
              <a:tr h="1160658">
                <a:tc>
                  <a:txBody>
                    <a:bodyPr/>
                    <a:lstStyle/>
                    <a:p>
                      <a:r>
                        <a:rPr lang="en-IN"/>
                        <a:t>9</a:t>
                      </a:r>
                      <a:endParaRPr lang="en-IN" dirty="0"/>
                    </a:p>
                  </a:txBody>
                  <a:tcPr/>
                </a:tc>
                <a:tc>
                  <a:txBody>
                    <a:bodyPr/>
                    <a:lstStyle/>
                    <a:p>
                      <a:r>
                        <a:rPr lang="en-US" sz="1100"/>
                        <a:t>Detecting Forest Fires in Southwest China From Remote Sensing Nighttime Lights Using the Random Forest Classification Model</a:t>
                      </a:r>
                      <a:endParaRPr lang="en-IN" sz="1100" dirty="0"/>
                    </a:p>
                  </a:txBody>
                  <a:tcPr/>
                </a:tc>
                <a:tc>
                  <a:txBody>
                    <a:bodyPr/>
                    <a:lstStyle/>
                    <a:p>
                      <a:r>
                        <a:rPr lang="en-IN" sz="1100" dirty="0" err="1"/>
                        <a:t>Haoran</a:t>
                      </a:r>
                      <a:r>
                        <a:rPr lang="en-IN" sz="1100" dirty="0"/>
                        <a:t> Zhang, </a:t>
                      </a:r>
                      <a:r>
                        <a:rPr lang="en-IN" sz="1100" dirty="0" err="1"/>
                        <a:t>Zhenjie</a:t>
                      </a:r>
                      <a:r>
                        <a:rPr lang="en-IN" sz="1100" dirty="0"/>
                        <a:t> Wang, </a:t>
                      </a:r>
                      <a:r>
                        <a:rPr lang="en-IN" sz="1100" dirty="0" err="1"/>
                        <a:t>Qiang</a:t>
                      </a:r>
                      <a:r>
                        <a:rPr lang="en-IN" sz="1100" dirty="0"/>
                        <a:t> Chen</a:t>
                      </a:r>
                    </a:p>
                  </a:txBody>
                  <a:tcPr/>
                </a:tc>
                <a:tc>
                  <a:txBody>
                    <a:bodyPr/>
                    <a:lstStyle/>
                    <a:p>
                      <a:r>
                        <a:rPr lang="en-IN" sz="1100" i="1" dirty="0"/>
                        <a:t>Remote Sensing</a:t>
                      </a:r>
                      <a:r>
                        <a:rPr lang="en-IN" sz="1100" dirty="0"/>
                        <a:t>, 2021</a:t>
                      </a:r>
                    </a:p>
                  </a:txBody>
                  <a:tcPr/>
                </a:tc>
                <a:tc>
                  <a:txBody>
                    <a:bodyPr/>
                    <a:lstStyle/>
                    <a:p>
                      <a:r>
                        <a:rPr lang="en-US" sz="1100" dirty="0"/>
                        <a:t>Random Forest classification model  , combined with MODIS thermal anomalies and land-use information to detect forest fires in Southwest China.</a:t>
                      </a:r>
                      <a:endParaRPr lang="en-IN" sz="1100" dirty="0"/>
                    </a:p>
                  </a:txBody>
                  <a:tcPr/>
                </a:tc>
                <a:tc>
                  <a:txBody>
                    <a:bodyPr/>
                    <a:lstStyle/>
                    <a:p>
                      <a:r>
                        <a:rPr lang="en-US" sz="1100" dirty="0"/>
                        <a:t>Detection accuracy decreased in regions with dense city lights; model performance dropped during cloudy/hazy conditions affecting VIIRS visibility.</a:t>
                      </a:r>
                      <a:endParaRPr lang="en-IN" sz="1100" dirty="0"/>
                    </a:p>
                  </a:txBody>
                  <a:tcPr anchor="ctr"/>
                </a:tc>
                <a:tc>
                  <a:txBody>
                    <a:bodyPr/>
                    <a:lstStyle/>
                    <a:p>
                      <a:r>
                        <a:rPr lang="en-US" sz="1100" dirty="0"/>
                        <a:t>Limited to nighttime detection; no real-time prediction capability; lacks comparison with deep-learning models or multi-temporal spatial fusion approaches.</a:t>
                      </a:r>
                      <a:endParaRPr lang="en-IN" sz="1100"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1754" y="529843"/>
            <a:ext cx="4769485" cy="701040"/>
          </a:xfrm>
          <a:prstGeom prst="rect">
            <a:avLst/>
          </a:prstGeom>
        </p:spPr>
        <p:txBody>
          <a:bodyPr vert="horz" wrap="square" lIns="0" tIns="16510" rIns="0" bIns="0" rtlCol="0">
            <a:spAutoFit/>
          </a:bodyPr>
          <a:lstStyle/>
          <a:p>
            <a:pPr marL="12700">
              <a:lnSpc>
                <a:spcPct val="100000"/>
              </a:lnSpc>
              <a:spcBef>
                <a:spcPts val="130"/>
              </a:spcBef>
            </a:pPr>
            <a:r>
              <a:rPr spc="45" dirty="0"/>
              <a:t>R</a:t>
            </a:r>
            <a:r>
              <a:rPr spc="-10" dirty="0"/>
              <a:t>E</a:t>
            </a:r>
            <a:r>
              <a:rPr spc="20" dirty="0"/>
              <a:t>S</a:t>
            </a:r>
            <a:r>
              <a:rPr spc="-10" dirty="0"/>
              <a:t>E</a:t>
            </a:r>
            <a:r>
              <a:rPr spc="45" dirty="0"/>
              <a:t>ARC</a:t>
            </a:r>
            <a:r>
              <a:rPr spc="20" dirty="0"/>
              <a:t>H</a:t>
            </a:r>
            <a:r>
              <a:rPr spc="-195" dirty="0"/>
              <a:t> </a:t>
            </a:r>
            <a:r>
              <a:rPr spc="-55" dirty="0"/>
              <a:t>G</a:t>
            </a:r>
            <a:r>
              <a:rPr spc="45" dirty="0"/>
              <a:t>A</a:t>
            </a:r>
            <a:r>
              <a:rPr spc="15" dirty="0"/>
              <a:t>PS</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3881754" y="6451049"/>
            <a:ext cx="1302766"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2" y="6451049"/>
            <a:ext cx="984668"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8</a:t>
            </a:fld>
            <a:endParaRPr dirty="0"/>
          </a:p>
        </p:txBody>
      </p:sp>
      <p:sp>
        <p:nvSpPr>
          <p:cNvPr id="3" name="object 3"/>
          <p:cNvSpPr txBox="1"/>
          <p:nvPr/>
        </p:nvSpPr>
        <p:spPr>
          <a:xfrm>
            <a:off x="917575" y="1371600"/>
            <a:ext cx="9979026" cy="4465646"/>
          </a:xfrm>
          <a:prstGeom prst="rect">
            <a:avLst/>
          </a:prstGeom>
        </p:spPr>
        <p:txBody>
          <a:bodyPr vert="horz" wrap="square" lIns="0" tIns="99060" rIns="0" bIns="0" rtlCol="0">
            <a:spAutoFit/>
          </a:bodyPr>
          <a:lstStyle/>
          <a:p>
            <a:pPr marL="457200" indent="-457200" algn="just">
              <a:lnSpc>
                <a:spcPct val="150000"/>
              </a:lnSpc>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Absence of predictive systems for Indian forest ecosystems.</a:t>
            </a:r>
          </a:p>
          <a:p>
            <a:pPr marL="457200" indent="-457200" algn="just">
              <a:lnSpc>
                <a:spcPct val="150000"/>
              </a:lnSpc>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Underuse of open-source NDVI and meteorological data.</a:t>
            </a:r>
          </a:p>
          <a:p>
            <a:pPr marL="457200" indent="-457200" algn="just">
              <a:lnSpc>
                <a:spcPct val="150000"/>
              </a:lnSpc>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Class imbalance (rare fire days) limits model performance.</a:t>
            </a:r>
          </a:p>
          <a:p>
            <a:pPr marL="457200" indent="-457200" algn="just">
              <a:lnSpc>
                <a:spcPct val="150000"/>
              </a:lnSpc>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Need for explainable, real-time, ensemble-based ML systems.</a:t>
            </a:r>
            <a:endParaRPr lang="en-US" sz="2400"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150000"/>
              </a:lnSpc>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a:t>
            </a:r>
            <a:r>
              <a:rPr lang="en-US" sz="2400" b="1" dirty="0">
                <a:latin typeface="Times New Roman" panose="02020603050405020304" pitchFamily="18" charset="0"/>
                <a:cs typeface="Times New Roman" panose="02020603050405020304" pitchFamily="18" charset="0"/>
              </a:rPr>
              <a:t>region-specific predictive models</a:t>
            </a:r>
            <a:r>
              <a:rPr lang="en-US" sz="2400" dirty="0">
                <a:latin typeface="Times New Roman" panose="02020603050405020304" pitchFamily="18" charset="0"/>
                <a:cs typeface="Times New Roman" panose="02020603050405020304" pitchFamily="18" charset="0"/>
              </a:rPr>
              <a:t> for </a:t>
            </a:r>
            <a:r>
              <a:rPr lang="en-US" sz="2400" dirty="0" err="1">
                <a:latin typeface="Times New Roman" panose="02020603050405020304" pitchFamily="18" charset="0"/>
                <a:cs typeface="Times New Roman" panose="02020603050405020304" pitchFamily="18" charset="0"/>
              </a:rPr>
              <a:t>Nallamala</a:t>
            </a:r>
            <a:r>
              <a:rPr lang="en-US" sz="2400" dirty="0">
                <a:latin typeface="Times New Roman" panose="02020603050405020304" pitchFamily="18" charset="0"/>
                <a:cs typeface="Times New Roman" panose="02020603050405020304" pitchFamily="18" charset="0"/>
              </a:rPr>
              <a:t>.</a:t>
            </a:r>
          </a:p>
          <a:p>
            <a:pPr marL="457200" indent="-457200" algn="just">
              <a:lnSpc>
                <a:spcPct val="150000"/>
              </a:lnSpc>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Underuse of </a:t>
            </a:r>
            <a:r>
              <a:rPr lang="en-US" sz="2400" b="1" dirty="0">
                <a:latin typeface="Times New Roman" panose="02020603050405020304" pitchFamily="18" charset="0"/>
                <a:cs typeface="Times New Roman" panose="02020603050405020304" pitchFamily="18" charset="0"/>
              </a:rPr>
              <a:t>NDVI vegetation indices</a:t>
            </a:r>
            <a:r>
              <a:rPr lang="en-US" sz="2400" dirty="0">
                <a:latin typeface="Times New Roman" panose="02020603050405020304" pitchFamily="18" charset="0"/>
                <a:cs typeface="Times New Roman" panose="02020603050405020304" pitchFamily="18" charset="0"/>
              </a:rPr>
              <a:t> for fire risk prediction</a:t>
            </a:r>
          </a:p>
          <a:p>
            <a:pPr marL="457200" indent="-457200" algn="just">
              <a:lnSpc>
                <a:spcPct val="150000"/>
              </a:lnSpc>
              <a:buClr>
                <a:schemeClr val="tx1"/>
              </a:buClr>
              <a:buFont typeface="Arial" panose="020B0604020202020204" pitchFamily="34" charset="0"/>
              <a:buChar char="•"/>
            </a:pPr>
            <a:r>
              <a:rPr lang="en-US" sz="2400" dirty="0"/>
              <a:t>Current fire monitoring systems detect fires </a:t>
            </a:r>
            <a:r>
              <a:rPr lang="en-US" sz="2000" b="1" dirty="0"/>
              <a:t>after ignition rather than before</a:t>
            </a:r>
            <a:r>
              <a:rPr lang="en-US" sz="2000" dirty="0"/>
              <a:t>.</a:t>
            </a: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400" b="0" i="0" u="none" strike="noStrike" baseline="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0" y="529843"/>
            <a:ext cx="3594735" cy="701040"/>
          </a:xfrm>
          <a:prstGeom prst="rect">
            <a:avLst/>
          </a:prstGeom>
        </p:spPr>
        <p:txBody>
          <a:bodyPr vert="horz" wrap="square" lIns="0" tIns="16510" rIns="0" bIns="0" rtlCol="0">
            <a:spAutoFit/>
          </a:bodyPr>
          <a:lstStyle/>
          <a:p>
            <a:pPr marL="12700">
              <a:lnSpc>
                <a:spcPct val="100000"/>
              </a:lnSpc>
              <a:spcBef>
                <a:spcPts val="130"/>
              </a:spcBef>
            </a:pPr>
            <a:r>
              <a:rPr spc="20" dirty="0"/>
              <a:t>O</a:t>
            </a:r>
            <a:r>
              <a:rPr spc="65" dirty="0"/>
              <a:t>B</a:t>
            </a:r>
            <a:r>
              <a:rPr spc="45" dirty="0"/>
              <a:t>J</a:t>
            </a:r>
            <a:r>
              <a:rPr spc="-15" dirty="0"/>
              <a:t>E</a:t>
            </a:r>
            <a:r>
              <a:rPr spc="45" dirty="0"/>
              <a:t>C</a:t>
            </a:r>
            <a:r>
              <a:rPr spc="-15" dirty="0"/>
              <a:t>T</a:t>
            </a:r>
            <a:r>
              <a:rPr spc="10" dirty="0"/>
              <a:t>I</a:t>
            </a:r>
            <a:r>
              <a:rPr spc="45" dirty="0"/>
              <a:t>V</a:t>
            </a:r>
            <a:r>
              <a:rPr spc="-15" dirty="0"/>
              <a:t>E</a:t>
            </a:r>
            <a:r>
              <a:rPr spc="15" dirty="0"/>
              <a:t>S</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191000" y="6458435"/>
            <a:ext cx="9838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2" y="6451049"/>
            <a:ext cx="983870"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9</a:t>
            </a:fld>
            <a:endParaRPr dirty="0"/>
          </a:p>
        </p:txBody>
      </p:sp>
      <p:sp>
        <p:nvSpPr>
          <p:cNvPr id="3" name="object 3"/>
          <p:cNvSpPr txBox="1"/>
          <p:nvPr/>
        </p:nvSpPr>
        <p:spPr>
          <a:xfrm>
            <a:off x="917575" y="1676400"/>
            <a:ext cx="9829800" cy="3793346"/>
          </a:xfrm>
          <a:prstGeom prst="rect">
            <a:avLst/>
          </a:prstGeom>
        </p:spPr>
        <p:txBody>
          <a:bodyPr vert="horz" wrap="square" lIns="0" tIns="99060" rIns="0" bIns="0" rtlCol="0">
            <a:spAutoFit/>
          </a:bodyPr>
          <a:lstStyle/>
          <a:p>
            <a:pPr marL="342900" indent="-342900">
              <a:buFont typeface="Arial" panose="020B0604020202020204" pitchFamily="34" charset="0"/>
              <a:buChar char="•"/>
            </a:pPr>
            <a:r>
              <a:rPr lang="en-US" sz="2400" dirty="0"/>
              <a:t>Predict forest fire occurrences using NDVI + synthetic weather data</a:t>
            </a:r>
            <a:r>
              <a:rPr lang="en-US" sz="2400" b="0" i="0" dirty="0">
                <a:solidFill>
                  <a:srgbClr val="0D0D0D"/>
                </a:solidFill>
                <a:effectLst/>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endParaRPr lang="en-US" sz="2400" dirty="0">
              <a:solidFill>
                <a:srgbClr val="0D0D0D"/>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it-IT" sz="2400" dirty="0"/>
              <a:t>Handle data imbalance via SMOTE.</a:t>
            </a:r>
          </a:p>
          <a:p>
            <a:pPr marL="342900" indent="-342900">
              <a:buFont typeface="Arial" panose="020B0604020202020204" pitchFamily="34" charset="0"/>
              <a:buChar char="•"/>
            </a:pPr>
            <a:endParaRPr lang="en-US" sz="2400" dirty="0">
              <a:solidFill>
                <a:srgbClr val="0D0D0D"/>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t>Build ensemble ML model using XGBoost and LightGBM</a:t>
            </a:r>
            <a:r>
              <a:rPr lang="en-US" sz="2400" b="0" i="0" dirty="0">
                <a:solidFill>
                  <a:srgbClr val="0D0D0D"/>
                </a:solidFill>
                <a:effectLst/>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endParaRPr 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 </a:t>
            </a:r>
            <a:r>
              <a:rPr lang="en-US" sz="2400" dirty="0"/>
              <a:t>Validate using Accuracy, Recall, Precision, F1-score.</a:t>
            </a:r>
            <a:endParaRPr 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solidFill>
                <a:srgbClr val="0D0D0D"/>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 </a:t>
            </a:r>
            <a:r>
              <a:rPr lang="en-US" sz="2400" dirty="0"/>
              <a:t>Enable scalable deployment for real-time alerts.</a:t>
            </a:r>
            <a:endParaRPr lang="en-US" sz="2400" dirty="0">
              <a:solidFill>
                <a:srgbClr val="0D0D0D"/>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0"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8904" y="529843"/>
            <a:ext cx="4672965" cy="701040"/>
          </a:xfrm>
          <a:prstGeom prst="rect">
            <a:avLst/>
          </a:prstGeom>
        </p:spPr>
        <p:txBody>
          <a:bodyPr vert="horz" wrap="square" lIns="0" tIns="16510" rIns="0" bIns="0" rtlCol="0">
            <a:spAutoFit/>
          </a:bodyPr>
          <a:lstStyle/>
          <a:p>
            <a:pPr marL="12700">
              <a:lnSpc>
                <a:spcPct val="100000"/>
              </a:lnSpc>
              <a:spcBef>
                <a:spcPts val="130"/>
              </a:spcBef>
            </a:pPr>
            <a:r>
              <a:rPr spc="10" dirty="0"/>
              <a:t>METHODOLOGY</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114800" y="6451049"/>
            <a:ext cx="10697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69719"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10</a:t>
            </a:fld>
            <a:endParaRPr dirty="0"/>
          </a:p>
        </p:txBody>
      </p:sp>
      <p:sp>
        <p:nvSpPr>
          <p:cNvPr id="3" name="object 3"/>
          <p:cNvSpPr txBox="1"/>
          <p:nvPr/>
        </p:nvSpPr>
        <p:spPr>
          <a:xfrm>
            <a:off x="917575" y="1676400"/>
            <a:ext cx="10893425" cy="3564117"/>
          </a:xfrm>
          <a:prstGeom prst="rect">
            <a:avLst/>
          </a:prstGeom>
        </p:spPr>
        <p:txBody>
          <a:bodyPr vert="horz" wrap="square" lIns="0" tIns="60960" rIns="0" bIns="0" rtlCol="0">
            <a:spAutoFit/>
          </a:bodyPr>
          <a:lstStyle/>
          <a:p>
            <a:pPr marL="241300" marR="290830" indent="-229235" algn="just">
              <a:lnSpc>
                <a:spcPts val="3000"/>
              </a:lnSpc>
              <a:spcBef>
                <a:spcPts val="480"/>
              </a:spcBef>
              <a:buFont typeface="Arial MT"/>
              <a:buChar char="•"/>
              <a:tabLst>
                <a:tab pos="241935" algn="l"/>
                <a:tab pos="2394585" algn="l"/>
              </a:tabLst>
            </a:pPr>
            <a:r>
              <a:rPr lang="en-IN" sz="2400" b="1" dirty="0"/>
              <a:t>Data Sources:</a:t>
            </a:r>
            <a:r>
              <a:rPr lang="en-IN" sz="2400" dirty="0"/>
              <a:t> MODIS NDVI (250m), NASA POWER (Temp, Humidity, Radiation).</a:t>
            </a:r>
            <a:endParaRPr lang="en-IN" sz="2400" b="0" i="0" dirty="0">
              <a:solidFill>
                <a:srgbClr val="0D0D0D"/>
              </a:solidFill>
              <a:effectLst/>
              <a:latin typeface="Söhne"/>
            </a:endParaRPr>
          </a:p>
          <a:p>
            <a:pPr marL="241300" marR="290830" indent="-229235" algn="just">
              <a:lnSpc>
                <a:spcPts val="3000"/>
              </a:lnSpc>
              <a:spcBef>
                <a:spcPts val="480"/>
              </a:spcBef>
              <a:buFont typeface="Arial MT"/>
              <a:buChar char="•"/>
              <a:tabLst>
                <a:tab pos="241935" algn="l"/>
                <a:tab pos="2394585" algn="l"/>
              </a:tabLst>
            </a:pPr>
            <a:r>
              <a:rPr lang="en-IN" sz="2400" b="1" dirty="0"/>
              <a:t>Data Range:</a:t>
            </a:r>
            <a:r>
              <a:rPr lang="en-IN" sz="2400" dirty="0"/>
              <a:t> 2012–2025.</a:t>
            </a:r>
            <a:endParaRPr lang="en-IN" sz="2400" dirty="0">
              <a:solidFill>
                <a:srgbClr val="0D0D0D"/>
              </a:solidFill>
              <a:latin typeface="Söhne"/>
            </a:endParaRPr>
          </a:p>
          <a:p>
            <a:pPr marL="241300" marR="290830" indent="-229235" algn="just">
              <a:lnSpc>
                <a:spcPts val="3000"/>
              </a:lnSpc>
              <a:spcBef>
                <a:spcPts val="480"/>
              </a:spcBef>
              <a:buFont typeface="Arial MT"/>
              <a:buChar char="•"/>
              <a:tabLst>
                <a:tab pos="241935" algn="l"/>
                <a:tab pos="2394585" algn="l"/>
              </a:tabLst>
            </a:pPr>
            <a:r>
              <a:rPr lang="en-US" sz="2400" b="1" dirty="0"/>
              <a:t>Preprocessing:</a:t>
            </a:r>
            <a:r>
              <a:rPr lang="en-US" sz="2400" dirty="0"/>
              <a:t> Missing value handling, lag feature engineering, normalization</a:t>
            </a:r>
            <a:r>
              <a:rPr lang="en-US" sz="2400" b="0" i="0" dirty="0">
                <a:solidFill>
                  <a:srgbClr val="0D0D0D"/>
                </a:solidFill>
                <a:effectLst/>
                <a:latin typeface="Söhne"/>
              </a:rPr>
              <a:t>.</a:t>
            </a:r>
          </a:p>
          <a:p>
            <a:pPr marL="241300" marR="290830" indent="-229235" algn="just">
              <a:lnSpc>
                <a:spcPts val="3000"/>
              </a:lnSpc>
              <a:spcBef>
                <a:spcPts val="480"/>
              </a:spcBef>
              <a:buFont typeface="Arial MT"/>
              <a:buChar char="•"/>
              <a:tabLst>
                <a:tab pos="241935" algn="l"/>
                <a:tab pos="2394585" algn="l"/>
              </a:tabLst>
            </a:pPr>
            <a:endParaRPr lang="en-US" sz="2400" b="0" i="0" dirty="0">
              <a:solidFill>
                <a:srgbClr val="0D0D0D"/>
              </a:solidFill>
              <a:effectLst/>
              <a:latin typeface="Times New Roman"/>
              <a:cs typeface="Times New Roman"/>
            </a:endParaRPr>
          </a:p>
          <a:p>
            <a:pPr marL="241300" marR="290830" indent="-229235" algn="just">
              <a:lnSpc>
                <a:spcPts val="3000"/>
              </a:lnSpc>
              <a:spcBef>
                <a:spcPts val="480"/>
              </a:spcBef>
              <a:buFont typeface="Arial MT"/>
              <a:buChar char="•"/>
              <a:tabLst>
                <a:tab pos="241935" algn="l"/>
                <a:tab pos="2394585" algn="l"/>
              </a:tabLst>
            </a:pPr>
            <a:r>
              <a:rPr lang="en-US" sz="2400" b="1" dirty="0"/>
              <a:t>Modeling:</a:t>
            </a:r>
            <a:r>
              <a:rPr lang="en-US" sz="2400" dirty="0"/>
              <a:t> Ensemble (LightGBM + XGBoost) with soft voting</a:t>
            </a:r>
            <a:r>
              <a:rPr lang="en-US" sz="2400" b="0" i="0" dirty="0">
                <a:solidFill>
                  <a:srgbClr val="0D0D0D"/>
                </a:solidFill>
                <a:effectLst/>
                <a:latin typeface="Söhne"/>
              </a:rPr>
              <a:t>.</a:t>
            </a:r>
          </a:p>
          <a:p>
            <a:pPr marL="241300" marR="290830" indent="-229235" algn="just">
              <a:lnSpc>
                <a:spcPts val="3000"/>
              </a:lnSpc>
              <a:spcBef>
                <a:spcPts val="480"/>
              </a:spcBef>
              <a:buFont typeface="Arial MT"/>
              <a:buChar char="•"/>
              <a:tabLst>
                <a:tab pos="241935" algn="l"/>
                <a:tab pos="2394585" algn="l"/>
              </a:tabLst>
            </a:pPr>
            <a:r>
              <a:rPr lang="en-US" sz="2400" b="1" dirty="0"/>
              <a:t>Balancing:</a:t>
            </a:r>
            <a:r>
              <a:rPr lang="en-US" sz="2400" dirty="0"/>
              <a:t> SMOTE for rare fire days.</a:t>
            </a:r>
          </a:p>
          <a:p>
            <a:pPr marL="241300" marR="290830" indent="-229235" algn="just">
              <a:lnSpc>
                <a:spcPts val="3000"/>
              </a:lnSpc>
              <a:spcBef>
                <a:spcPts val="480"/>
              </a:spcBef>
              <a:buFont typeface="Arial MT"/>
              <a:buChar char="•"/>
              <a:tabLst>
                <a:tab pos="241935" algn="l"/>
                <a:tab pos="2394585" algn="l"/>
              </a:tabLst>
            </a:pPr>
            <a:r>
              <a:rPr lang="en-IN" sz="2400" b="1" dirty="0"/>
              <a:t>Evaluation:</a:t>
            </a:r>
            <a:r>
              <a:rPr lang="en-IN" sz="2400" dirty="0"/>
              <a:t> Accuracy, Precision, Recall, F1-score, ROC, Confusion Matrix.</a:t>
            </a:r>
            <a:endParaRPr lang="en-US" sz="2400" b="0" i="0" dirty="0">
              <a:solidFill>
                <a:srgbClr val="0D0D0D"/>
              </a:solidFill>
              <a:effectLst/>
              <a:latin typeface="Söhne"/>
            </a:endParaRPr>
          </a:p>
          <a:p>
            <a:pPr marL="241300" marR="290830" indent="-229235" algn="just">
              <a:lnSpc>
                <a:spcPts val="3000"/>
              </a:lnSpc>
              <a:spcBef>
                <a:spcPts val="480"/>
              </a:spcBef>
              <a:buFont typeface="Arial MT"/>
              <a:buChar char="•"/>
              <a:tabLst>
                <a:tab pos="241935" algn="l"/>
                <a:tab pos="2394585" algn="l"/>
              </a:tabLst>
            </a:pPr>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3350" y="566674"/>
            <a:ext cx="9726930" cy="632460"/>
          </a:xfrm>
          <a:prstGeom prst="rect">
            <a:avLst/>
          </a:prstGeom>
        </p:spPr>
        <p:txBody>
          <a:bodyPr vert="horz" wrap="square" lIns="0" tIns="16510" rIns="0" bIns="0" rtlCol="0">
            <a:spAutoFit/>
          </a:bodyPr>
          <a:lstStyle/>
          <a:p>
            <a:pPr marL="12700" algn="ctr">
              <a:lnSpc>
                <a:spcPct val="100000"/>
              </a:lnSpc>
              <a:spcBef>
                <a:spcPts val="130"/>
              </a:spcBef>
            </a:pPr>
            <a:r>
              <a:rPr sz="3950" spc="20" dirty="0"/>
              <a:t>FLOW</a:t>
            </a:r>
            <a:r>
              <a:rPr sz="3950" spc="-25" dirty="0"/>
              <a:t> </a:t>
            </a:r>
            <a:r>
              <a:rPr sz="3950" spc="5" dirty="0"/>
              <a:t>DIAGRAM</a:t>
            </a:r>
            <a:endParaRPr sz="3950" dirty="0"/>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426329" y="6451049"/>
            <a:ext cx="936815"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US"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US"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11</a:t>
            </a:fld>
            <a:endParaRPr dirty="0"/>
          </a:p>
        </p:txBody>
      </p:sp>
      <p:sp>
        <p:nvSpPr>
          <p:cNvPr id="9" name="TextBox 8">
            <a:extLst>
              <a:ext uri="{FF2B5EF4-FFF2-40B4-BE49-F238E27FC236}">
                <a16:creationId xmlns:a16="http://schemas.microsoft.com/office/drawing/2014/main" id="{701B5D85-DC83-0192-02D3-132482281B8F}"/>
              </a:ext>
            </a:extLst>
          </p:cNvPr>
          <p:cNvSpPr txBox="1"/>
          <p:nvPr/>
        </p:nvSpPr>
        <p:spPr>
          <a:xfrm>
            <a:off x="3581400" y="5849258"/>
            <a:ext cx="4190646" cy="800219"/>
          </a:xfrm>
          <a:prstGeom prst="rect">
            <a:avLst/>
          </a:prstGeom>
          <a:noFill/>
        </p:spPr>
        <p:txBody>
          <a:bodyPr wrap="square" rtlCol="0">
            <a:spAutoFit/>
          </a:bodyPr>
          <a:lstStyle/>
          <a:p>
            <a:pPr marL="182880" marR="624840" indent="182880" algn="ctr">
              <a:lnSpc>
                <a:spcPct val="115000"/>
              </a:lnSpc>
              <a:spcAft>
                <a:spcPts val="600"/>
              </a:spcAft>
              <a:tabLst>
                <a:tab pos="182880" algn="l"/>
              </a:tabLst>
            </a:pPr>
            <a:r>
              <a:rPr lang="en-IN" sz="2000" spc="-5" dirty="0">
                <a:effectLst/>
                <a:latin typeface="Times New Roman" panose="02020603050405020304" pitchFamily="18" charset="0"/>
                <a:ea typeface="SimSun" panose="02010600030101010101" pitchFamily="2" charset="-122"/>
              </a:rPr>
              <a:t>            </a:t>
            </a:r>
            <a:r>
              <a:rPr lang="en-IN" sz="2000" b="1" spc="-5" dirty="0">
                <a:effectLst/>
                <a:latin typeface="Times New Roman" panose="02020603050405020304" pitchFamily="18" charset="0"/>
                <a:ea typeface="SimSun" panose="02010600030101010101" pitchFamily="2" charset="-122"/>
              </a:rPr>
              <a:t>Working Process</a:t>
            </a:r>
          </a:p>
          <a:p>
            <a:endParaRPr lang="en-IN"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1200846"/>
            <a:ext cx="5715000" cy="47444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9DEF4-8722-488C-AE99-748FFCF56E28}"/>
              </a:ext>
            </a:extLst>
          </p:cNvPr>
          <p:cNvSpPr>
            <a:spLocks noGrp="1"/>
          </p:cNvSpPr>
          <p:nvPr>
            <p:ph type="title"/>
          </p:nvPr>
        </p:nvSpPr>
        <p:spPr>
          <a:xfrm>
            <a:off x="917575" y="954608"/>
            <a:ext cx="2755901" cy="444357"/>
          </a:xfrm>
        </p:spPr>
        <p:txBody>
          <a:bodyPr/>
          <a:lstStyle/>
          <a:p>
            <a:r>
              <a:rPr lang="en-US" sz="2800" dirty="0"/>
              <a:t>Working process</a:t>
            </a:r>
            <a:endParaRPr lang="en-IN" sz="2800" dirty="0"/>
          </a:p>
        </p:txBody>
      </p:sp>
      <p:sp>
        <p:nvSpPr>
          <p:cNvPr id="3" name="Text Placeholder 2">
            <a:extLst>
              <a:ext uri="{FF2B5EF4-FFF2-40B4-BE49-F238E27FC236}">
                <a16:creationId xmlns:a16="http://schemas.microsoft.com/office/drawing/2014/main" id="{170DC077-5BBF-4FB4-A94B-595E88528F2F}"/>
              </a:ext>
            </a:extLst>
          </p:cNvPr>
          <p:cNvSpPr>
            <a:spLocks noGrp="1"/>
          </p:cNvSpPr>
          <p:nvPr>
            <p:ph type="body" idx="1"/>
          </p:nvPr>
        </p:nvSpPr>
        <p:spPr>
          <a:xfrm>
            <a:off x="917575" y="1336357"/>
            <a:ext cx="10356850" cy="5447645"/>
          </a:xfrm>
        </p:spPr>
        <p:txBody>
          <a:bodyPr/>
          <a:lstStyle/>
          <a:p>
            <a:pPr lvl="0" algn="just" rtl="0"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Input Layer:</a:t>
            </a:r>
            <a:r>
              <a:rPr lang="en-US" altLang="en-US" sz="24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NDVI vegetation indices and weather variables</a:t>
            </a:r>
          </a:p>
          <a:p>
            <a:pPr lvl="0" algn="just" rtl="0"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Preprocessing:</a:t>
            </a:r>
            <a:r>
              <a:rPr lang="en-US" altLang="en-US" sz="24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Data cleaning, normalization, lag feature creation</a:t>
            </a:r>
          </a:p>
          <a:p>
            <a:pPr lvl="0" algn="just" rtl="0"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Class Balancing:</a:t>
            </a:r>
            <a:r>
              <a:rPr lang="en-US" altLang="en-US" sz="24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SMOTE to handle rare fire events</a:t>
            </a:r>
          </a:p>
          <a:p>
            <a:pPr lvl="0" algn="just" rtl="0"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Feature Selection: </a:t>
            </a:r>
            <a:r>
              <a:rPr lang="en-US" altLang="en-US" sz="2000" dirty="0">
                <a:latin typeface="Times New Roman" panose="02020603050405020304" pitchFamily="18" charset="0"/>
                <a:cs typeface="Times New Roman" panose="02020603050405020304" pitchFamily="18" charset="0"/>
              </a:rPr>
              <a:t>Selection of influential fire-related features</a:t>
            </a:r>
          </a:p>
          <a:p>
            <a:pPr lvl="0" algn="just" rtl="0"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Ensemble Learning: </a:t>
            </a:r>
            <a:r>
              <a:rPr lang="en-US" altLang="en-US" sz="2000" dirty="0">
                <a:latin typeface="Times New Roman" panose="02020603050405020304" pitchFamily="18" charset="0"/>
                <a:cs typeface="Times New Roman" panose="02020603050405020304" pitchFamily="18" charset="0"/>
              </a:rPr>
              <a:t>Stacked model with Random Forest, Gradient Boosting, and Naive Bayes</a:t>
            </a:r>
          </a:p>
          <a:p>
            <a:pPr lvl="0" algn="just" rtl="0"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Meta-Learner:</a:t>
            </a:r>
            <a:r>
              <a:rPr lang="en-US" altLang="en-US" sz="24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Logistic Regression for final decision</a:t>
            </a:r>
          </a:p>
          <a:p>
            <a:pPr lvl="0" algn="just" rtl="0"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Output:</a:t>
            </a:r>
            <a:r>
              <a:rPr lang="en-US" altLang="en-US" sz="24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Fire / Non-Fire prediction</a:t>
            </a:r>
          </a:p>
          <a:p>
            <a:endParaRPr lang="en-IN" dirty="0"/>
          </a:p>
        </p:txBody>
      </p:sp>
    </p:spTree>
    <p:extLst>
      <p:ext uri="{BB962C8B-B14F-4D97-AF65-F5344CB8AC3E}">
        <p14:creationId xmlns:p14="http://schemas.microsoft.com/office/powerpoint/2010/main" val="4000727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7D75-45EF-402D-A5A9-1B28BD976C58}"/>
              </a:ext>
            </a:extLst>
          </p:cNvPr>
          <p:cNvSpPr>
            <a:spLocks noGrp="1"/>
          </p:cNvSpPr>
          <p:nvPr>
            <p:ph type="title"/>
          </p:nvPr>
        </p:nvSpPr>
        <p:spPr/>
        <p:txBody>
          <a:bodyPr/>
          <a:lstStyle/>
          <a:p>
            <a:pPr algn="ctr"/>
            <a:r>
              <a:rPr lang="en-US" dirty="0"/>
              <a:t>IMPLEMENTATION</a:t>
            </a:r>
            <a:endParaRPr lang="en-IN" dirty="0"/>
          </a:p>
        </p:txBody>
      </p:sp>
      <p:sp>
        <p:nvSpPr>
          <p:cNvPr id="3" name="Text Placeholder 2">
            <a:extLst>
              <a:ext uri="{FF2B5EF4-FFF2-40B4-BE49-F238E27FC236}">
                <a16:creationId xmlns:a16="http://schemas.microsoft.com/office/drawing/2014/main" id="{7E7B2C24-1BE1-40B6-887F-3718EABCEB40}"/>
              </a:ext>
            </a:extLst>
          </p:cNvPr>
          <p:cNvSpPr>
            <a:spLocks noGrp="1"/>
          </p:cNvSpPr>
          <p:nvPr>
            <p:ph type="body" idx="1"/>
          </p:nvPr>
        </p:nvSpPr>
        <p:spPr>
          <a:xfrm>
            <a:off x="304800" y="1243726"/>
            <a:ext cx="12152314" cy="5401479"/>
          </a:xfrm>
        </p:spPr>
        <p:txBody>
          <a:bodyPr/>
          <a:lstStyle/>
          <a:p>
            <a:pPr>
              <a:lnSpc>
                <a:spcPct val="150000"/>
              </a:lnSpc>
            </a:pPr>
            <a:r>
              <a:rPr lang="en-US" b="1" dirty="0">
                <a:latin typeface="Times New Roman" panose="02020603050405020304" pitchFamily="18" charset="0"/>
                <a:cs typeface="Times New Roman" panose="02020603050405020304" pitchFamily="18" charset="0"/>
              </a:rPr>
              <a:t>INSTALLING NECESSARY PACKAGES</a:t>
            </a:r>
          </a:p>
          <a:p>
            <a:pPr>
              <a:lnSpc>
                <a:spcPct val="150000"/>
              </a:lnSpc>
            </a:pPr>
            <a:r>
              <a:rPr lang="en-IN" dirty="0"/>
              <a:t>!pip install lightgbm </a:t>
            </a:r>
            <a:r>
              <a:rPr lang="en-IN" dirty="0" err="1"/>
              <a:t>xgboost</a:t>
            </a:r>
            <a:r>
              <a:rPr lang="en-IN" dirty="0"/>
              <a:t> catboost </a:t>
            </a:r>
            <a:r>
              <a:rPr lang="en-IN" dirty="0" err="1"/>
              <a:t>shap</a:t>
            </a:r>
            <a:r>
              <a:rPr lang="en-IN" dirty="0"/>
              <a:t> optuna imbalanced-learn </a:t>
            </a:r>
            <a:r>
              <a:rPr lang="en-IN" dirty="0" err="1"/>
              <a:t>tensorflow</a:t>
            </a:r>
            <a:r>
              <a:rPr lang="en-IN" dirty="0"/>
              <a:t> </a:t>
            </a:r>
            <a:r>
              <a:rPr lang="en-IN" dirty="0" err="1"/>
              <a:t>pyhdf</a:t>
            </a:r>
            <a:r>
              <a:rPr lang="en-IN" dirty="0"/>
              <a:t> --quiet</a:t>
            </a:r>
          </a:p>
          <a:p>
            <a:pPr>
              <a:lnSpc>
                <a:spcPct val="150000"/>
              </a:lnSpc>
            </a:pPr>
            <a:r>
              <a:rPr lang="en-IN" dirty="0"/>
              <a:t>!apt install </a:t>
            </a:r>
            <a:r>
              <a:rPr lang="en-IN" dirty="0" err="1"/>
              <a:t>libgdal</a:t>
            </a:r>
            <a:r>
              <a:rPr lang="en-IN" dirty="0"/>
              <a:t>-dev -y</a:t>
            </a:r>
          </a:p>
          <a:p>
            <a:endParaRPr lang="en-US" b="1" dirty="0">
              <a:latin typeface="Times New Roman" panose="02020603050405020304" pitchFamily="18" charset="0"/>
              <a:cs typeface="Times New Roman" panose="02020603050405020304" pitchFamily="18" charset="0"/>
            </a:endParaRPr>
          </a:p>
          <a:p>
            <a:r>
              <a:rPr lang="en-US" b="1" dirty="0"/>
              <a:t>READING DATASETS</a:t>
            </a:r>
          </a:p>
          <a:p>
            <a:endParaRPr lang="en-US" b="1" dirty="0"/>
          </a:p>
          <a:p>
            <a:r>
              <a:rPr lang="en-IN" dirty="0"/>
              <a:t>t2m_files = [</a:t>
            </a:r>
          </a:p>
          <a:p>
            <a:r>
              <a:rPr lang="en-IN" dirty="0"/>
              <a:t>  "/content/drive/MyDrive/forest fire prediction/POWER_Regional_Daily_20120101_20121231 (2).csv",</a:t>
            </a:r>
          </a:p>
          <a:p>
            <a:r>
              <a:rPr lang="en-IN" dirty="0"/>
              <a:t>  "/content/drive/MyDrive/forest fire prediction/POWER_Regional_Daily_20130101_20131231 (2).csv",</a:t>
            </a:r>
          </a:p>
          <a:p>
            <a:r>
              <a:rPr lang="en-IN" dirty="0"/>
              <a:t>  ]</a:t>
            </a:r>
          </a:p>
          <a:p>
            <a:r>
              <a:rPr lang="en-IN" dirty="0"/>
              <a:t>rh2m_files=[</a:t>
            </a:r>
          </a:p>
          <a:p>
            <a:r>
              <a:rPr lang="en-IN" dirty="0"/>
              <a:t>  "/content/drive/MyDrive/forest fire prediction/POWER_Regional_Daily_20120101_20121231 (1).csv",</a:t>
            </a:r>
          </a:p>
          <a:p>
            <a:r>
              <a:rPr lang="en-IN" dirty="0"/>
              <a:t>  "/content/drive/MyDrive/forest fire prediction/POWER_Regional_Daily_20130101_20131231 (1).csv",</a:t>
            </a:r>
          </a:p>
          <a:p>
            <a:r>
              <a:rPr lang="en-IN" dirty="0"/>
              <a:t>  ]</a:t>
            </a:r>
          </a:p>
          <a:p>
            <a:r>
              <a:rPr lang="en-IN" dirty="0"/>
              <a:t>precip_files =[</a:t>
            </a:r>
          </a:p>
          <a:p>
            <a:r>
              <a:rPr lang="en-IN" dirty="0"/>
              <a:t>  "/content/drive/MyDrive/forest fire prediction/ POWER_Regional_Daily_20120101_20121231.csv",</a:t>
            </a:r>
          </a:p>
          <a:p>
            <a:r>
              <a:rPr lang="en-IN" dirty="0"/>
              <a:t>  "/content/drive/MyDrive/forest fire prediction/ POWER_Regional_Daily_20130101_20131231.csv",</a:t>
            </a:r>
          </a:p>
          <a:p>
            <a:r>
              <a:rPr lang="en-IN" dirty="0"/>
              <a:t> ]</a:t>
            </a:r>
            <a:endParaRPr lang="en-IN" b="1" dirty="0"/>
          </a:p>
        </p:txBody>
      </p:sp>
    </p:spTree>
    <p:extLst>
      <p:ext uri="{BB962C8B-B14F-4D97-AF65-F5344CB8AC3E}">
        <p14:creationId xmlns:p14="http://schemas.microsoft.com/office/powerpoint/2010/main" val="1178315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5054" y="529843"/>
            <a:ext cx="5318760" cy="701040"/>
          </a:xfrm>
          <a:prstGeom prst="rect">
            <a:avLst/>
          </a:prstGeom>
        </p:spPr>
        <p:txBody>
          <a:bodyPr vert="horz" wrap="square" lIns="0" tIns="16510" rIns="0" bIns="0" rtlCol="0">
            <a:spAutoFit/>
          </a:bodyPr>
          <a:lstStyle/>
          <a:p>
            <a:pPr marL="12700">
              <a:lnSpc>
                <a:spcPct val="100000"/>
              </a:lnSpc>
              <a:spcBef>
                <a:spcPts val="130"/>
              </a:spcBef>
            </a:pPr>
            <a:r>
              <a:rPr spc="-30" dirty="0"/>
              <a:t>IMPLEMENTATION</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a:t>
            </a:r>
            <a:r>
              <a:rPr spc="5" dirty="0"/>
              <a:t>-202</a:t>
            </a:r>
            <a:r>
              <a:rPr lang="en-IN" spc="5" dirty="0"/>
              <a:t>5</a:t>
            </a:r>
            <a:endParaRPr spc="5" dirty="0"/>
          </a:p>
        </p:txBody>
      </p:sp>
      <p:sp>
        <p:nvSpPr>
          <p:cNvPr id="5" name="object 5"/>
          <p:cNvSpPr txBox="1"/>
          <p:nvPr/>
        </p:nvSpPr>
        <p:spPr>
          <a:xfrm>
            <a:off x="4267200" y="6451049"/>
            <a:ext cx="9173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14</a:t>
            </a:fld>
            <a:endParaRPr dirty="0"/>
          </a:p>
        </p:txBody>
      </p:sp>
      <p:sp>
        <p:nvSpPr>
          <p:cNvPr id="9" name="Content Placeholder 8">
            <a:extLst>
              <a:ext uri="{FF2B5EF4-FFF2-40B4-BE49-F238E27FC236}">
                <a16:creationId xmlns:a16="http://schemas.microsoft.com/office/drawing/2014/main" id="{8264D240-774E-4E57-8C45-4BDB268C91C7}"/>
              </a:ext>
            </a:extLst>
          </p:cNvPr>
          <p:cNvSpPr txBox="1">
            <a:spLocks/>
          </p:cNvSpPr>
          <p:nvPr/>
        </p:nvSpPr>
        <p:spPr>
          <a:xfrm>
            <a:off x="609600" y="1397804"/>
            <a:ext cx="5303520" cy="505324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IN" sz="2400" b="1" kern="0" dirty="0">
                <a:solidFill>
                  <a:sysClr val="windowText" lastClr="000000"/>
                </a:solidFill>
              </a:rPr>
              <a:t>Phase 1: Data Collection</a:t>
            </a:r>
          </a:p>
          <a:p>
            <a:endParaRPr lang="en-US" sz="1100" kern="0" dirty="0">
              <a:solidFill>
                <a:sysClr val="windowText" lastClr="000000"/>
              </a:solidFill>
              <a:latin typeface="Times New Roman" panose="02020603050405020304" pitchFamily="18" charset="0"/>
              <a:cs typeface="Times New Roman" panose="02020603050405020304" pitchFamily="18" charset="0"/>
            </a:endParaRPr>
          </a:p>
          <a:p>
            <a:r>
              <a:rPr lang="en-US" sz="1400" kern="0" dirty="0">
                <a:solidFill>
                  <a:sysClr val="windowText" lastClr="000000"/>
                </a:solidFill>
                <a:latin typeface="Times New Roman" panose="02020603050405020304" pitchFamily="18" charset="0"/>
                <a:cs typeface="Times New Roman" panose="02020603050405020304" pitchFamily="18" charset="0"/>
              </a:rPr>
              <a:t>df_t2m = </a:t>
            </a:r>
            <a:r>
              <a:rPr lang="en-US" sz="1400" kern="0" dirty="0" err="1">
                <a:solidFill>
                  <a:sysClr val="windowText" lastClr="000000"/>
                </a:solidFill>
                <a:latin typeface="Times New Roman" panose="02020603050405020304" pitchFamily="18" charset="0"/>
                <a:cs typeface="Times New Roman" panose="02020603050405020304" pitchFamily="18" charset="0"/>
              </a:rPr>
              <a:t>clean_power_csv</a:t>
            </a:r>
            <a:r>
              <a:rPr lang="en-US" sz="1400" kern="0" dirty="0">
                <a:solidFill>
                  <a:sysClr val="windowText" lastClr="000000"/>
                </a:solidFill>
                <a:latin typeface="Times New Roman" panose="02020603050405020304" pitchFamily="18" charset="0"/>
                <a:cs typeface="Times New Roman" panose="02020603050405020304" pitchFamily="18" charset="0"/>
              </a:rPr>
              <a:t>(t2m_path, "T2M")</a:t>
            </a:r>
          </a:p>
          <a:p>
            <a:r>
              <a:rPr lang="en-US" sz="1400" kern="0" dirty="0">
                <a:solidFill>
                  <a:sysClr val="windowText" lastClr="000000"/>
                </a:solidFill>
                <a:latin typeface="Times New Roman" panose="02020603050405020304" pitchFamily="18" charset="0"/>
                <a:cs typeface="Times New Roman" panose="02020603050405020304" pitchFamily="18" charset="0"/>
              </a:rPr>
              <a:t>df_rh2m = </a:t>
            </a:r>
            <a:r>
              <a:rPr lang="en-US" sz="1400" kern="0" dirty="0" err="1">
                <a:solidFill>
                  <a:sysClr val="windowText" lastClr="000000"/>
                </a:solidFill>
                <a:latin typeface="Times New Roman" panose="02020603050405020304" pitchFamily="18" charset="0"/>
                <a:cs typeface="Times New Roman" panose="02020603050405020304" pitchFamily="18" charset="0"/>
              </a:rPr>
              <a:t>clean_power_csv</a:t>
            </a:r>
            <a:r>
              <a:rPr lang="en-US" sz="1400" kern="0" dirty="0">
                <a:solidFill>
                  <a:sysClr val="windowText" lastClr="000000"/>
                </a:solidFill>
                <a:latin typeface="Times New Roman" panose="02020603050405020304" pitchFamily="18" charset="0"/>
                <a:cs typeface="Times New Roman" panose="02020603050405020304" pitchFamily="18" charset="0"/>
              </a:rPr>
              <a:t>(rh2m_path, "RH2M")</a:t>
            </a:r>
          </a:p>
          <a:p>
            <a:r>
              <a:rPr lang="en-US" sz="1400" kern="0" dirty="0" err="1">
                <a:solidFill>
                  <a:sysClr val="windowText" lastClr="000000"/>
                </a:solidFill>
                <a:latin typeface="Times New Roman" panose="02020603050405020304" pitchFamily="18" charset="0"/>
                <a:cs typeface="Times New Roman" panose="02020603050405020304" pitchFamily="18" charset="0"/>
              </a:rPr>
              <a:t>df_prc</a:t>
            </a:r>
            <a:r>
              <a:rPr lang="en-US" sz="1400" kern="0" dirty="0">
                <a:solidFill>
                  <a:sysClr val="windowText" lastClr="000000"/>
                </a:solidFill>
                <a:latin typeface="Times New Roman" panose="02020603050405020304" pitchFamily="18" charset="0"/>
                <a:cs typeface="Times New Roman" panose="02020603050405020304" pitchFamily="18" charset="0"/>
              </a:rPr>
              <a:t> = </a:t>
            </a:r>
            <a:r>
              <a:rPr lang="en-US" sz="1400" kern="0" dirty="0" err="1">
                <a:solidFill>
                  <a:sysClr val="windowText" lastClr="000000"/>
                </a:solidFill>
                <a:latin typeface="Times New Roman" panose="02020603050405020304" pitchFamily="18" charset="0"/>
                <a:cs typeface="Times New Roman" panose="02020603050405020304" pitchFamily="18" charset="0"/>
              </a:rPr>
              <a:t>clean_power_csv</a:t>
            </a:r>
            <a:r>
              <a:rPr lang="en-US" sz="1400" kern="0" dirty="0">
                <a:solidFill>
                  <a:sysClr val="windowText" lastClr="000000"/>
                </a:solidFill>
                <a:latin typeface="Times New Roman" panose="02020603050405020304" pitchFamily="18" charset="0"/>
                <a:cs typeface="Times New Roman" panose="02020603050405020304" pitchFamily="18" charset="0"/>
              </a:rPr>
              <a:t>(</a:t>
            </a:r>
            <a:r>
              <a:rPr lang="en-US" sz="1400" kern="0" dirty="0" err="1">
                <a:solidFill>
                  <a:sysClr val="windowText" lastClr="000000"/>
                </a:solidFill>
                <a:latin typeface="Times New Roman" panose="02020603050405020304" pitchFamily="18" charset="0"/>
                <a:cs typeface="Times New Roman" panose="02020603050405020304" pitchFamily="18" charset="0"/>
              </a:rPr>
              <a:t>precip_path</a:t>
            </a:r>
            <a:r>
              <a:rPr lang="en-US" sz="1400" kern="0" dirty="0">
                <a:solidFill>
                  <a:sysClr val="windowText" lastClr="000000"/>
                </a:solidFill>
                <a:latin typeface="Times New Roman" panose="02020603050405020304" pitchFamily="18" charset="0"/>
                <a:cs typeface="Times New Roman" panose="02020603050405020304" pitchFamily="18" charset="0"/>
              </a:rPr>
              <a:t>, "PRECTOTCORR")</a:t>
            </a:r>
          </a:p>
          <a:p>
            <a:endParaRPr lang="en-US" sz="1400" kern="0" dirty="0">
              <a:solidFill>
                <a:sysClr val="windowText" lastClr="000000"/>
              </a:solidFill>
              <a:latin typeface="Times New Roman" panose="02020603050405020304" pitchFamily="18" charset="0"/>
              <a:cs typeface="Times New Roman" panose="02020603050405020304" pitchFamily="18" charset="0"/>
            </a:endParaRPr>
          </a:p>
          <a:p>
            <a:r>
              <a:rPr lang="en-US" sz="1400" kern="0" dirty="0">
                <a:solidFill>
                  <a:sysClr val="windowText" lastClr="000000"/>
                </a:solidFill>
                <a:latin typeface="Times New Roman" panose="02020603050405020304" pitchFamily="18" charset="0"/>
                <a:cs typeface="Times New Roman" panose="02020603050405020304" pitchFamily="18" charset="0"/>
              </a:rPr>
              <a:t>df = df_t2m.merge(df_rh2m, on="date").merge(</a:t>
            </a:r>
            <a:r>
              <a:rPr lang="en-US" sz="1400" kern="0" dirty="0" err="1">
                <a:solidFill>
                  <a:sysClr val="windowText" lastClr="000000"/>
                </a:solidFill>
                <a:latin typeface="Times New Roman" panose="02020603050405020304" pitchFamily="18" charset="0"/>
                <a:cs typeface="Times New Roman" panose="02020603050405020304" pitchFamily="18" charset="0"/>
              </a:rPr>
              <a:t>df_prc</a:t>
            </a:r>
            <a:r>
              <a:rPr lang="en-US" sz="1400" kern="0" dirty="0">
                <a:solidFill>
                  <a:sysClr val="windowText" lastClr="000000"/>
                </a:solidFill>
                <a:latin typeface="Times New Roman" panose="02020603050405020304" pitchFamily="18" charset="0"/>
                <a:cs typeface="Times New Roman" panose="02020603050405020304" pitchFamily="18" charset="0"/>
              </a:rPr>
              <a:t>, on="date")</a:t>
            </a:r>
          </a:p>
          <a:p>
            <a:r>
              <a:rPr lang="en-US" sz="1100" kern="0" dirty="0">
                <a:solidFill>
                  <a:sysClr val="windowText" lastClr="000000"/>
                </a:solidFill>
                <a:latin typeface="Times New Roman" panose="02020603050405020304" pitchFamily="18" charset="0"/>
                <a:cs typeface="Times New Roman" panose="02020603050405020304" pitchFamily="18" charset="0"/>
              </a:rPr>
              <a:t>                                                                               </a:t>
            </a:r>
          </a:p>
          <a:p>
            <a:r>
              <a:rPr lang="en-US" b="1" kern="0" dirty="0">
                <a:solidFill>
                  <a:sysClr val="windowText" lastClr="000000"/>
                </a:solidFill>
              </a:rPr>
              <a:t>Description:</a:t>
            </a:r>
            <a:br>
              <a:rPr lang="en-US" kern="0" dirty="0">
                <a:solidFill>
                  <a:sysClr val="windowText" lastClr="000000"/>
                </a:solidFill>
              </a:rPr>
            </a:br>
            <a:r>
              <a:rPr lang="en-IN" sz="1600" dirty="0"/>
              <a:t>Downloaded 2012–2025 NASA POWER meteorological data (Temperature, Humidity, Precipitation) and MODIS NDVI (MOD13Q1) satellite data.</a:t>
            </a:r>
            <a:br>
              <a:rPr lang="en-IN" sz="1600" dirty="0"/>
            </a:br>
            <a:r>
              <a:rPr lang="en-IN" sz="1600" dirty="0"/>
              <a:t>FIRMS fire-event datasets were used to label fire occurrences.</a:t>
            </a:r>
            <a:endParaRPr lang="en-US" sz="1400" kern="0" dirty="0">
              <a:solidFill>
                <a:sysClr val="windowText" lastClr="000000"/>
              </a:solidFill>
              <a:latin typeface="Times New Roman" panose="02020603050405020304" pitchFamily="18" charset="0"/>
              <a:cs typeface="Times New Roman" panose="02020603050405020304" pitchFamily="18" charset="0"/>
            </a:endParaRPr>
          </a:p>
          <a:p>
            <a:endParaRPr lang="en-IN" kern="0" dirty="0">
              <a:solidFill>
                <a:sysClr val="windowText" lastClr="000000"/>
              </a:solidFill>
            </a:endParaRPr>
          </a:p>
        </p:txBody>
      </p:sp>
      <p:sp>
        <p:nvSpPr>
          <p:cNvPr id="10" name="Content Placeholder 9">
            <a:extLst>
              <a:ext uri="{FF2B5EF4-FFF2-40B4-BE49-F238E27FC236}">
                <a16:creationId xmlns:a16="http://schemas.microsoft.com/office/drawing/2014/main" id="{68E9625D-59A2-4754-81A5-420AA11B4226}"/>
              </a:ext>
            </a:extLst>
          </p:cNvPr>
          <p:cNvSpPr txBox="1">
            <a:spLocks/>
          </p:cNvSpPr>
          <p:nvPr/>
        </p:nvSpPr>
        <p:spPr>
          <a:xfrm>
            <a:off x="5913120" y="1397804"/>
            <a:ext cx="5669280" cy="4930353"/>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IN" sz="2400" b="1" kern="0" dirty="0">
                <a:solidFill>
                  <a:sysClr val="windowText" lastClr="000000"/>
                </a:solidFill>
              </a:rPr>
              <a:t>Phase 2: Fire Event-</a:t>
            </a:r>
            <a:r>
              <a:rPr lang="en-IN" sz="2400" b="1" kern="0" dirty="0" err="1">
                <a:solidFill>
                  <a:sysClr val="windowText" lastClr="000000"/>
                </a:solidFill>
              </a:rPr>
              <a:t>Labeling</a:t>
            </a:r>
            <a:endParaRPr lang="en-IN" sz="2400" b="1" kern="0" dirty="0">
              <a:solidFill>
                <a:sysClr val="windowText" lastClr="000000"/>
              </a:solidFill>
            </a:endParaRPr>
          </a:p>
          <a:p>
            <a:endParaRPr lang="en-IN" sz="2400" b="1" kern="0" dirty="0">
              <a:solidFill>
                <a:sysClr val="windowText" lastClr="000000"/>
              </a:solidFill>
            </a:endParaRPr>
          </a:p>
          <a:p>
            <a:r>
              <a:rPr lang="en-IN" sz="1200" kern="0" dirty="0" err="1">
                <a:solidFill>
                  <a:sysClr val="windowText" lastClr="000000"/>
                </a:solidFill>
              </a:rPr>
              <a:t>fire_dates</a:t>
            </a:r>
            <a:r>
              <a:rPr lang="en-IN" sz="1200" kern="0" dirty="0">
                <a:solidFill>
                  <a:sysClr val="windowText" lastClr="000000"/>
                </a:solidFill>
              </a:rPr>
              <a:t> = </a:t>
            </a:r>
            <a:r>
              <a:rPr lang="en-IN" sz="1200" kern="0" dirty="0" err="1">
                <a:solidFill>
                  <a:sysClr val="windowText" lastClr="000000"/>
                </a:solidFill>
              </a:rPr>
              <a:t>pd.to_datetime</a:t>
            </a:r>
            <a:r>
              <a:rPr lang="en-IN" sz="1200" kern="0" dirty="0">
                <a:solidFill>
                  <a:sysClr val="windowText" lastClr="000000"/>
                </a:solidFill>
              </a:rPr>
              <a:t>(</a:t>
            </a:r>
            <a:r>
              <a:rPr lang="en-IN" sz="1200" kern="0" dirty="0" err="1">
                <a:solidFill>
                  <a:sysClr val="windowText" lastClr="000000"/>
                </a:solidFill>
              </a:rPr>
              <a:t>fire_df</a:t>
            </a:r>
            <a:r>
              <a:rPr lang="en-IN" sz="1200" kern="0" dirty="0">
                <a:solidFill>
                  <a:sysClr val="windowText" lastClr="000000"/>
                </a:solidFill>
              </a:rPr>
              <a:t>["</a:t>
            </a:r>
            <a:r>
              <a:rPr lang="en-IN" sz="1200" kern="0" dirty="0" err="1">
                <a:solidFill>
                  <a:sysClr val="windowText" lastClr="000000"/>
                </a:solidFill>
              </a:rPr>
              <a:t>acq_date</a:t>
            </a:r>
            <a:r>
              <a:rPr lang="en-IN" sz="1200" kern="0" dirty="0">
                <a:solidFill>
                  <a:sysClr val="windowText" lastClr="000000"/>
                </a:solidFill>
              </a:rPr>
              <a:t>"]).</a:t>
            </a:r>
            <a:r>
              <a:rPr lang="en-IN" sz="1200" kern="0" dirty="0" err="1">
                <a:solidFill>
                  <a:sysClr val="windowText" lastClr="000000"/>
                </a:solidFill>
              </a:rPr>
              <a:t>dt.date</a:t>
            </a:r>
            <a:endParaRPr lang="en-IN" sz="1200" kern="0" dirty="0">
              <a:solidFill>
                <a:sysClr val="windowText" lastClr="000000"/>
              </a:solidFill>
            </a:endParaRPr>
          </a:p>
          <a:p>
            <a:r>
              <a:rPr lang="en-IN" sz="1200" kern="0" dirty="0" err="1">
                <a:solidFill>
                  <a:sysClr val="windowText" lastClr="000000"/>
                </a:solidFill>
              </a:rPr>
              <a:t>all_power_df</a:t>
            </a:r>
            <a:r>
              <a:rPr lang="en-IN" sz="1200" kern="0" dirty="0">
                <a:solidFill>
                  <a:sysClr val="windowText" lastClr="000000"/>
                </a:solidFill>
              </a:rPr>
              <a:t>["</a:t>
            </a:r>
            <a:r>
              <a:rPr lang="en-IN" sz="1200" kern="0" dirty="0" err="1">
                <a:solidFill>
                  <a:sysClr val="windowText" lastClr="000000"/>
                </a:solidFill>
              </a:rPr>
              <a:t>fire_occurred</a:t>
            </a:r>
            <a:r>
              <a:rPr lang="en-IN" sz="1200" kern="0" dirty="0">
                <a:solidFill>
                  <a:sysClr val="windowText" lastClr="000000"/>
                </a:solidFill>
              </a:rPr>
              <a:t>"] = </a:t>
            </a:r>
            <a:r>
              <a:rPr lang="en-IN" sz="1200" kern="0" dirty="0" err="1">
                <a:solidFill>
                  <a:sysClr val="windowText" lastClr="000000"/>
                </a:solidFill>
              </a:rPr>
              <a:t>all_power_df</a:t>
            </a:r>
            <a:r>
              <a:rPr lang="en-IN" sz="1200" kern="0" dirty="0">
                <a:solidFill>
                  <a:sysClr val="windowText" lastClr="000000"/>
                </a:solidFill>
              </a:rPr>
              <a:t>["date"].</a:t>
            </a:r>
            <a:r>
              <a:rPr lang="en-IN" sz="1200" kern="0" dirty="0" err="1">
                <a:solidFill>
                  <a:sysClr val="windowText" lastClr="000000"/>
                </a:solidFill>
              </a:rPr>
              <a:t>dt.date.isin</a:t>
            </a:r>
            <a:r>
              <a:rPr lang="en-IN" sz="1200" kern="0" dirty="0">
                <a:solidFill>
                  <a:sysClr val="windowText" lastClr="000000"/>
                </a:solidFill>
              </a:rPr>
              <a:t>(</a:t>
            </a:r>
            <a:r>
              <a:rPr lang="en-IN" sz="1200" kern="0" dirty="0" err="1">
                <a:solidFill>
                  <a:sysClr val="windowText" lastClr="000000"/>
                </a:solidFill>
              </a:rPr>
              <a:t>fire_dates</a:t>
            </a:r>
            <a:r>
              <a:rPr lang="en-IN" sz="1200" kern="0" dirty="0">
                <a:solidFill>
                  <a:sysClr val="windowText" lastClr="000000"/>
                </a:solidFill>
              </a:rPr>
              <a:t>).</a:t>
            </a:r>
            <a:r>
              <a:rPr lang="en-IN" sz="1200" kern="0" dirty="0" err="1">
                <a:solidFill>
                  <a:sysClr val="windowText" lastClr="000000"/>
                </a:solidFill>
              </a:rPr>
              <a:t>astype</a:t>
            </a:r>
            <a:r>
              <a:rPr lang="en-IN" sz="1200" kern="0" dirty="0">
                <a:solidFill>
                  <a:sysClr val="windowText" lastClr="000000"/>
                </a:solidFill>
              </a:rPr>
              <a:t>(int)</a:t>
            </a:r>
          </a:p>
          <a:p>
            <a:endParaRPr lang="en-IN" sz="1100" kern="0" dirty="0">
              <a:solidFill>
                <a:sysClr val="windowText" lastClr="000000"/>
              </a:solidFill>
            </a:endParaRPr>
          </a:p>
          <a:p>
            <a:r>
              <a:rPr lang="en-US" sz="1600" b="1" dirty="0"/>
              <a:t>Description:</a:t>
            </a:r>
            <a:br>
              <a:rPr lang="en-US" sz="1600" dirty="0"/>
            </a:br>
            <a:r>
              <a:rPr lang="en-US" sz="1600" dirty="0"/>
              <a:t>FIRMS (NASA) fire archive and near-real-time datasets were used to mark whether a fire occurred on each date (binary label).</a:t>
            </a:r>
            <a:endParaRPr lang="en-US" sz="1600" kern="0" dirty="0">
              <a:solidFill>
                <a:sysClr val="windowText" lastClr="000000"/>
              </a:solidFill>
            </a:endParaRPr>
          </a:p>
          <a:p>
            <a:endParaRPr lang="en-IN" sz="1100" kern="0" dirty="0">
              <a:solidFill>
                <a:sysClr val="windowText" lastClr="000000"/>
              </a:solidFill>
            </a:endParaRPr>
          </a:p>
          <a:p>
            <a:endParaRPr lang="en-IN" sz="2400" b="1" kern="0" dirty="0">
              <a:solidFill>
                <a:sysClr val="windowText" lastClr="000000"/>
              </a:solidFill>
            </a:endParaRPr>
          </a:p>
          <a:p>
            <a:r>
              <a:rPr lang="en-US" sz="2400" b="1" kern="0" dirty="0">
                <a:solidFill>
                  <a:sysClr val="windowText" lastClr="000000"/>
                </a:solidFill>
              </a:rPr>
              <a:t>Phase 3:</a:t>
            </a:r>
            <a:r>
              <a:rPr lang="en-US" sz="2400" b="1" dirty="0"/>
              <a:t>NDVI Extraction from MODIS HDF</a:t>
            </a:r>
            <a:endParaRPr lang="en-IN" sz="2400" b="1" kern="0" dirty="0">
              <a:solidFill>
                <a:sysClr val="windowText" lastClr="000000"/>
              </a:solidFill>
            </a:endParaRPr>
          </a:p>
          <a:p>
            <a:r>
              <a:rPr lang="en-IN" sz="1400" kern="0" dirty="0">
                <a:solidFill>
                  <a:sysClr val="windowText" lastClr="000000"/>
                </a:solidFill>
              </a:rPr>
              <a:t>dataset = </a:t>
            </a:r>
            <a:r>
              <a:rPr lang="en-IN" sz="1400" kern="0" dirty="0" err="1">
                <a:solidFill>
                  <a:sysClr val="windowText" lastClr="000000"/>
                </a:solidFill>
              </a:rPr>
              <a:t>gdal.Open</a:t>
            </a:r>
            <a:r>
              <a:rPr lang="en-IN" sz="1400" kern="0" dirty="0">
                <a:solidFill>
                  <a:sysClr val="windowText" lastClr="000000"/>
                </a:solidFill>
              </a:rPr>
              <a:t>(</a:t>
            </a:r>
            <a:r>
              <a:rPr lang="en-IN" sz="1400" kern="0" dirty="0" err="1">
                <a:solidFill>
                  <a:sysClr val="windowText" lastClr="000000"/>
                </a:solidFill>
              </a:rPr>
              <a:t>hdf_file</a:t>
            </a:r>
            <a:r>
              <a:rPr lang="en-IN" sz="1400" kern="0" dirty="0">
                <a:solidFill>
                  <a:sysClr val="windowText" lastClr="000000"/>
                </a:solidFill>
              </a:rPr>
              <a:t>)</a:t>
            </a:r>
          </a:p>
          <a:p>
            <a:r>
              <a:rPr lang="en-IN" sz="1400" kern="0" dirty="0" err="1">
                <a:solidFill>
                  <a:sysClr val="windowText" lastClr="000000"/>
                </a:solidFill>
              </a:rPr>
              <a:t>ndvi</a:t>
            </a:r>
            <a:r>
              <a:rPr lang="en-IN" sz="1400" kern="0" dirty="0">
                <a:solidFill>
                  <a:sysClr val="windowText" lastClr="000000"/>
                </a:solidFill>
              </a:rPr>
              <a:t> = </a:t>
            </a:r>
            <a:r>
              <a:rPr lang="en-IN" sz="1400" kern="0" dirty="0" err="1">
                <a:solidFill>
                  <a:sysClr val="windowText" lastClr="000000"/>
                </a:solidFill>
              </a:rPr>
              <a:t>gdal.Open</a:t>
            </a:r>
            <a:r>
              <a:rPr lang="en-IN" sz="1400" kern="0" dirty="0">
                <a:solidFill>
                  <a:sysClr val="windowText" lastClr="000000"/>
                </a:solidFill>
              </a:rPr>
              <a:t>(</a:t>
            </a:r>
            <a:r>
              <a:rPr lang="en-IN" sz="1400" kern="0" dirty="0" err="1">
                <a:solidFill>
                  <a:sysClr val="windowText" lastClr="000000"/>
                </a:solidFill>
              </a:rPr>
              <a:t>dataset.GetSubDatasets</a:t>
            </a:r>
            <a:r>
              <a:rPr lang="en-IN" sz="1400" kern="0" dirty="0">
                <a:solidFill>
                  <a:sysClr val="windowText" lastClr="000000"/>
                </a:solidFill>
              </a:rPr>
              <a:t>()[0][0]).</a:t>
            </a:r>
            <a:r>
              <a:rPr lang="en-IN" sz="1400" kern="0" dirty="0" err="1">
                <a:solidFill>
                  <a:sysClr val="windowText" lastClr="000000"/>
                </a:solidFill>
              </a:rPr>
              <a:t>ReadAsArray</a:t>
            </a:r>
            <a:r>
              <a:rPr lang="en-IN" sz="1400" kern="0" dirty="0">
                <a:solidFill>
                  <a:sysClr val="windowText" lastClr="000000"/>
                </a:solidFill>
              </a:rPr>
              <a:t>()</a:t>
            </a:r>
          </a:p>
          <a:p>
            <a:r>
              <a:rPr lang="en-IN" sz="1400" kern="0" dirty="0" err="1">
                <a:solidFill>
                  <a:sysClr val="windowText" lastClr="000000"/>
                </a:solidFill>
              </a:rPr>
              <a:t>ndvi</a:t>
            </a:r>
            <a:r>
              <a:rPr lang="en-IN" sz="1400" kern="0" dirty="0">
                <a:solidFill>
                  <a:sysClr val="windowText" lastClr="000000"/>
                </a:solidFill>
              </a:rPr>
              <a:t>[</a:t>
            </a:r>
            <a:r>
              <a:rPr lang="en-IN" sz="1400" kern="0" dirty="0" err="1">
                <a:solidFill>
                  <a:sysClr val="windowText" lastClr="000000"/>
                </a:solidFill>
              </a:rPr>
              <a:t>ndvi</a:t>
            </a:r>
            <a:r>
              <a:rPr lang="en-IN" sz="1400" kern="0" dirty="0">
                <a:solidFill>
                  <a:sysClr val="windowText" lastClr="000000"/>
                </a:solidFill>
              </a:rPr>
              <a:t> == -3000] = </a:t>
            </a:r>
            <a:r>
              <a:rPr lang="en-IN" sz="1400" kern="0" dirty="0" err="1">
                <a:solidFill>
                  <a:sysClr val="windowText" lastClr="000000"/>
                </a:solidFill>
              </a:rPr>
              <a:t>np.nan</a:t>
            </a:r>
            <a:endParaRPr lang="en-IN" sz="1400" kern="0" dirty="0">
              <a:solidFill>
                <a:sysClr val="windowText" lastClr="000000"/>
              </a:solidFill>
            </a:endParaRPr>
          </a:p>
          <a:p>
            <a:r>
              <a:rPr lang="en-IN" sz="1400" kern="0" dirty="0" err="1">
                <a:solidFill>
                  <a:sysClr val="windowText" lastClr="000000"/>
                </a:solidFill>
              </a:rPr>
              <a:t>ndvi_mean</a:t>
            </a:r>
            <a:r>
              <a:rPr lang="en-IN" sz="1400" kern="0" dirty="0">
                <a:solidFill>
                  <a:sysClr val="windowText" lastClr="000000"/>
                </a:solidFill>
              </a:rPr>
              <a:t> = </a:t>
            </a:r>
            <a:r>
              <a:rPr lang="en-IN" sz="1400" kern="0" dirty="0" err="1">
                <a:solidFill>
                  <a:sysClr val="windowText" lastClr="000000"/>
                </a:solidFill>
              </a:rPr>
              <a:t>np.nanmean</a:t>
            </a:r>
            <a:r>
              <a:rPr lang="en-IN" sz="1400" kern="0" dirty="0">
                <a:solidFill>
                  <a:sysClr val="windowText" lastClr="000000"/>
                </a:solidFill>
              </a:rPr>
              <a:t>(</a:t>
            </a:r>
            <a:r>
              <a:rPr lang="en-IN" sz="1400" kern="0" dirty="0" err="1">
                <a:solidFill>
                  <a:sysClr val="windowText" lastClr="000000"/>
                </a:solidFill>
              </a:rPr>
              <a:t>ndvi</a:t>
            </a:r>
            <a:r>
              <a:rPr lang="en-IN" sz="1400" kern="0" dirty="0">
                <a:solidFill>
                  <a:sysClr val="windowText" lastClr="000000"/>
                </a:solidFill>
              </a:rPr>
              <a:t> * 0.0001)</a:t>
            </a:r>
          </a:p>
          <a:p>
            <a:r>
              <a:rPr lang="en-US" sz="1200" b="1" dirty="0"/>
              <a:t>Description:</a:t>
            </a:r>
            <a:br>
              <a:rPr lang="en-US" sz="1200" dirty="0"/>
            </a:br>
            <a:r>
              <a:rPr lang="en-US" sz="1200" dirty="0"/>
              <a:t>Extracted NDVI from MOD13Q1 HDF layers using GDAL, applied scaling factor (0.0001), and computed daily NDVI snapshots</a:t>
            </a:r>
            <a:endParaRPr lang="en-IN" sz="1200" kern="0" dirty="0">
              <a:solidFill>
                <a:sysClr val="windowText" lastClr="000000"/>
              </a:solidFill>
            </a:endParaRPr>
          </a:p>
          <a:p>
            <a:endParaRPr lang="en-IN" sz="1200" kern="0" dirty="0">
              <a:solidFill>
                <a:sysClr val="windowText" lastClr="000000"/>
              </a:solidFill>
            </a:endParaRPr>
          </a:p>
          <a:p>
            <a:endParaRPr lang="en-IN" sz="2400" b="1" kern="0" dirty="0">
              <a:solidFill>
                <a:sysClr val="windowText" lastClr="000000"/>
              </a:solidFill>
            </a:endParaRPr>
          </a:p>
          <a:p>
            <a:endParaRPr lang="en-IN" sz="2400" b="1" kern="0" dirty="0">
              <a:solidFill>
                <a:sysClr val="windowText" lastClr="000000"/>
              </a:solidFill>
            </a:endParaRPr>
          </a:p>
          <a:p>
            <a:endParaRPr lang="en-IN" sz="2400" b="1" kern="0" dirty="0">
              <a:solidFill>
                <a:sysClr val="windowText" lastClr="000000"/>
              </a:solidFill>
            </a:endParaRPr>
          </a:p>
          <a:p>
            <a:endParaRPr lang="en-IN" sz="2400" b="1" kern="0" dirty="0">
              <a:solidFill>
                <a:sysClr val="windowText" lastClr="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0A267D-107D-4F8D-8EAE-0CC2D71B9274}"/>
              </a:ext>
            </a:extLst>
          </p:cNvPr>
          <p:cNvSpPr>
            <a:spLocks noGrp="1"/>
          </p:cNvSpPr>
          <p:nvPr>
            <p:ph type="title"/>
          </p:nvPr>
        </p:nvSpPr>
        <p:spPr>
          <a:xfrm>
            <a:off x="2806699" y="529843"/>
            <a:ext cx="6578600" cy="701040"/>
          </a:xfrm>
        </p:spPr>
        <p:txBody>
          <a:bodyPr/>
          <a:lstStyle/>
          <a:p>
            <a:pPr algn="ctr"/>
            <a:r>
              <a:rPr lang="en-IN" dirty="0"/>
              <a:t>IMPLEMENTATION</a:t>
            </a:r>
          </a:p>
        </p:txBody>
      </p:sp>
      <p:sp>
        <p:nvSpPr>
          <p:cNvPr id="5" name="Content Placeholder 2">
            <a:extLst>
              <a:ext uri="{FF2B5EF4-FFF2-40B4-BE49-F238E27FC236}">
                <a16:creationId xmlns:a16="http://schemas.microsoft.com/office/drawing/2014/main" id="{1237C142-06B4-4447-8145-83D2DD853F81}"/>
              </a:ext>
            </a:extLst>
          </p:cNvPr>
          <p:cNvSpPr txBox="1">
            <a:spLocks/>
          </p:cNvSpPr>
          <p:nvPr/>
        </p:nvSpPr>
        <p:spPr>
          <a:xfrm>
            <a:off x="609600" y="1447800"/>
            <a:ext cx="5303520" cy="5278368"/>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IN" sz="2400" b="1" kern="0" dirty="0">
                <a:solidFill>
                  <a:sysClr val="windowText" lastClr="000000"/>
                </a:solidFill>
              </a:rPr>
              <a:t>Phase 4: Feature Engineering</a:t>
            </a:r>
          </a:p>
          <a:p>
            <a:endParaRPr lang="en-IN" sz="2400" b="1" kern="0" dirty="0">
              <a:solidFill>
                <a:sysClr val="windowText" lastClr="000000"/>
              </a:solidFill>
            </a:endParaRPr>
          </a:p>
          <a:p>
            <a:r>
              <a:rPr lang="en-US" sz="1200" kern="0" dirty="0">
                <a:solidFill>
                  <a:sysClr val="windowText" lastClr="000000"/>
                </a:solidFill>
              </a:rPr>
              <a:t>for col in ["T2M", "RH2M"]:</a:t>
            </a:r>
          </a:p>
          <a:p>
            <a:r>
              <a:rPr lang="en-US" sz="1200" kern="0" dirty="0">
                <a:solidFill>
                  <a:sysClr val="windowText" lastClr="000000"/>
                </a:solidFill>
              </a:rPr>
              <a:t>    for lag in range(1, 8):</a:t>
            </a:r>
          </a:p>
          <a:p>
            <a:r>
              <a:rPr lang="en-US" sz="1200" kern="0" dirty="0">
                <a:solidFill>
                  <a:sysClr val="windowText" lastClr="000000"/>
                </a:solidFill>
              </a:rPr>
              <a:t>        all_power_df[f"{col}_lag_{lag}"] = all_power_df[col].shift(lag)</a:t>
            </a:r>
          </a:p>
          <a:p>
            <a:endParaRPr lang="en-US" sz="1200" kern="0" dirty="0">
              <a:solidFill>
                <a:sysClr val="windowText" lastClr="000000"/>
              </a:solidFill>
            </a:endParaRPr>
          </a:p>
          <a:p>
            <a:r>
              <a:rPr lang="en-US" sz="1200" kern="0" dirty="0">
                <a:solidFill>
                  <a:sysClr val="windowText" lastClr="000000"/>
                </a:solidFill>
              </a:rPr>
              <a:t>all_power_df["month"] = all_power_df["date"].dt.month</a:t>
            </a:r>
          </a:p>
          <a:p>
            <a:r>
              <a:rPr lang="en-US" sz="1200" kern="0" dirty="0">
                <a:solidFill>
                  <a:sysClr val="windowText" lastClr="000000"/>
                </a:solidFill>
              </a:rPr>
              <a:t>all_power_df["season"] = all_power_df["month"].map({...})</a:t>
            </a:r>
          </a:p>
          <a:p>
            <a:endParaRPr lang="en-IN" sz="1100" kern="0" dirty="0">
              <a:solidFill>
                <a:sysClr val="windowText" lastClr="000000"/>
              </a:solidFill>
            </a:endParaRPr>
          </a:p>
          <a:p>
            <a:r>
              <a:rPr lang="en-US" sz="1600" b="1" dirty="0"/>
              <a:t>Description:</a:t>
            </a:r>
            <a:br>
              <a:rPr lang="en-US" sz="1600" dirty="0"/>
            </a:br>
            <a:r>
              <a:rPr lang="en-US" sz="1600" dirty="0"/>
              <a:t>Added lag values (1–7 days) for temperature and humidity.</a:t>
            </a:r>
            <a:br>
              <a:rPr lang="en-US" sz="1600" dirty="0"/>
            </a:br>
            <a:r>
              <a:rPr lang="en-US" sz="1600" dirty="0"/>
              <a:t>Generated month, day-of-year, and season features.</a:t>
            </a:r>
            <a:endParaRPr lang="en-US" sz="1600" kern="0" dirty="0">
              <a:solidFill>
                <a:sysClr val="windowText" lastClr="000000"/>
              </a:solidFill>
            </a:endParaRPr>
          </a:p>
          <a:p>
            <a:r>
              <a:rPr lang="en-US" sz="1100" kern="0" dirty="0">
                <a:solidFill>
                  <a:sysClr val="windowText" lastClr="000000"/>
                </a:solidFill>
              </a:rPr>
              <a:t> </a:t>
            </a:r>
          </a:p>
          <a:p>
            <a:r>
              <a:rPr lang="en-US" sz="2000" b="1" dirty="0"/>
              <a:t> </a:t>
            </a:r>
            <a:endParaRPr lang="en-IN" sz="1400" kern="0" dirty="0">
              <a:solidFill>
                <a:sysClr val="windowText" lastClr="000000"/>
              </a:solidFill>
            </a:endParaRPr>
          </a:p>
        </p:txBody>
      </p:sp>
      <p:sp>
        <p:nvSpPr>
          <p:cNvPr id="6" name="Content Placeholder 3">
            <a:extLst>
              <a:ext uri="{FF2B5EF4-FFF2-40B4-BE49-F238E27FC236}">
                <a16:creationId xmlns:a16="http://schemas.microsoft.com/office/drawing/2014/main" id="{3FADDB75-1D34-403F-8DCB-4DA392A56D0F}"/>
              </a:ext>
            </a:extLst>
          </p:cNvPr>
          <p:cNvSpPr txBox="1">
            <a:spLocks/>
          </p:cNvSpPr>
          <p:nvPr/>
        </p:nvSpPr>
        <p:spPr>
          <a:xfrm>
            <a:off x="6278880" y="1447800"/>
            <a:ext cx="5303520" cy="511552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b="1" kern="0" dirty="0">
                <a:solidFill>
                  <a:sysClr val="windowText" lastClr="000000"/>
                </a:solidFill>
              </a:rPr>
              <a:t> </a:t>
            </a:r>
            <a:endParaRPr lang="en-IN" sz="1100" kern="0" dirty="0">
              <a:solidFill>
                <a:sysClr val="windowText" lastClr="000000"/>
              </a:solidFill>
            </a:endParaRPr>
          </a:p>
          <a:p>
            <a:endParaRPr lang="en-IN" sz="2000" b="1" kern="0" dirty="0">
              <a:solidFill>
                <a:sysClr val="windowText" lastClr="000000"/>
              </a:solidFill>
            </a:endParaRPr>
          </a:p>
          <a:p>
            <a:endParaRPr lang="en-IN" sz="2400" b="1" kern="0" dirty="0">
              <a:solidFill>
                <a:sysClr val="windowText" lastClr="000000"/>
              </a:solidFill>
            </a:endParaRPr>
          </a:p>
        </p:txBody>
      </p:sp>
      <p:sp>
        <p:nvSpPr>
          <p:cNvPr id="3" name="Rectangle 2">
            <a:extLst>
              <a:ext uri="{FF2B5EF4-FFF2-40B4-BE49-F238E27FC236}">
                <a16:creationId xmlns:a16="http://schemas.microsoft.com/office/drawing/2014/main" id="{C8BECD09-92C6-483F-A3B9-E1A6791E3691}"/>
              </a:ext>
            </a:extLst>
          </p:cNvPr>
          <p:cNvSpPr/>
          <p:nvPr/>
        </p:nvSpPr>
        <p:spPr>
          <a:xfrm>
            <a:off x="5882640" y="1622740"/>
            <a:ext cx="6096000" cy="2369880"/>
          </a:xfrm>
          <a:prstGeom prst="rect">
            <a:avLst/>
          </a:prstGeom>
        </p:spPr>
        <p:txBody>
          <a:bodyPr>
            <a:spAutoFit/>
          </a:bodyPr>
          <a:lstStyle/>
          <a:p>
            <a:r>
              <a:rPr lang="en-US" sz="2000" b="1" dirty="0"/>
              <a:t>Phase 5: Handling Class Imbalance (SMOTE)</a:t>
            </a:r>
            <a:endParaRPr lang="en-US" sz="2000" b="1" kern="0" dirty="0">
              <a:solidFill>
                <a:sysClr val="windowText" lastClr="000000"/>
              </a:solidFill>
            </a:endParaRPr>
          </a:p>
          <a:p>
            <a:r>
              <a:rPr lang="en-US" kern="0" dirty="0">
                <a:solidFill>
                  <a:sysClr val="windowText" lastClr="000000"/>
                </a:solidFill>
              </a:rPr>
              <a:t>sm = SMOTE(sampling_strategy=0.5, random_state=42)</a:t>
            </a:r>
          </a:p>
          <a:p>
            <a:r>
              <a:rPr lang="en-US" kern="0" dirty="0">
                <a:solidFill>
                  <a:sysClr val="windowText" lastClr="000000"/>
                </a:solidFill>
              </a:rPr>
              <a:t>X_res, y_res = sm.fit_resample(X, y)</a:t>
            </a:r>
          </a:p>
          <a:p>
            <a:endParaRPr lang="en-US" sz="1600" kern="0" dirty="0">
              <a:solidFill>
                <a:sysClr val="windowText" lastClr="000000"/>
              </a:solidFill>
            </a:endParaRPr>
          </a:p>
          <a:p>
            <a:r>
              <a:rPr lang="en-US" b="1" dirty="0"/>
              <a:t>Description:</a:t>
            </a:r>
            <a:br>
              <a:rPr lang="en-US" dirty="0"/>
            </a:br>
            <a:r>
              <a:rPr lang="en-US" dirty="0"/>
              <a:t>• Wildfire events are extremely rare.</a:t>
            </a:r>
            <a:br>
              <a:rPr lang="en-US" dirty="0"/>
            </a:br>
            <a:r>
              <a:rPr lang="en-US" dirty="0"/>
              <a:t>• SMOTE was used to synthetically oversample minority (fire) class.</a:t>
            </a:r>
            <a:endParaRPr lang="en-IN" kern="0" dirty="0">
              <a:solidFill>
                <a:sysClr val="windowText" lastClr="000000"/>
              </a:solidFill>
            </a:endParaRPr>
          </a:p>
        </p:txBody>
      </p:sp>
    </p:spTree>
    <p:extLst>
      <p:ext uri="{BB962C8B-B14F-4D97-AF65-F5344CB8AC3E}">
        <p14:creationId xmlns:p14="http://schemas.microsoft.com/office/powerpoint/2010/main" val="3867435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F5C1568-B23F-468E-9C30-627D0DB12B9C}"/>
              </a:ext>
            </a:extLst>
          </p:cNvPr>
          <p:cNvSpPr>
            <a:spLocks noGrp="1"/>
          </p:cNvSpPr>
          <p:nvPr>
            <p:ph type="title"/>
          </p:nvPr>
        </p:nvSpPr>
        <p:spPr>
          <a:xfrm>
            <a:off x="2806699" y="529843"/>
            <a:ext cx="6578600" cy="701040"/>
          </a:xfrm>
        </p:spPr>
        <p:txBody>
          <a:bodyPr/>
          <a:lstStyle/>
          <a:p>
            <a:pPr algn="ctr"/>
            <a:r>
              <a:rPr lang="en-IN" dirty="0"/>
              <a:t>IMPLEMENTATION</a:t>
            </a:r>
          </a:p>
        </p:txBody>
      </p:sp>
      <p:sp>
        <p:nvSpPr>
          <p:cNvPr id="5" name="Content Placeholder 2">
            <a:extLst>
              <a:ext uri="{FF2B5EF4-FFF2-40B4-BE49-F238E27FC236}">
                <a16:creationId xmlns:a16="http://schemas.microsoft.com/office/drawing/2014/main" id="{7812DE82-3042-43BB-8E71-C919FE194D59}"/>
              </a:ext>
            </a:extLst>
          </p:cNvPr>
          <p:cNvSpPr txBox="1">
            <a:spLocks/>
          </p:cNvSpPr>
          <p:nvPr/>
        </p:nvSpPr>
        <p:spPr>
          <a:xfrm>
            <a:off x="6096000" y="1447800"/>
            <a:ext cx="6014048" cy="515912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dirty="0"/>
              <a:t>Phase 7: Model Training (Stacked Ensemble)</a:t>
            </a:r>
          </a:p>
          <a:p>
            <a:r>
              <a:rPr lang="en-IN" sz="1600" kern="0" dirty="0">
                <a:solidFill>
                  <a:sysClr val="windowText" lastClr="000000"/>
                </a:solidFill>
              </a:rPr>
              <a:t>base = [</a:t>
            </a:r>
          </a:p>
          <a:p>
            <a:r>
              <a:rPr lang="en-IN" sz="1600" kern="0" dirty="0">
                <a:solidFill>
                  <a:sysClr val="windowText" lastClr="000000"/>
                </a:solidFill>
              </a:rPr>
              <a:t> ('rf', </a:t>
            </a:r>
            <a:r>
              <a:rPr lang="en-IN" sz="1600" kern="0" dirty="0" err="1">
                <a:solidFill>
                  <a:sysClr val="windowText" lastClr="000000"/>
                </a:solidFill>
              </a:rPr>
              <a:t>RandomForestClassifier</a:t>
            </a:r>
            <a:r>
              <a:rPr lang="en-IN" sz="1600" kern="0" dirty="0">
                <a:solidFill>
                  <a:sysClr val="windowText" lastClr="000000"/>
                </a:solidFill>
              </a:rPr>
              <a:t>(</a:t>
            </a:r>
            <a:r>
              <a:rPr lang="en-IN" sz="1600" kern="0" dirty="0" err="1">
                <a:solidFill>
                  <a:sysClr val="windowText" lastClr="000000"/>
                </a:solidFill>
              </a:rPr>
              <a:t>n_estimators</a:t>
            </a:r>
            <a:r>
              <a:rPr lang="en-IN" sz="1600" kern="0" dirty="0">
                <a:solidFill>
                  <a:sysClr val="windowText" lastClr="000000"/>
                </a:solidFill>
              </a:rPr>
              <a:t>=20, </a:t>
            </a:r>
            <a:r>
              <a:rPr lang="en-IN" sz="1600" kern="0" dirty="0" err="1">
                <a:solidFill>
                  <a:sysClr val="windowText" lastClr="000000"/>
                </a:solidFill>
              </a:rPr>
              <a:t>max_depth</a:t>
            </a:r>
            <a:r>
              <a:rPr lang="en-IN" sz="1600" kern="0" dirty="0">
                <a:solidFill>
                  <a:sysClr val="windowText" lastClr="000000"/>
                </a:solidFill>
              </a:rPr>
              <a:t>=5)),</a:t>
            </a:r>
          </a:p>
          <a:p>
            <a:r>
              <a:rPr lang="en-IN" sz="1600" kern="0" dirty="0">
                <a:solidFill>
                  <a:sysClr val="windowText" lastClr="000000"/>
                </a:solidFill>
              </a:rPr>
              <a:t> ('</a:t>
            </a:r>
            <a:r>
              <a:rPr lang="en-IN" sz="1600" kern="0" dirty="0" err="1">
                <a:solidFill>
                  <a:sysClr val="windowText" lastClr="000000"/>
                </a:solidFill>
              </a:rPr>
              <a:t>gb</a:t>
            </a:r>
            <a:r>
              <a:rPr lang="en-IN" sz="1600" kern="0" dirty="0">
                <a:solidFill>
                  <a:sysClr val="windowText" lastClr="000000"/>
                </a:solidFill>
              </a:rPr>
              <a:t>', </a:t>
            </a:r>
            <a:r>
              <a:rPr lang="en-IN" sz="1600" kern="0" dirty="0" err="1">
                <a:solidFill>
                  <a:sysClr val="windowText" lastClr="000000"/>
                </a:solidFill>
              </a:rPr>
              <a:t>GradientBoostingClassifier</a:t>
            </a:r>
            <a:r>
              <a:rPr lang="en-IN" sz="1600" kern="0" dirty="0">
                <a:solidFill>
                  <a:sysClr val="windowText" lastClr="000000"/>
                </a:solidFill>
              </a:rPr>
              <a:t>(</a:t>
            </a:r>
            <a:r>
              <a:rPr lang="en-IN" sz="1600" kern="0" dirty="0" err="1">
                <a:solidFill>
                  <a:sysClr val="windowText" lastClr="000000"/>
                </a:solidFill>
              </a:rPr>
              <a:t>n_estimators</a:t>
            </a:r>
            <a:r>
              <a:rPr lang="en-IN" sz="1600" kern="0" dirty="0">
                <a:solidFill>
                  <a:sysClr val="windowText" lastClr="000000"/>
                </a:solidFill>
              </a:rPr>
              <a:t>=20)),</a:t>
            </a:r>
          </a:p>
          <a:p>
            <a:r>
              <a:rPr lang="en-IN" sz="1600" kern="0" dirty="0">
                <a:solidFill>
                  <a:sysClr val="windowText" lastClr="000000"/>
                </a:solidFill>
              </a:rPr>
              <a:t> ('</a:t>
            </a:r>
            <a:r>
              <a:rPr lang="en-IN" sz="1600" kern="0" dirty="0" err="1">
                <a:solidFill>
                  <a:sysClr val="windowText" lastClr="000000"/>
                </a:solidFill>
              </a:rPr>
              <a:t>nb</a:t>
            </a:r>
            <a:r>
              <a:rPr lang="en-IN" sz="1600" kern="0" dirty="0">
                <a:solidFill>
                  <a:sysClr val="windowText" lastClr="000000"/>
                </a:solidFill>
              </a:rPr>
              <a:t>', </a:t>
            </a:r>
            <a:r>
              <a:rPr lang="en-IN" sz="1600" kern="0" dirty="0" err="1">
                <a:solidFill>
                  <a:sysClr val="windowText" lastClr="000000"/>
                </a:solidFill>
              </a:rPr>
              <a:t>GaussianNB</a:t>
            </a:r>
            <a:r>
              <a:rPr lang="en-IN" sz="1600" kern="0" dirty="0">
                <a:solidFill>
                  <a:sysClr val="windowText" lastClr="000000"/>
                </a:solidFill>
              </a:rPr>
              <a:t>())</a:t>
            </a:r>
          </a:p>
          <a:p>
            <a:r>
              <a:rPr lang="en-IN" sz="1600" kern="0" dirty="0">
                <a:solidFill>
                  <a:sysClr val="windowText" lastClr="000000"/>
                </a:solidFill>
              </a:rPr>
              <a:t>]</a:t>
            </a:r>
          </a:p>
          <a:p>
            <a:r>
              <a:rPr lang="en-IN" sz="1600" kern="0" dirty="0" err="1">
                <a:solidFill>
                  <a:sysClr val="windowText" lastClr="000000"/>
                </a:solidFill>
              </a:rPr>
              <a:t>stack_model</a:t>
            </a:r>
            <a:r>
              <a:rPr lang="en-IN" sz="1600" kern="0" dirty="0">
                <a:solidFill>
                  <a:sysClr val="windowText" lastClr="000000"/>
                </a:solidFill>
              </a:rPr>
              <a:t> = </a:t>
            </a:r>
            <a:r>
              <a:rPr lang="en-IN" sz="1600" kern="0" dirty="0" err="1">
                <a:solidFill>
                  <a:sysClr val="windowText" lastClr="000000"/>
                </a:solidFill>
              </a:rPr>
              <a:t>StackingClassifier</a:t>
            </a:r>
            <a:r>
              <a:rPr lang="en-IN" sz="1600" kern="0" dirty="0">
                <a:solidFill>
                  <a:sysClr val="windowText" lastClr="000000"/>
                </a:solidFill>
              </a:rPr>
              <a:t>(</a:t>
            </a:r>
          </a:p>
          <a:p>
            <a:r>
              <a:rPr lang="en-IN" sz="1600" kern="0" dirty="0">
                <a:solidFill>
                  <a:sysClr val="windowText" lastClr="000000"/>
                </a:solidFill>
              </a:rPr>
              <a:t>    estimators=base,</a:t>
            </a:r>
          </a:p>
          <a:p>
            <a:r>
              <a:rPr lang="en-IN" sz="1600" kern="0" dirty="0">
                <a:solidFill>
                  <a:sysClr val="windowText" lastClr="000000"/>
                </a:solidFill>
              </a:rPr>
              <a:t>    </a:t>
            </a:r>
            <a:r>
              <a:rPr lang="en-IN" sz="1600" kern="0" dirty="0" err="1">
                <a:solidFill>
                  <a:sysClr val="windowText" lastClr="000000"/>
                </a:solidFill>
              </a:rPr>
              <a:t>final_estimator</a:t>
            </a:r>
            <a:r>
              <a:rPr lang="en-IN" sz="1600" kern="0" dirty="0">
                <a:solidFill>
                  <a:sysClr val="windowText" lastClr="000000"/>
                </a:solidFill>
              </a:rPr>
              <a:t>=</a:t>
            </a:r>
            <a:r>
              <a:rPr lang="en-IN" sz="1600" kern="0" dirty="0" err="1">
                <a:solidFill>
                  <a:sysClr val="windowText" lastClr="000000"/>
                </a:solidFill>
              </a:rPr>
              <a:t>LogisticRegression</a:t>
            </a:r>
            <a:r>
              <a:rPr lang="en-IN" sz="1600" kern="0" dirty="0">
                <a:solidFill>
                  <a:sysClr val="windowText" lastClr="000000"/>
                </a:solidFill>
              </a:rPr>
              <a:t>(</a:t>
            </a:r>
            <a:r>
              <a:rPr lang="en-IN" sz="1600" kern="0" dirty="0" err="1">
                <a:solidFill>
                  <a:sysClr val="windowText" lastClr="000000"/>
                </a:solidFill>
              </a:rPr>
              <a:t>max_iter</a:t>
            </a:r>
            <a:r>
              <a:rPr lang="en-IN" sz="1600" kern="0" dirty="0">
                <a:solidFill>
                  <a:sysClr val="windowText" lastClr="000000"/>
                </a:solidFill>
              </a:rPr>
              <a:t>=500),</a:t>
            </a:r>
          </a:p>
          <a:p>
            <a:r>
              <a:rPr lang="en-IN" sz="1600" kern="0" dirty="0">
                <a:solidFill>
                  <a:sysClr val="windowText" lastClr="000000"/>
                </a:solidFill>
              </a:rPr>
              <a:t>    cv=3</a:t>
            </a:r>
          </a:p>
          <a:p>
            <a:r>
              <a:rPr lang="en-IN" sz="1600" kern="0" dirty="0">
                <a:solidFill>
                  <a:sysClr val="windowText" lastClr="000000"/>
                </a:solidFill>
              </a:rPr>
              <a:t>)</a:t>
            </a:r>
          </a:p>
          <a:p>
            <a:r>
              <a:rPr lang="en-IN" sz="1600" kern="0" dirty="0" err="1">
                <a:solidFill>
                  <a:sysClr val="windowText" lastClr="000000"/>
                </a:solidFill>
              </a:rPr>
              <a:t>stack_model.fit</a:t>
            </a:r>
            <a:r>
              <a:rPr lang="en-IN" sz="1600" kern="0" dirty="0">
                <a:solidFill>
                  <a:sysClr val="windowText" lastClr="000000"/>
                </a:solidFill>
              </a:rPr>
              <a:t>(</a:t>
            </a:r>
            <a:r>
              <a:rPr lang="en-IN" sz="1600" kern="0" dirty="0" err="1">
                <a:solidFill>
                  <a:sysClr val="windowText" lastClr="000000"/>
                </a:solidFill>
              </a:rPr>
              <a:t>X_train_fs</a:t>
            </a:r>
            <a:r>
              <a:rPr lang="en-IN" sz="1600" kern="0" dirty="0">
                <a:solidFill>
                  <a:sysClr val="windowText" lastClr="000000"/>
                </a:solidFill>
              </a:rPr>
              <a:t>, </a:t>
            </a:r>
            <a:r>
              <a:rPr lang="en-IN" sz="1600" kern="0" dirty="0" err="1">
                <a:solidFill>
                  <a:sysClr val="windowText" lastClr="000000"/>
                </a:solidFill>
              </a:rPr>
              <a:t>y_train</a:t>
            </a:r>
            <a:r>
              <a:rPr lang="en-IN" sz="1600" kern="0" dirty="0">
                <a:solidFill>
                  <a:sysClr val="windowText" lastClr="000000"/>
                </a:solidFill>
              </a:rPr>
              <a:t>)</a:t>
            </a:r>
            <a:endParaRPr lang="en-IN" sz="1600" b="1" dirty="0"/>
          </a:p>
          <a:p>
            <a:r>
              <a:rPr lang="en-IN" sz="1600" b="1" dirty="0"/>
              <a:t>Description:</a:t>
            </a:r>
            <a:br>
              <a:rPr lang="en-IN" sz="1400" dirty="0"/>
            </a:br>
            <a:r>
              <a:rPr lang="en-IN" sz="1400" dirty="0"/>
              <a:t>Built a stacked model using</a:t>
            </a:r>
            <a:br>
              <a:rPr lang="en-IN" sz="1400" dirty="0"/>
            </a:br>
            <a:r>
              <a:rPr lang="en-IN" sz="1400" dirty="0"/>
              <a:t>✔ Random Forest</a:t>
            </a:r>
            <a:br>
              <a:rPr lang="en-IN" sz="1400" dirty="0"/>
            </a:br>
            <a:r>
              <a:rPr lang="en-IN" sz="1400" dirty="0"/>
              <a:t>✔ Gradient Boosting</a:t>
            </a:r>
            <a:br>
              <a:rPr lang="en-IN" sz="1400" dirty="0"/>
            </a:br>
            <a:r>
              <a:rPr lang="en-IN" sz="1400" dirty="0"/>
              <a:t>✔ Naïve Bayes</a:t>
            </a:r>
            <a:br>
              <a:rPr lang="en-IN" sz="1400" dirty="0"/>
            </a:br>
            <a:r>
              <a:rPr lang="en-IN" sz="1400" dirty="0"/>
              <a:t>Final classifier: Logistic Regression</a:t>
            </a:r>
            <a:br>
              <a:rPr lang="en-IN" sz="1400" dirty="0"/>
            </a:br>
            <a:r>
              <a:rPr lang="en-IN" sz="1400" dirty="0"/>
              <a:t>→ This improved generalization and reduced overfitting.</a:t>
            </a:r>
            <a:endParaRPr lang="en-IN" sz="1400" kern="0" dirty="0">
              <a:solidFill>
                <a:sysClr val="windowText" lastClr="000000"/>
              </a:solidFill>
            </a:endParaRPr>
          </a:p>
          <a:p>
            <a:endParaRPr lang="en-IN" sz="1100" kern="0" dirty="0">
              <a:solidFill>
                <a:sysClr val="windowText" lastClr="000000"/>
              </a:solidFill>
            </a:endParaRPr>
          </a:p>
          <a:p>
            <a:r>
              <a:rPr lang="en-US" sz="2000" b="1" dirty="0"/>
              <a:t> </a:t>
            </a:r>
            <a:endParaRPr lang="en-IN" sz="1400" b="1" kern="0" dirty="0">
              <a:solidFill>
                <a:sysClr val="windowText" lastClr="000000"/>
              </a:solidFill>
            </a:endParaRPr>
          </a:p>
        </p:txBody>
      </p:sp>
      <p:sp>
        <p:nvSpPr>
          <p:cNvPr id="2" name="Rectangle 1">
            <a:extLst>
              <a:ext uri="{FF2B5EF4-FFF2-40B4-BE49-F238E27FC236}">
                <a16:creationId xmlns:a16="http://schemas.microsoft.com/office/drawing/2014/main" id="{2BAD46F5-F9C4-4690-851E-9C08B6457694}"/>
              </a:ext>
            </a:extLst>
          </p:cNvPr>
          <p:cNvSpPr/>
          <p:nvPr/>
        </p:nvSpPr>
        <p:spPr>
          <a:xfrm>
            <a:off x="685800" y="1447800"/>
            <a:ext cx="4901528" cy="3231654"/>
          </a:xfrm>
          <a:prstGeom prst="rect">
            <a:avLst/>
          </a:prstGeom>
        </p:spPr>
        <p:txBody>
          <a:bodyPr wrap="square">
            <a:spAutoFit/>
          </a:bodyPr>
          <a:lstStyle/>
          <a:p>
            <a:r>
              <a:rPr lang="en-US" sz="2000" b="1" kern="0" dirty="0">
                <a:solidFill>
                  <a:sysClr val="windowText" lastClr="000000"/>
                </a:solidFill>
              </a:rPr>
              <a:t>Phase 6: </a:t>
            </a:r>
            <a:r>
              <a:rPr lang="en-IN" sz="2000" b="1" dirty="0"/>
              <a:t>Feature Selection (</a:t>
            </a:r>
            <a:r>
              <a:rPr lang="en-IN" sz="2000" b="1" dirty="0" err="1"/>
              <a:t>LightGBM</a:t>
            </a:r>
            <a:r>
              <a:rPr lang="en-IN" sz="2000" b="1" dirty="0"/>
              <a:t>)</a:t>
            </a:r>
          </a:p>
          <a:p>
            <a:endParaRPr lang="en-US" sz="2000" b="1" kern="0" dirty="0">
              <a:solidFill>
                <a:sysClr val="windowText" lastClr="000000"/>
              </a:solidFill>
            </a:endParaRPr>
          </a:p>
          <a:p>
            <a:r>
              <a:rPr lang="en-IN" sz="1400" kern="0" dirty="0" err="1">
                <a:solidFill>
                  <a:sysClr val="windowText" lastClr="000000"/>
                </a:solidFill>
              </a:rPr>
              <a:t>lgb</a:t>
            </a:r>
            <a:r>
              <a:rPr lang="en-IN" sz="1400" kern="0" dirty="0">
                <a:solidFill>
                  <a:sysClr val="windowText" lastClr="000000"/>
                </a:solidFill>
              </a:rPr>
              <a:t> = </a:t>
            </a:r>
            <a:r>
              <a:rPr lang="en-IN" sz="1400" kern="0" dirty="0" err="1">
                <a:solidFill>
                  <a:sysClr val="windowText" lastClr="000000"/>
                </a:solidFill>
              </a:rPr>
              <a:t>LGBMClassifier</a:t>
            </a:r>
            <a:r>
              <a:rPr lang="en-IN" sz="1400" kern="0" dirty="0">
                <a:solidFill>
                  <a:sysClr val="windowText" lastClr="000000"/>
                </a:solidFill>
              </a:rPr>
              <a:t>(</a:t>
            </a:r>
            <a:r>
              <a:rPr lang="en-IN" sz="1400" kern="0" dirty="0" err="1">
                <a:solidFill>
                  <a:sysClr val="windowText" lastClr="000000"/>
                </a:solidFill>
              </a:rPr>
              <a:t>n_estimators</a:t>
            </a:r>
            <a:r>
              <a:rPr lang="en-IN" sz="1400" kern="0" dirty="0">
                <a:solidFill>
                  <a:sysClr val="windowText" lastClr="000000"/>
                </a:solidFill>
              </a:rPr>
              <a:t>=80, </a:t>
            </a:r>
            <a:r>
              <a:rPr lang="en-IN" sz="1400" kern="0" dirty="0" err="1">
                <a:solidFill>
                  <a:sysClr val="windowText" lastClr="000000"/>
                </a:solidFill>
              </a:rPr>
              <a:t>max_depth</a:t>
            </a:r>
            <a:r>
              <a:rPr lang="en-IN" sz="1400" kern="0" dirty="0">
                <a:solidFill>
                  <a:sysClr val="windowText" lastClr="000000"/>
                </a:solidFill>
              </a:rPr>
              <a:t>=5)</a:t>
            </a:r>
          </a:p>
          <a:p>
            <a:r>
              <a:rPr lang="en-IN" sz="1400" kern="0" dirty="0" err="1">
                <a:solidFill>
                  <a:sysClr val="windowText" lastClr="000000"/>
                </a:solidFill>
              </a:rPr>
              <a:t>lgb.fit</a:t>
            </a:r>
            <a:r>
              <a:rPr lang="en-IN" sz="1400" kern="0" dirty="0">
                <a:solidFill>
                  <a:sysClr val="windowText" lastClr="000000"/>
                </a:solidFill>
              </a:rPr>
              <a:t>(</a:t>
            </a:r>
            <a:r>
              <a:rPr lang="en-IN" sz="1400" kern="0" dirty="0" err="1">
                <a:solidFill>
                  <a:sysClr val="windowText" lastClr="000000"/>
                </a:solidFill>
              </a:rPr>
              <a:t>X_train</a:t>
            </a:r>
            <a:r>
              <a:rPr lang="en-IN" sz="1400" kern="0" dirty="0">
                <a:solidFill>
                  <a:sysClr val="windowText" lastClr="000000"/>
                </a:solidFill>
              </a:rPr>
              <a:t>, </a:t>
            </a:r>
            <a:r>
              <a:rPr lang="en-IN" sz="1400" kern="0" dirty="0" err="1">
                <a:solidFill>
                  <a:sysClr val="windowText" lastClr="000000"/>
                </a:solidFill>
              </a:rPr>
              <a:t>y_train</a:t>
            </a:r>
            <a:r>
              <a:rPr lang="en-IN" sz="1400" kern="0" dirty="0">
                <a:solidFill>
                  <a:sysClr val="windowText" lastClr="000000"/>
                </a:solidFill>
              </a:rPr>
              <a:t>)</a:t>
            </a:r>
          </a:p>
          <a:p>
            <a:endParaRPr lang="en-IN" sz="1400" kern="0" dirty="0">
              <a:solidFill>
                <a:sysClr val="windowText" lastClr="000000"/>
              </a:solidFill>
            </a:endParaRPr>
          </a:p>
          <a:p>
            <a:r>
              <a:rPr lang="en-IN" sz="1400" kern="0" dirty="0" err="1">
                <a:solidFill>
                  <a:sysClr val="windowText" lastClr="000000"/>
                </a:solidFill>
              </a:rPr>
              <a:t>important_idx</a:t>
            </a:r>
            <a:r>
              <a:rPr lang="en-IN" sz="1400" kern="0" dirty="0">
                <a:solidFill>
                  <a:sysClr val="windowText" lastClr="000000"/>
                </a:solidFill>
              </a:rPr>
              <a:t> = </a:t>
            </a:r>
            <a:r>
              <a:rPr lang="en-IN" sz="1400" kern="0" dirty="0" err="1">
                <a:solidFill>
                  <a:sysClr val="windowText" lastClr="000000"/>
                </a:solidFill>
              </a:rPr>
              <a:t>np.argsort</a:t>
            </a:r>
            <a:r>
              <a:rPr lang="en-IN" sz="1400" kern="0" dirty="0">
                <a:solidFill>
                  <a:sysClr val="windowText" lastClr="000000"/>
                </a:solidFill>
              </a:rPr>
              <a:t>(</a:t>
            </a:r>
            <a:r>
              <a:rPr lang="en-IN" sz="1400" kern="0" dirty="0" err="1">
                <a:solidFill>
                  <a:sysClr val="windowText" lastClr="000000"/>
                </a:solidFill>
              </a:rPr>
              <a:t>lgb.feature_importances</a:t>
            </a:r>
            <a:r>
              <a:rPr lang="en-IN" sz="1400" kern="0" dirty="0">
                <a:solidFill>
                  <a:sysClr val="windowText" lastClr="000000"/>
                </a:solidFill>
              </a:rPr>
              <a:t>_)[-20:]</a:t>
            </a:r>
          </a:p>
          <a:p>
            <a:r>
              <a:rPr lang="en-IN" sz="1400" kern="0" dirty="0" err="1">
                <a:solidFill>
                  <a:sysClr val="windowText" lastClr="000000"/>
                </a:solidFill>
              </a:rPr>
              <a:t>X_train_fs</a:t>
            </a:r>
            <a:r>
              <a:rPr lang="en-IN" sz="1400" kern="0" dirty="0">
                <a:solidFill>
                  <a:sysClr val="windowText" lastClr="000000"/>
                </a:solidFill>
              </a:rPr>
              <a:t> = </a:t>
            </a:r>
            <a:r>
              <a:rPr lang="en-IN" sz="1400" kern="0" dirty="0" err="1">
                <a:solidFill>
                  <a:sysClr val="windowText" lastClr="000000"/>
                </a:solidFill>
              </a:rPr>
              <a:t>X_train.iloc</a:t>
            </a:r>
            <a:r>
              <a:rPr lang="en-IN" sz="1400" kern="0" dirty="0">
                <a:solidFill>
                  <a:sysClr val="windowText" lastClr="000000"/>
                </a:solidFill>
              </a:rPr>
              <a:t>[:, </a:t>
            </a:r>
            <a:r>
              <a:rPr lang="en-IN" sz="1400" kern="0" dirty="0" err="1">
                <a:solidFill>
                  <a:sysClr val="windowText" lastClr="000000"/>
                </a:solidFill>
              </a:rPr>
              <a:t>important_idx</a:t>
            </a:r>
            <a:r>
              <a:rPr lang="en-IN" sz="1400" kern="0" dirty="0">
                <a:solidFill>
                  <a:sysClr val="windowText" lastClr="000000"/>
                </a:solidFill>
              </a:rPr>
              <a:t>]</a:t>
            </a:r>
          </a:p>
          <a:p>
            <a:r>
              <a:rPr lang="en-IN" sz="1400" kern="0" dirty="0" err="1">
                <a:solidFill>
                  <a:sysClr val="windowText" lastClr="000000"/>
                </a:solidFill>
              </a:rPr>
              <a:t>X_test_fs</a:t>
            </a:r>
            <a:r>
              <a:rPr lang="en-IN" sz="1400" kern="0" dirty="0">
                <a:solidFill>
                  <a:sysClr val="windowText" lastClr="000000"/>
                </a:solidFill>
              </a:rPr>
              <a:t>  = </a:t>
            </a:r>
            <a:r>
              <a:rPr lang="en-IN" sz="1400" kern="0" dirty="0" err="1">
                <a:solidFill>
                  <a:sysClr val="windowText" lastClr="000000"/>
                </a:solidFill>
              </a:rPr>
              <a:t>X_test.iloc</a:t>
            </a:r>
            <a:r>
              <a:rPr lang="en-IN" sz="1400" kern="0" dirty="0">
                <a:solidFill>
                  <a:sysClr val="windowText" lastClr="000000"/>
                </a:solidFill>
              </a:rPr>
              <a:t>[:, </a:t>
            </a:r>
            <a:r>
              <a:rPr lang="en-IN" sz="1400" kern="0" dirty="0" err="1">
                <a:solidFill>
                  <a:sysClr val="windowText" lastClr="000000"/>
                </a:solidFill>
              </a:rPr>
              <a:t>important_idx</a:t>
            </a:r>
            <a:r>
              <a:rPr lang="en-IN" sz="1400" kern="0" dirty="0">
                <a:solidFill>
                  <a:sysClr val="windowText" lastClr="000000"/>
                </a:solidFill>
              </a:rPr>
              <a:t>]</a:t>
            </a:r>
          </a:p>
          <a:p>
            <a:endParaRPr lang="en-IN" sz="1400" kern="0" dirty="0">
              <a:solidFill>
                <a:sysClr val="windowText" lastClr="000000"/>
              </a:solidFill>
            </a:endParaRPr>
          </a:p>
          <a:p>
            <a:r>
              <a:rPr lang="en-US" sz="1600" b="1" dirty="0"/>
              <a:t>Description:</a:t>
            </a:r>
            <a:br>
              <a:rPr lang="en-US" sz="1400" dirty="0"/>
            </a:br>
            <a:r>
              <a:rPr lang="en-US" sz="1400" dirty="0" err="1"/>
              <a:t>LightGBM</a:t>
            </a:r>
            <a:r>
              <a:rPr lang="en-US" sz="1400" dirty="0"/>
              <a:t> was trained to select </a:t>
            </a:r>
            <a:r>
              <a:rPr lang="en-US" sz="1400" b="1" dirty="0"/>
              <a:t>top 20 most important features</a:t>
            </a:r>
            <a:r>
              <a:rPr lang="en-US" sz="1400" dirty="0"/>
              <a:t> for faster and more accurate modeling.</a:t>
            </a:r>
          </a:p>
          <a:p>
            <a:endParaRPr lang="en-IN" sz="1200" kern="0" dirty="0">
              <a:solidFill>
                <a:sysClr val="windowText" lastClr="000000"/>
              </a:solidFill>
            </a:endParaRPr>
          </a:p>
          <a:p>
            <a:r>
              <a:rPr lang="en-IN" sz="1200" kern="0" dirty="0">
                <a:solidFill>
                  <a:sysClr val="windowText" lastClr="000000"/>
                </a:solidFill>
              </a:rPr>
              <a:t> </a:t>
            </a:r>
            <a:r>
              <a:rPr lang="en-US" sz="1200" b="1" dirty="0"/>
              <a:t> </a:t>
            </a:r>
            <a:endParaRPr lang="en-IN" sz="1200" kern="0" dirty="0">
              <a:solidFill>
                <a:sysClr val="windowText" lastClr="000000"/>
              </a:solidFill>
            </a:endParaRPr>
          </a:p>
        </p:txBody>
      </p:sp>
    </p:spTree>
    <p:extLst>
      <p:ext uri="{BB962C8B-B14F-4D97-AF65-F5344CB8AC3E}">
        <p14:creationId xmlns:p14="http://schemas.microsoft.com/office/powerpoint/2010/main" val="2090946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C27E56A-1C86-4362-A538-316CB514853B}"/>
              </a:ext>
            </a:extLst>
          </p:cNvPr>
          <p:cNvSpPr>
            <a:spLocks noGrp="1"/>
          </p:cNvSpPr>
          <p:nvPr>
            <p:ph type="title"/>
          </p:nvPr>
        </p:nvSpPr>
        <p:spPr>
          <a:xfrm>
            <a:off x="2806700" y="670560"/>
            <a:ext cx="6578600" cy="701040"/>
          </a:xfrm>
        </p:spPr>
        <p:txBody>
          <a:bodyPr/>
          <a:lstStyle/>
          <a:p>
            <a:pPr algn="ctr"/>
            <a:r>
              <a:rPr lang="en-IN" dirty="0"/>
              <a:t>IMPLEMENTATION</a:t>
            </a:r>
          </a:p>
        </p:txBody>
      </p:sp>
      <p:sp>
        <p:nvSpPr>
          <p:cNvPr id="2" name="Rectangle 1">
            <a:extLst>
              <a:ext uri="{FF2B5EF4-FFF2-40B4-BE49-F238E27FC236}">
                <a16:creationId xmlns:a16="http://schemas.microsoft.com/office/drawing/2014/main" id="{29B57AD1-3C7A-4EA3-8A4E-AE356B87F2C4}"/>
              </a:ext>
            </a:extLst>
          </p:cNvPr>
          <p:cNvSpPr/>
          <p:nvPr/>
        </p:nvSpPr>
        <p:spPr>
          <a:xfrm>
            <a:off x="838200" y="1371600"/>
            <a:ext cx="9677400" cy="4570482"/>
          </a:xfrm>
          <a:prstGeom prst="rect">
            <a:avLst/>
          </a:prstGeom>
        </p:spPr>
        <p:txBody>
          <a:bodyPr wrap="square">
            <a:spAutoFit/>
          </a:bodyPr>
          <a:lstStyle/>
          <a:p>
            <a:r>
              <a:rPr lang="en-IN" sz="2400" b="1" dirty="0"/>
              <a:t>Phase 8: Model Evaluation</a:t>
            </a:r>
            <a:endParaRPr lang="en-IN" sz="2800" b="1" dirty="0"/>
          </a:p>
          <a:p>
            <a:pPr>
              <a:lnSpc>
                <a:spcPct val="150000"/>
              </a:lnSpc>
            </a:pPr>
            <a:r>
              <a:rPr lang="en-US" kern="0" dirty="0" err="1">
                <a:solidFill>
                  <a:sysClr val="windowText" lastClr="000000"/>
                </a:solidFill>
              </a:rPr>
              <a:t>y_pred_prob</a:t>
            </a:r>
            <a:r>
              <a:rPr lang="en-US" kern="0" dirty="0">
                <a:solidFill>
                  <a:sysClr val="windowText" lastClr="000000"/>
                </a:solidFill>
              </a:rPr>
              <a:t> = </a:t>
            </a:r>
            <a:r>
              <a:rPr lang="en-US" kern="0" dirty="0" err="1">
                <a:solidFill>
                  <a:sysClr val="windowText" lastClr="000000"/>
                </a:solidFill>
              </a:rPr>
              <a:t>stack_model.predict_proba</a:t>
            </a:r>
            <a:r>
              <a:rPr lang="en-US" kern="0" dirty="0">
                <a:solidFill>
                  <a:sysClr val="windowText" lastClr="000000"/>
                </a:solidFill>
              </a:rPr>
              <a:t>(</a:t>
            </a:r>
            <a:r>
              <a:rPr lang="en-US" kern="0" dirty="0" err="1">
                <a:solidFill>
                  <a:sysClr val="windowText" lastClr="000000"/>
                </a:solidFill>
              </a:rPr>
              <a:t>X_test_fs</a:t>
            </a:r>
            <a:r>
              <a:rPr lang="en-US" kern="0" dirty="0">
                <a:solidFill>
                  <a:sysClr val="windowText" lastClr="000000"/>
                </a:solidFill>
              </a:rPr>
              <a:t>)[:,1]</a:t>
            </a:r>
          </a:p>
          <a:p>
            <a:pPr>
              <a:lnSpc>
                <a:spcPct val="150000"/>
              </a:lnSpc>
            </a:pPr>
            <a:r>
              <a:rPr lang="en-US" kern="0" dirty="0" err="1">
                <a:solidFill>
                  <a:sysClr val="windowText" lastClr="000000"/>
                </a:solidFill>
              </a:rPr>
              <a:t>y_pred</a:t>
            </a:r>
            <a:r>
              <a:rPr lang="en-US" kern="0" dirty="0">
                <a:solidFill>
                  <a:sysClr val="windowText" lastClr="000000"/>
                </a:solidFill>
              </a:rPr>
              <a:t> = (</a:t>
            </a:r>
            <a:r>
              <a:rPr lang="en-US" kern="0" dirty="0" err="1">
                <a:solidFill>
                  <a:sysClr val="windowText" lastClr="000000"/>
                </a:solidFill>
              </a:rPr>
              <a:t>y_pred_prob</a:t>
            </a:r>
            <a:r>
              <a:rPr lang="en-US" kern="0" dirty="0">
                <a:solidFill>
                  <a:sysClr val="windowText" lastClr="000000"/>
                </a:solidFill>
              </a:rPr>
              <a:t> &gt;= </a:t>
            </a:r>
            <a:r>
              <a:rPr lang="en-US" kern="0" dirty="0" err="1">
                <a:solidFill>
                  <a:sysClr val="windowText" lastClr="000000"/>
                </a:solidFill>
              </a:rPr>
              <a:t>optimal_thresh</a:t>
            </a:r>
            <a:r>
              <a:rPr lang="en-US" kern="0" dirty="0">
                <a:solidFill>
                  <a:sysClr val="windowText" lastClr="000000"/>
                </a:solidFill>
              </a:rPr>
              <a:t>).</a:t>
            </a:r>
            <a:r>
              <a:rPr lang="en-US" kern="0" dirty="0" err="1">
                <a:solidFill>
                  <a:sysClr val="windowText" lastClr="000000"/>
                </a:solidFill>
              </a:rPr>
              <a:t>astype</a:t>
            </a:r>
            <a:r>
              <a:rPr lang="en-US" kern="0" dirty="0">
                <a:solidFill>
                  <a:sysClr val="windowText" lastClr="000000"/>
                </a:solidFill>
              </a:rPr>
              <a:t>(int)</a:t>
            </a:r>
          </a:p>
          <a:p>
            <a:pPr>
              <a:lnSpc>
                <a:spcPct val="150000"/>
              </a:lnSpc>
            </a:pPr>
            <a:r>
              <a:rPr lang="en-US" kern="0" dirty="0">
                <a:solidFill>
                  <a:sysClr val="windowText" lastClr="000000"/>
                </a:solidFill>
              </a:rPr>
              <a:t>print(</a:t>
            </a:r>
            <a:r>
              <a:rPr lang="en-US" kern="0" dirty="0" err="1">
                <a:solidFill>
                  <a:sysClr val="windowText" lastClr="000000"/>
                </a:solidFill>
              </a:rPr>
              <a:t>classification_report</a:t>
            </a:r>
            <a:r>
              <a:rPr lang="en-US" kern="0" dirty="0">
                <a:solidFill>
                  <a:sysClr val="windowText" lastClr="000000"/>
                </a:solidFill>
              </a:rPr>
              <a:t>(</a:t>
            </a:r>
            <a:r>
              <a:rPr lang="en-US" kern="0" dirty="0" err="1">
                <a:solidFill>
                  <a:sysClr val="windowText" lastClr="000000"/>
                </a:solidFill>
              </a:rPr>
              <a:t>y_test</a:t>
            </a:r>
            <a:r>
              <a:rPr lang="en-US" kern="0" dirty="0">
                <a:solidFill>
                  <a:sysClr val="windowText" lastClr="000000"/>
                </a:solidFill>
              </a:rPr>
              <a:t>, </a:t>
            </a:r>
            <a:r>
              <a:rPr lang="en-US" kern="0" dirty="0" err="1">
                <a:solidFill>
                  <a:sysClr val="windowText" lastClr="000000"/>
                </a:solidFill>
              </a:rPr>
              <a:t>y_pred</a:t>
            </a:r>
            <a:r>
              <a:rPr lang="en-US" kern="0" dirty="0">
                <a:solidFill>
                  <a:sysClr val="windowText" lastClr="000000"/>
                </a:solidFill>
              </a:rPr>
              <a:t>))</a:t>
            </a:r>
          </a:p>
          <a:p>
            <a:endParaRPr lang="en-US" kern="0" dirty="0">
              <a:solidFill>
                <a:sysClr val="windowText" lastClr="000000"/>
              </a:solidFill>
            </a:endParaRPr>
          </a:p>
          <a:p>
            <a:r>
              <a:rPr lang="en-US" sz="2000" b="1" dirty="0"/>
              <a:t>Description:</a:t>
            </a:r>
            <a:br>
              <a:rPr lang="en-US" dirty="0"/>
            </a:br>
            <a:r>
              <a:rPr lang="en-US" sz="2000" dirty="0"/>
              <a:t>Used Accuracy, Precision, Recall, F1-score, ROC-AUC, confusion matrix.</a:t>
            </a:r>
          </a:p>
          <a:p>
            <a:endParaRPr lang="en-IN" sz="2000" b="1" kern="0" dirty="0">
              <a:solidFill>
                <a:sysClr val="windowText" lastClr="000000"/>
              </a:solidFill>
            </a:endParaRPr>
          </a:p>
          <a:p>
            <a:r>
              <a:rPr lang="en-IN" b="1" dirty="0"/>
              <a:t>Visualizations Included:</a:t>
            </a:r>
            <a:br>
              <a:rPr lang="en-IN" dirty="0"/>
            </a:br>
            <a:r>
              <a:rPr lang="en-IN" dirty="0"/>
              <a:t>✔ Confusion Matrix</a:t>
            </a:r>
            <a:br>
              <a:rPr lang="en-IN" dirty="0"/>
            </a:br>
            <a:r>
              <a:rPr lang="en-IN" dirty="0"/>
              <a:t>✔ ROC Curve</a:t>
            </a:r>
            <a:br>
              <a:rPr lang="en-IN" dirty="0"/>
            </a:br>
            <a:r>
              <a:rPr lang="en-IN" dirty="0"/>
              <a:t>✔ </a:t>
            </a:r>
            <a:r>
              <a:rPr lang="en-IN" dirty="0" err="1"/>
              <a:t>LightGBM</a:t>
            </a:r>
            <a:r>
              <a:rPr lang="en-IN" dirty="0"/>
              <a:t> Top 20 Feature Plot</a:t>
            </a:r>
            <a:br>
              <a:rPr lang="en-IN" dirty="0"/>
            </a:br>
            <a:r>
              <a:rPr lang="en-IN" dirty="0"/>
              <a:t>✔ Error Metrics (MSE, RMSE)</a:t>
            </a:r>
            <a:br>
              <a:rPr lang="en-IN" dirty="0"/>
            </a:br>
            <a:r>
              <a:rPr lang="en-IN" dirty="0"/>
              <a:t>✔ Train vs Test Accuracy Comparison</a:t>
            </a:r>
            <a:endParaRPr lang="en-IN" b="1" kern="0" dirty="0">
              <a:solidFill>
                <a:sysClr val="windowText" lastClr="000000"/>
              </a:solidFill>
            </a:endParaRPr>
          </a:p>
        </p:txBody>
      </p:sp>
    </p:spTree>
    <p:extLst>
      <p:ext uri="{BB962C8B-B14F-4D97-AF65-F5344CB8AC3E}">
        <p14:creationId xmlns:p14="http://schemas.microsoft.com/office/powerpoint/2010/main" val="1085745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2851" y="529843"/>
            <a:ext cx="6035040" cy="701040"/>
          </a:xfrm>
          <a:prstGeom prst="rect">
            <a:avLst/>
          </a:prstGeom>
        </p:spPr>
        <p:txBody>
          <a:bodyPr vert="horz" wrap="square" lIns="0" tIns="16510" rIns="0" bIns="0" rtlCol="0">
            <a:spAutoFit/>
          </a:bodyPr>
          <a:lstStyle/>
          <a:p>
            <a:pPr marL="12700">
              <a:lnSpc>
                <a:spcPct val="100000"/>
              </a:lnSpc>
              <a:spcBef>
                <a:spcPts val="130"/>
              </a:spcBef>
            </a:pPr>
            <a:r>
              <a:rPr spc="45" dirty="0"/>
              <a:t>R</a:t>
            </a:r>
            <a:r>
              <a:rPr spc="-10" dirty="0"/>
              <a:t>E</a:t>
            </a:r>
            <a:r>
              <a:rPr spc="20" dirty="0"/>
              <a:t>S</a:t>
            </a:r>
            <a:r>
              <a:rPr spc="45" dirty="0"/>
              <a:t>U</a:t>
            </a:r>
            <a:r>
              <a:rPr spc="-385" dirty="0"/>
              <a:t>L</a:t>
            </a:r>
            <a:r>
              <a:rPr spc="-10" dirty="0"/>
              <a:t>T</a:t>
            </a:r>
            <a:r>
              <a:rPr spc="15" dirty="0"/>
              <a:t>S</a:t>
            </a:r>
            <a:r>
              <a:rPr spc="-120" dirty="0"/>
              <a:t> </a:t>
            </a:r>
            <a:r>
              <a:rPr spc="25" dirty="0"/>
              <a:t>&amp;</a:t>
            </a:r>
            <a:r>
              <a:rPr spc="-290" dirty="0"/>
              <a:t> </a:t>
            </a:r>
            <a:r>
              <a:rPr spc="45" dirty="0"/>
              <a:t>ANA</a:t>
            </a:r>
            <a:r>
              <a:rPr spc="-385" dirty="0"/>
              <a:t>L</a:t>
            </a:r>
            <a:r>
              <a:rPr spc="-25" dirty="0"/>
              <a:t>Y</a:t>
            </a:r>
            <a:r>
              <a:rPr spc="20" dirty="0"/>
              <a:t>S</a:t>
            </a:r>
            <a:r>
              <a:rPr spc="10" dirty="0"/>
              <a:t>IS</a:t>
            </a:r>
          </a:p>
        </p:txBody>
      </p:sp>
      <p:sp>
        <p:nvSpPr>
          <p:cNvPr id="4" name="object 4"/>
          <p:cNvSpPr txBox="1">
            <a:spLocks noGrp="1"/>
          </p:cNvSpPr>
          <p:nvPr>
            <p:ph type="dt" sz="half" idx="6"/>
          </p:nvPr>
        </p:nvSpPr>
        <p:spPr>
          <a:xfrm>
            <a:off x="917575" y="6451049"/>
            <a:ext cx="91122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3810000" y="6451049"/>
            <a:ext cx="9838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2" y="6451049"/>
            <a:ext cx="983870"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18</a:t>
            </a:fld>
            <a:endParaRPr dirty="0"/>
          </a:p>
        </p:txBody>
      </p:sp>
      <p:pic>
        <p:nvPicPr>
          <p:cNvPr id="10" name="Picture 9">
            <a:extLst>
              <a:ext uri="{FF2B5EF4-FFF2-40B4-BE49-F238E27FC236}">
                <a16:creationId xmlns:a16="http://schemas.microsoft.com/office/drawing/2014/main" id="{41692152-90E5-A498-4128-A7B4C571EC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3244" y="1187354"/>
            <a:ext cx="3282051" cy="2038283"/>
          </a:xfrm>
          <a:prstGeom prst="rect">
            <a:avLst/>
          </a:prstGeom>
        </p:spPr>
      </p:pic>
      <p:pic>
        <p:nvPicPr>
          <p:cNvPr id="12" name="Picture 11">
            <a:extLst>
              <a:ext uri="{FF2B5EF4-FFF2-40B4-BE49-F238E27FC236}">
                <a16:creationId xmlns:a16="http://schemas.microsoft.com/office/drawing/2014/main" id="{56CC82DA-F9D5-F9AF-9143-4514FA312D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97041" y="1502720"/>
            <a:ext cx="3959788" cy="1538334"/>
          </a:xfrm>
          <a:prstGeom prst="rect">
            <a:avLst/>
          </a:prstGeom>
        </p:spPr>
      </p:pic>
      <p:sp>
        <p:nvSpPr>
          <p:cNvPr id="13" name="TextBox 12">
            <a:extLst>
              <a:ext uri="{FF2B5EF4-FFF2-40B4-BE49-F238E27FC236}">
                <a16:creationId xmlns:a16="http://schemas.microsoft.com/office/drawing/2014/main" id="{ED97B5B9-68C6-9894-5929-0D13DC52AFD4}"/>
              </a:ext>
            </a:extLst>
          </p:cNvPr>
          <p:cNvSpPr txBox="1"/>
          <p:nvPr/>
        </p:nvSpPr>
        <p:spPr>
          <a:xfrm>
            <a:off x="1118225" y="3168150"/>
            <a:ext cx="3514090" cy="369332"/>
          </a:xfrm>
          <a:prstGeom prst="rect">
            <a:avLst/>
          </a:prstGeom>
          <a:noFill/>
        </p:spPr>
        <p:txBody>
          <a:bodyPr wrap="square" rtlCol="0">
            <a:spAutoFit/>
          </a:bodyPr>
          <a:lstStyle/>
          <a:p>
            <a:r>
              <a:rPr lang="en-US" sz="1800" dirty="0">
                <a:effectLst/>
                <a:latin typeface="Times New Roman" panose="02020603050405020304" pitchFamily="18" charset="0"/>
                <a:ea typeface="SimSun" panose="02010600030101010101" pitchFamily="2" charset="-122"/>
              </a:rPr>
              <a:t>           </a:t>
            </a:r>
            <a:r>
              <a:rPr lang="en-US" sz="1200" dirty="0">
                <a:effectLst/>
                <a:latin typeface="Times New Roman" panose="02020603050405020304" pitchFamily="18" charset="0"/>
                <a:ea typeface="SimSun" panose="02010600030101010101" pitchFamily="2" charset="-122"/>
              </a:rPr>
              <a:t>Fig. </a:t>
            </a:r>
            <a:r>
              <a:rPr lang="en-US" sz="1200" dirty="0">
                <a:latin typeface="Times New Roman" panose="02020603050405020304" pitchFamily="18" charset="0"/>
                <a:ea typeface="SimSun" panose="02010600030101010101" pitchFamily="2" charset="-122"/>
              </a:rPr>
              <a:t>NDVI snapshot Trends</a:t>
            </a:r>
            <a:endParaRPr lang="en-IN" dirty="0"/>
          </a:p>
        </p:txBody>
      </p:sp>
      <p:sp>
        <p:nvSpPr>
          <p:cNvPr id="14" name="TextBox 13">
            <a:extLst>
              <a:ext uri="{FF2B5EF4-FFF2-40B4-BE49-F238E27FC236}">
                <a16:creationId xmlns:a16="http://schemas.microsoft.com/office/drawing/2014/main" id="{8DC8F3F0-5F44-F669-C8AD-7D2EED5393E5}"/>
              </a:ext>
            </a:extLst>
          </p:cNvPr>
          <p:cNvSpPr txBox="1"/>
          <p:nvPr/>
        </p:nvSpPr>
        <p:spPr>
          <a:xfrm>
            <a:off x="7142036" y="3087138"/>
            <a:ext cx="3203383" cy="276999"/>
          </a:xfrm>
          <a:prstGeom prst="rect">
            <a:avLst/>
          </a:prstGeom>
          <a:noFill/>
        </p:spPr>
        <p:txBody>
          <a:bodyPr wrap="square" rtlCol="0">
            <a:spAutoFit/>
          </a:bodyPr>
          <a:lstStyle/>
          <a:p>
            <a:pPr algn="ctr"/>
            <a:r>
              <a:rPr lang="en-US" sz="1200" dirty="0">
                <a:effectLst/>
                <a:latin typeface="Times New Roman" panose="02020603050405020304" pitchFamily="18" charset="0"/>
                <a:ea typeface="SimSun" panose="02010600030101010101" pitchFamily="2" charset="-122"/>
              </a:rPr>
              <a:t>Fig. Year-Wise</a:t>
            </a:r>
            <a:r>
              <a:rPr lang="en-US" sz="1200" dirty="0">
                <a:latin typeface="Times New Roman" panose="02020603050405020304" pitchFamily="18" charset="0"/>
                <a:ea typeface="SimSun" panose="02010600030101010101" pitchFamily="2" charset="-122"/>
              </a:rPr>
              <a:t> Fire Occurrence</a:t>
            </a:r>
            <a:endParaRPr lang="en-IN" sz="1200" dirty="0">
              <a:effectLst/>
              <a:latin typeface="Times New Roman" panose="02020603050405020304" pitchFamily="18" charset="0"/>
              <a:ea typeface="SimSun" panose="02010600030101010101" pitchFamily="2" charset="-122"/>
            </a:endParaRPr>
          </a:p>
        </p:txBody>
      </p:sp>
      <p:sp>
        <p:nvSpPr>
          <p:cNvPr id="9" name="Rectangle 8">
            <a:extLst>
              <a:ext uri="{FF2B5EF4-FFF2-40B4-BE49-F238E27FC236}">
                <a16:creationId xmlns:a16="http://schemas.microsoft.com/office/drawing/2014/main" id="{8CC72B7D-1F9B-4D91-BF1D-5DCC95DC7A3C}"/>
              </a:ext>
            </a:extLst>
          </p:cNvPr>
          <p:cNvSpPr/>
          <p:nvPr/>
        </p:nvSpPr>
        <p:spPr>
          <a:xfrm>
            <a:off x="856361" y="3589891"/>
            <a:ext cx="5773039" cy="2246769"/>
          </a:xfrm>
          <a:prstGeom prst="rect">
            <a:avLst/>
          </a:prstGeom>
        </p:spPr>
        <p:txBody>
          <a:bodyPr wrap="square">
            <a:spAutoFit/>
          </a:bodyPr>
          <a:lstStyle/>
          <a:p>
            <a:r>
              <a:rPr lang="en-IN" sz="1400" dirty="0" err="1">
                <a:latin typeface="Courier New" panose="02070309020205020404" pitchFamily="49" charset="0"/>
              </a:rPr>
              <a:t>plt.figure</a:t>
            </a:r>
            <a:r>
              <a:rPr lang="en-IN" sz="1400" dirty="0">
                <a:latin typeface="Courier New" panose="02070309020205020404" pitchFamily="49" charset="0"/>
              </a:rPr>
              <a:t>(</a:t>
            </a:r>
            <a:r>
              <a:rPr lang="en-IN" sz="1400" dirty="0" err="1">
                <a:latin typeface="Courier New" panose="02070309020205020404" pitchFamily="49" charset="0"/>
              </a:rPr>
              <a:t>figsize</a:t>
            </a:r>
            <a:r>
              <a:rPr lang="en-IN" sz="1400" dirty="0">
                <a:latin typeface="Courier New" panose="02070309020205020404" pitchFamily="49" charset="0"/>
              </a:rPr>
              <a:t>=(8, 5))</a:t>
            </a:r>
          </a:p>
          <a:p>
            <a:r>
              <a:rPr lang="en-IN" sz="1400" dirty="0" err="1">
                <a:latin typeface="Courier New" panose="02070309020205020404" pitchFamily="49" charset="0"/>
              </a:rPr>
              <a:t>plt.plot</a:t>
            </a:r>
            <a:r>
              <a:rPr lang="en-IN" sz="1400" dirty="0">
                <a:latin typeface="Courier New" panose="02070309020205020404" pitchFamily="49" charset="0"/>
              </a:rPr>
              <a:t>(range(1, </a:t>
            </a:r>
            <a:r>
              <a:rPr lang="en-IN" sz="1400" dirty="0" err="1">
                <a:latin typeface="Courier New" panose="02070309020205020404" pitchFamily="49" charset="0"/>
              </a:rPr>
              <a:t>len</a:t>
            </a:r>
            <a:r>
              <a:rPr lang="en-IN" sz="1400" dirty="0">
                <a:latin typeface="Courier New" panose="02070309020205020404" pitchFamily="49" charset="0"/>
              </a:rPr>
              <a:t>(</a:t>
            </a:r>
            <a:r>
              <a:rPr lang="en-IN" sz="1400" dirty="0" err="1">
                <a:latin typeface="Courier New" panose="02070309020205020404" pitchFamily="49" charset="0"/>
              </a:rPr>
              <a:t>ndvi_vals</a:t>
            </a:r>
            <a:r>
              <a:rPr lang="en-IN" sz="1400" dirty="0">
                <a:latin typeface="Courier New" panose="02070309020205020404" pitchFamily="49" charset="0"/>
              </a:rPr>
              <a:t>) + 1), </a:t>
            </a:r>
            <a:r>
              <a:rPr lang="en-IN" sz="1400" dirty="0" err="1">
                <a:latin typeface="Courier New" panose="02070309020205020404" pitchFamily="49" charset="0"/>
              </a:rPr>
              <a:t>ndvi_vals</a:t>
            </a:r>
            <a:r>
              <a:rPr lang="en-IN" sz="1400" dirty="0">
                <a:latin typeface="Courier New" panose="02070309020205020404" pitchFamily="49" charset="0"/>
              </a:rPr>
              <a:t>, marker='o', </a:t>
            </a:r>
            <a:r>
              <a:rPr lang="en-IN" sz="1400" dirty="0" err="1">
                <a:latin typeface="Courier New" panose="02070309020205020404" pitchFamily="49" charset="0"/>
              </a:rPr>
              <a:t>color</a:t>
            </a:r>
            <a:r>
              <a:rPr lang="en-IN" sz="1400" dirty="0">
                <a:latin typeface="Courier New" panose="02070309020205020404" pitchFamily="49" charset="0"/>
              </a:rPr>
              <a:t>='green')</a:t>
            </a:r>
          </a:p>
          <a:p>
            <a:r>
              <a:rPr lang="en-IN" sz="1400" dirty="0" err="1">
                <a:latin typeface="Courier New" panose="02070309020205020404" pitchFamily="49" charset="0"/>
              </a:rPr>
              <a:t>plt.xticks</a:t>
            </a:r>
            <a:r>
              <a:rPr lang="en-IN" sz="1400" dirty="0">
                <a:latin typeface="Courier New" panose="02070309020205020404" pitchFamily="49" charset="0"/>
              </a:rPr>
              <a:t>(range(1, </a:t>
            </a:r>
            <a:r>
              <a:rPr lang="en-IN" sz="1400" dirty="0" err="1">
                <a:latin typeface="Courier New" panose="02070309020205020404" pitchFamily="49" charset="0"/>
              </a:rPr>
              <a:t>len</a:t>
            </a:r>
            <a:r>
              <a:rPr lang="en-IN" sz="1400" dirty="0">
                <a:latin typeface="Courier New" panose="02070309020205020404" pitchFamily="49" charset="0"/>
              </a:rPr>
              <a:t>(</a:t>
            </a:r>
            <a:r>
              <a:rPr lang="en-IN" sz="1400" dirty="0" err="1">
                <a:latin typeface="Courier New" panose="02070309020205020404" pitchFamily="49" charset="0"/>
              </a:rPr>
              <a:t>ndvi_vals</a:t>
            </a:r>
            <a:r>
              <a:rPr lang="en-IN" sz="1400" dirty="0">
                <a:latin typeface="Courier New" panose="02070309020205020404" pitchFamily="49" charset="0"/>
              </a:rPr>
              <a:t>) + 1))</a:t>
            </a:r>
          </a:p>
          <a:p>
            <a:r>
              <a:rPr lang="en-IN" sz="1400" dirty="0" err="1">
                <a:latin typeface="Courier New" panose="02070309020205020404" pitchFamily="49" charset="0"/>
              </a:rPr>
              <a:t>plt.title</a:t>
            </a:r>
            <a:r>
              <a:rPr lang="en-IN" sz="1400" dirty="0">
                <a:latin typeface="Courier New" panose="02070309020205020404" pitchFamily="49" charset="0"/>
              </a:rPr>
              <a:t>("NDVI Snapshot Trends Over Time")</a:t>
            </a:r>
          </a:p>
          <a:p>
            <a:r>
              <a:rPr lang="en-IN" sz="1400" dirty="0" err="1">
                <a:latin typeface="Courier New" panose="02070309020205020404" pitchFamily="49" charset="0"/>
              </a:rPr>
              <a:t>plt.xlabel</a:t>
            </a:r>
            <a:r>
              <a:rPr lang="en-IN" sz="1400" dirty="0">
                <a:latin typeface="Courier New" panose="02070309020205020404" pitchFamily="49" charset="0"/>
              </a:rPr>
              <a:t>("Snapshot Index")</a:t>
            </a:r>
          </a:p>
          <a:p>
            <a:r>
              <a:rPr lang="en-IN" sz="1400" dirty="0" err="1">
                <a:latin typeface="Courier New" panose="02070309020205020404" pitchFamily="49" charset="0"/>
              </a:rPr>
              <a:t>plt.ylabel</a:t>
            </a:r>
            <a:r>
              <a:rPr lang="en-IN" sz="1400" dirty="0">
                <a:latin typeface="Courier New" panose="02070309020205020404" pitchFamily="49" charset="0"/>
              </a:rPr>
              <a:t>("Mean NDVI")</a:t>
            </a:r>
          </a:p>
          <a:p>
            <a:r>
              <a:rPr lang="en-IN" sz="1400" dirty="0" err="1">
                <a:latin typeface="Courier New" panose="02070309020205020404" pitchFamily="49" charset="0"/>
              </a:rPr>
              <a:t>plt.grid</a:t>
            </a:r>
            <a:r>
              <a:rPr lang="en-IN" sz="1400" dirty="0">
                <a:latin typeface="Courier New" panose="02070309020205020404" pitchFamily="49" charset="0"/>
              </a:rPr>
              <a:t>(True)</a:t>
            </a:r>
          </a:p>
          <a:p>
            <a:r>
              <a:rPr lang="en-IN" sz="1400" dirty="0" err="1">
                <a:latin typeface="Courier New" panose="02070309020205020404" pitchFamily="49" charset="0"/>
              </a:rPr>
              <a:t>plt.tight_layout</a:t>
            </a:r>
            <a:r>
              <a:rPr lang="en-IN" sz="1400" dirty="0">
                <a:latin typeface="Courier New" panose="02070309020205020404" pitchFamily="49" charset="0"/>
              </a:rPr>
              <a:t>()</a:t>
            </a:r>
          </a:p>
          <a:p>
            <a:r>
              <a:rPr lang="en-IN" sz="1400" dirty="0" err="1">
                <a:latin typeface="Courier New" panose="02070309020205020404" pitchFamily="49" charset="0"/>
              </a:rPr>
              <a:t>plt.show</a:t>
            </a:r>
            <a:r>
              <a:rPr lang="en-IN" sz="1400" dirty="0">
                <a:latin typeface="Courier New" panose="02070309020205020404" pitchFamily="49" charset="0"/>
              </a:rPr>
              <a:t>()</a:t>
            </a:r>
            <a:endParaRPr lang="en-IN" sz="1400" b="0" dirty="0">
              <a:effectLst/>
              <a:latin typeface="Courier New" panose="02070309020205020404" pitchFamily="49" charset="0"/>
            </a:endParaRPr>
          </a:p>
        </p:txBody>
      </p:sp>
      <p:sp>
        <p:nvSpPr>
          <p:cNvPr id="11" name="Rectangle 10">
            <a:extLst>
              <a:ext uri="{FF2B5EF4-FFF2-40B4-BE49-F238E27FC236}">
                <a16:creationId xmlns:a16="http://schemas.microsoft.com/office/drawing/2014/main" id="{F44DEFC5-5012-4B89-B04D-A764FB80BCD1}"/>
              </a:ext>
            </a:extLst>
          </p:cNvPr>
          <p:cNvSpPr/>
          <p:nvPr/>
        </p:nvSpPr>
        <p:spPr>
          <a:xfrm>
            <a:off x="6476202" y="3589891"/>
            <a:ext cx="5715798" cy="2123658"/>
          </a:xfrm>
          <a:prstGeom prst="rect">
            <a:avLst/>
          </a:prstGeom>
        </p:spPr>
        <p:txBody>
          <a:bodyPr wrap="square">
            <a:spAutoFit/>
          </a:bodyPr>
          <a:lstStyle/>
          <a:p>
            <a:r>
              <a:rPr lang="en-IN" sz="1200" dirty="0" err="1">
                <a:latin typeface="Courier New" panose="02070309020205020404" pitchFamily="49" charset="0"/>
              </a:rPr>
              <a:t>monthly_fire</a:t>
            </a:r>
            <a:r>
              <a:rPr lang="en-IN" sz="1200" dirty="0">
                <a:latin typeface="Courier New" panose="02070309020205020404" pitchFamily="49" charset="0"/>
              </a:rPr>
              <a:t> = </a:t>
            </a:r>
            <a:r>
              <a:rPr lang="en-IN" sz="1200" dirty="0" err="1">
                <a:latin typeface="Courier New" panose="02070309020205020404" pitchFamily="49" charset="0"/>
              </a:rPr>
              <a:t>all_power_df.groupby</a:t>
            </a:r>
            <a:r>
              <a:rPr lang="en-IN" sz="1200" dirty="0">
                <a:latin typeface="Courier New" panose="02070309020205020404" pitchFamily="49" charset="0"/>
              </a:rPr>
              <a:t>(</a:t>
            </a:r>
            <a:r>
              <a:rPr lang="en-IN" sz="1200" dirty="0" err="1">
                <a:latin typeface="Courier New" panose="02070309020205020404" pitchFamily="49" charset="0"/>
              </a:rPr>
              <a:t>all_power_df</a:t>
            </a:r>
            <a:r>
              <a:rPr lang="en-IN" sz="1200" dirty="0">
                <a:latin typeface="Courier New" panose="02070309020205020404" pitchFamily="49" charset="0"/>
              </a:rPr>
              <a:t>['date'].</a:t>
            </a:r>
            <a:r>
              <a:rPr lang="en-IN" sz="1200" dirty="0" err="1">
                <a:latin typeface="Courier New" panose="02070309020205020404" pitchFamily="49" charset="0"/>
              </a:rPr>
              <a:t>dt.to_period</a:t>
            </a:r>
            <a:r>
              <a:rPr lang="en-IN" sz="1200" dirty="0">
                <a:latin typeface="Courier New" panose="02070309020205020404" pitchFamily="49" charset="0"/>
              </a:rPr>
              <a:t>('M'))['</a:t>
            </a:r>
            <a:r>
              <a:rPr lang="en-IN" sz="1200" dirty="0" err="1">
                <a:latin typeface="Courier New" panose="02070309020205020404" pitchFamily="49" charset="0"/>
              </a:rPr>
              <a:t>fire_occurred</a:t>
            </a:r>
            <a:r>
              <a:rPr lang="en-IN" sz="1200" dirty="0">
                <a:latin typeface="Courier New" panose="02070309020205020404" pitchFamily="49" charset="0"/>
              </a:rPr>
              <a:t>'].sum()</a:t>
            </a:r>
          </a:p>
          <a:p>
            <a:r>
              <a:rPr lang="en-IN" sz="1200" dirty="0" err="1">
                <a:latin typeface="Courier New" panose="02070309020205020404" pitchFamily="49" charset="0"/>
              </a:rPr>
              <a:t>plt.figure</a:t>
            </a:r>
            <a:r>
              <a:rPr lang="en-IN" sz="1200" dirty="0">
                <a:latin typeface="Courier New" panose="02070309020205020404" pitchFamily="49" charset="0"/>
              </a:rPr>
              <a:t>(</a:t>
            </a:r>
            <a:r>
              <a:rPr lang="en-IN" sz="1200" dirty="0" err="1">
                <a:latin typeface="Courier New" panose="02070309020205020404" pitchFamily="49" charset="0"/>
              </a:rPr>
              <a:t>figsize</a:t>
            </a:r>
            <a:r>
              <a:rPr lang="en-IN" sz="1200" dirty="0">
                <a:latin typeface="Courier New" panose="02070309020205020404" pitchFamily="49" charset="0"/>
              </a:rPr>
              <a:t>=(12, 5))</a:t>
            </a:r>
          </a:p>
          <a:p>
            <a:r>
              <a:rPr lang="en-IN" sz="1200" dirty="0" err="1">
                <a:latin typeface="Courier New" panose="02070309020205020404" pitchFamily="49" charset="0"/>
              </a:rPr>
              <a:t>monthly_fire.plot</a:t>
            </a:r>
            <a:r>
              <a:rPr lang="en-IN" sz="1200" dirty="0">
                <a:latin typeface="Courier New" panose="02070309020205020404" pitchFamily="49" charset="0"/>
              </a:rPr>
              <a:t>()</a:t>
            </a:r>
          </a:p>
          <a:p>
            <a:r>
              <a:rPr lang="en-IN" sz="1200" dirty="0" err="1">
                <a:latin typeface="Courier New" panose="02070309020205020404" pitchFamily="49" charset="0"/>
              </a:rPr>
              <a:t>plt.title</a:t>
            </a:r>
            <a:r>
              <a:rPr lang="en-IN" sz="1200" dirty="0">
                <a:latin typeface="Courier New" panose="02070309020205020404" pitchFamily="49" charset="0"/>
              </a:rPr>
              <a:t>(“Year-wise Fire Occurrence Over Time")</a:t>
            </a:r>
          </a:p>
          <a:p>
            <a:r>
              <a:rPr lang="en-IN" sz="1200" dirty="0" err="1">
                <a:latin typeface="Courier New" panose="02070309020205020404" pitchFamily="49" charset="0"/>
              </a:rPr>
              <a:t>plt.xlabel</a:t>
            </a:r>
            <a:r>
              <a:rPr lang="en-IN" sz="1200" dirty="0">
                <a:latin typeface="Courier New" panose="02070309020205020404" pitchFamily="49" charset="0"/>
              </a:rPr>
              <a:t>(“Year")</a:t>
            </a:r>
          </a:p>
          <a:p>
            <a:r>
              <a:rPr lang="en-IN" sz="1200" dirty="0" err="1">
                <a:latin typeface="Courier New" panose="02070309020205020404" pitchFamily="49" charset="0"/>
              </a:rPr>
              <a:t>plt.ylabel</a:t>
            </a:r>
            <a:r>
              <a:rPr lang="en-IN" sz="1200" dirty="0">
                <a:latin typeface="Courier New" panose="02070309020205020404" pitchFamily="49" charset="0"/>
              </a:rPr>
              <a:t>("Fire Count")</a:t>
            </a:r>
          </a:p>
          <a:p>
            <a:r>
              <a:rPr lang="en-IN" sz="1200" dirty="0" err="1">
                <a:latin typeface="Courier New" panose="02070309020205020404" pitchFamily="49" charset="0"/>
              </a:rPr>
              <a:t>plt.grid</a:t>
            </a:r>
            <a:r>
              <a:rPr lang="en-IN" sz="1200" dirty="0">
                <a:latin typeface="Courier New" panose="02070309020205020404" pitchFamily="49" charset="0"/>
              </a:rPr>
              <a:t>(True)</a:t>
            </a:r>
          </a:p>
          <a:p>
            <a:r>
              <a:rPr lang="en-IN" sz="1200" dirty="0" err="1">
                <a:latin typeface="Courier New" panose="02070309020205020404" pitchFamily="49" charset="0"/>
              </a:rPr>
              <a:t>plt.tight_layout</a:t>
            </a:r>
            <a:r>
              <a:rPr lang="en-IN" sz="1200" dirty="0">
                <a:latin typeface="Courier New" panose="02070309020205020404" pitchFamily="49" charset="0"/>
              </a:rPr>
              <a:t>()</a:t>
            </a:r>
          </a:p>
          <a:p>
            <a:r>
              <a:rPr lang="en-IN" sz="1200" dirty="0" err="1">
                <a:latin typeface="Courier New" panose="02070309020205020404" pitchFamily="49" charset="0"/>
              </a:rPr>
              <a:t>plt.show</a:t>
            </a:r>
            <a:r>
              <a:rPr lang="en-IN" sz="1200" dirty="0">
                <a:latin typeface="Courier New" panose="02070309020205020404" pitchFamily="49" charset="0"/>
              </a:rPr>
              <a:t>()</a:t>
            </a:r>
            <a:endParaRPr lang="en-IN" sz="1200" b="0" dirty="0">
              <a:effectLst/>
              <a:latin typeface="Courier New" panose="020703090202050204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1B5D9-D5EE-4022-B98E-A675971161F4}"/>
              </a:ext>
            </a:extLst>
          </p:cNvPr>
          <p:cNvSpPr>
            <a:spLocks noGrp="1"/>
          </p:cNvSpPr>
          <p:nvPr>
            <p:ph type="title"/>
          </p:nvPr>
        </p:nvSpPr>
        <p:spPr/>
        <p:txBody>
          <a:bodyPr/>
          <a:lstStyle/>
          <a:p>
            <a:r>
              <a:rPr lang="en-US" dirty="0"/>
              <a:t>RESULT &amp; ANALYSIS</a:t>
            </a:r>
            <a:endParaRPr lang="en-IN" dirty="0"/>
          </a:p>
        </p:txBody>
      </p:sp>
      <p:sp>
        <p:nvSpPr>
          <p:cNvPr id="3" name="Text Placeholder 2">
            <a:extLst>
              <a:ext uri="{FF2B5EF4-FFF2-40B4-BE49-F238E27FC236}">
                <a16:creationId xmlns:a16="http://schemas.microsoft.com/office/drawing/2014/main" id="{69F1ADAC-48FA-4050-B0ED-795BD00661B8}"/>
              </a:ext>
            </a:extLst>
          </p:cNvPr>
          <p:cNvSpPr>
            <a:spLocks noGrp="1"/>
          </p:cNvSpPr>
          <p:nvPr>
            <p:ph type="body" idx="1"/>
          </p:nvPr>
        </p:nvSpPr>
        <p:spPr>
          <a:xfrm>
            <a:off x="6172200" y="1524000"/>
            <a:ext cx="5867400" cy="3616644"/>
          </a:xfrm>
        </p:spPr>
        <p:txBody>
          <a:bodyPr/>
          <a:lstStyle/>
          <a:p>
            <a:r>
              <a:rPr lang="en-IN" dirty="0"/>
              <a:t>from </a:t>
            </a:r>
            <a:r>
              <a:rPr lang="en-IN" dirty="0" err="1"/>
              <a:t>sklearn.metrics</a:t>
            </a:r>
            <a:r>
              <a:rPr lang="en-IN" dirty="0"/>
              <a:t> import </a:t>
            </a:r>
            <a:r>
              <a:rPr lang="en-IN" dirty="0" err="1"/>
              <a:t>roc_auc_score</a:t>
            </a:r>
            <a:br>
              <a:rPr lang="en-IN" dirty="0"/>
            </a:br>
            <a:r>
              <a:rPr lang="en-IN" dirty="0" err="1"/>
              <a:t>plt.figure</a:t>
            </a:r>
            <a:r>
              <a:rPr lang="en-IN" dirty="0"/>
              <a:t>(</a:t>
            </a:r>
            <a:r>
              <a:rPr lang="en-IN" dirty="0" err="1"/>
              <a:t>figsize</a:t>
            </a:r>
            <a:r>
              <a:rPr lang="en-IN" dirty="0"/>
              <a:t>=(7, 5))</a:t>
            </a:r>
          </a:p>
          <a:p>
            <a:r>
              <a:rPr lang="en-IN" dirty="0" err="1"/>
              <a:t>plt.plot</a:t>
            </a:r>
            <a:r>
              <a:rPr lang="en-IN" dirty="0"/>
              <a:t>(</a:t>
            </a:r>
            <a:r>
              <a:rPr lang="en-IN" dirty="0" err="1"/>
              <a:t>fpr</a:t>
            </a:r>
            <a:r>
              <a:rPr lang="en-IN" dirty="0"/>
              <a:t>, </a:t>
            </a:r>
            <a:r>
              <a:rPr lang="en-IN" dirty="0" err="1"/>
              <a:t>tpr</a:t>
            </a:r>
            <a:r>
              <a:rPr lang="en-IN" dirty="0"/>
              <a:t>, label=</a:t>
            </a:r>
            <a:r>
              <a:rPr lang="en-IN" dirty="0" err="1"/>
              <a:t>f"Stacked</a:t>
            </a:r>
            <a:r>
              <a:rPr lang="en-IN" dirty="0"/>
              <a:t> Model (AUC = {</a:t>
            </a:r>
            <a:r>
              <a:rPr lang="en-IN" dirty="0" err="1"/>
              <a:t>roc_auc_score</a:t>
            </a:r>
            <a:r>
              <a:rPr lang="en-IN" dirty="0"/>
              <a:t>(</a:t>
            </a:r>
            <a:r>
              <a:rPr lang="en-IN" dirty="0" err="1"/>
              <a:t>y_test</a:t>
            </a:r>
            <a:r>
              <a:rPr lang="en-IN" dirty="0"/>
              <a:t>, </a:t>
            </a:r>
            <a:r>
              <a:rPr lang="en-IN" dirty="0" err="1"/>
              <a:t>y_pred_prob</a:t>
            </a:r>
            <a:r>
              <a:rPr lang="en-IN" dirty="0"/>
              <a:t>):.2f})")</a:t>
            </a:r>
          </a:p>
          <a:p>
            <a:r>
              <a:rPr lang="en-IN" dirty="0" err="1"/>
              <a:t>plt.plot</a:t>
            </a:r>
            <a:r>
              <a:rPr lang="en-IN" dirty="0"/>
              <a:t>([0, 1], [0, 1], 'k--', label='Random Classifier')</a:t>
            </a:r>
          </a:p>
          <a:p>
            <a:r>
              <a:rPr lang="en-IN" dirty="0" err="1"/>
              <a:t>plt.xlabel</a:t>
            </a:r>
            <a:r>
              <a:rPr lang="en-IN" dirty="0"/>
              <a:t>("False Positive Rate")</a:t>
            </a:r>
          </a:p>
          <a:p>
            <a:r>
              <a:rPr lang="en-IN" dirty="0" err="1"/>
              <a:t>plt.ylabel</a:t>
            </a:r>
            <a:r>
              <a:rPr lang="en-IN" dirty="0"/>
              <a:t>("True Positive Rate")</a:t>
            </a:r>
          </a:p>
          <a:p>
            <a:r>
              <a:rPr lang="en-IN" dirty="0" err="1"/>
              <a:t>plt.title</a:t>
            </a:r>
            <a:r>
              <a:rPr lang="en-IN" dirty="0"/>
              <a:t>("ROC Curve")</a:t>
            </a:r>
          </a:p>
          <a:p>
            <a:r>
              <a:rPr lang="en-IN" dirty="0" err="1"/>
              <a:t>plt.legend</a:t>
            </a:r>
            <a:r>
              <a:rPr lang="en-IN" dirty="0"/>
              <a:t>(</a:t>
            </a:r>
            <a:r>
              <a:rPr lang="en-IN" dirty="0" err="1"/>
              <a:t>loc</a:t>
            </a:r>
            <a:r>
              <a:rPr lang="en-IN" dirty="0"/>
              <a:t>="lower right")</a:t>
            </a:r>
          </a:p>
          <a:p>
            <a:r>
              <a:rPr lang="en-IN" dirty="0" err="1"/>
              <a:t>plt.grid</a:t>
            </a:r>
            <a:r>
              <a:rPr lang="en-IN" dirty="0"/>
              <a:t>()</a:t>
            </a:r>
          </a:p>
          <a:p>
            <a:r>
              <a:rPr lang="en-IN" dirty="0" err="1"/>
              <a:t>plt.show</a:t>
            </a:r>
            <a:r>
              <a:rPr lang="en-IN" dirty="0"/>
              <a:t>()</a:t>
            </a:r>
          </a:p>
          <a:p>
            <a:endParaRPr lang="en-IN" dirty="0"/>
          </a:p>
        </p:txBody>
      </p:sp>
      <p:pic>
        <p:nvPicPr>
          <p:cNvPr id="4" name="Picture 3">
            <a:extLst>
              <a:ext uri="{FF2B5EF4-FFF2-40B4-BE49-F238E27FC236}">
                <a16:creationId xmlns:a16="http://schemas.microsoft.com/office/drawing/2014/main" id="{EFD1C2C1-9425-441D-8D8B-85EA63A41365}"/>
              </a:ext>
            </a:extLst>
          </p:cNvPr>
          <p:cNvPicPr>
            <a:picLocks noChangeAspect="1"/>
          </p:cNvPicPr>
          <p:nvPr/>
        </p:nvPicPr>
        <p:blipFill>
          <a:blip r:embed="rId2"/>
          <a:stretch>
            <a:fillRect/>
          </a:stretch>
        </p:blipFill>
        <p:spPr>
          <a:xfrm>
            <a:off x="931274" y="1350056"/>
            <a:ext cx="4852470" cy="3221944"/>
          </a:xfrm>
          <a:prstGeom prst="rect">
            <a:avLst/>
          </a:prstGeom>
        </p:spPr>
      </p:pic>
      <p:sp>
        <p:nvSpPr>
          <p:cNvPr id="5" name="TextBox 4">
            <a:extLst>
              <a:ext uri="{FF2B5EF4-FFF2-40B4-BE49-F238E27FC236}">
                <a16:creationId xmlns:a16="http://schemas.microsoft.com/office/drawing/2014/main" id="{91CB3ECB-9A00-444C-B85F-9B615F093CBF}"/>
              </a:ext>
            </a:extLst>
          </p:cNvPr>
          <p:cNvSpPr txBox="1"/>
          <p:nvPr/>
        </p:nvSpPr>
        <p:spPr>
          <a:xfrm>
            <a:off x="1371600" y="4841411"/>
            <a:ext cx="4412144"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ROC–AUC of 0.87 demonstrates strong and reliable discrimination between fire and non-fire events, supporting effective early fire detection.</a:t>
            </a:r>
            <a:endParaRPr lang="en-US" alt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53270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7">
            <a:extLst>
              <a:ext uri="{FF2B5EF4-FFF2-40B4-BE49-F238E27FC236}">
                <a16:creationId xmlns:a16="http://schemas.microsoft.com/office/drawing/2014/main" id="{25A6E703-6DA9-427B-8F4B-3C2926AC0D17}"/>
              </a:ext>
            </a:extLst>
          </p:cNvPr>
          <p:cNvSpPr>
            <a:spLocks noGrp="1"/>
          </p:cNvSpPr>
          <p:nvPr>
            <p:ph type="title"/>
          </p:nvPr>
        </p:nvSpPr>
        <p:spPr>
          <a:xfrm>
            <a:off x="2806699" y="529843"/>
            <a:ext cx="6578600" cy="701040"/>
          </a:xfrm>
        </p:spPr>
        <p:txBody>
          <a:bodyPr/>
          <a:lstStyle/>
          <a:p>
            <a:r>
              <a:rPr lang="en-IN" dirty="0"/>
              <a:t>RESULTS &amp; ANALYSIS</a:t>
            </a:r>
          </a:p>
        </p:txBody>
      </p:sp>
      <p:sp>
        <p:nvSpPr>
          <p:cNvPr id="5" name="Content Placeholder 8">
            <a:extLst>
              <a:ext uri="{FF2B5EF4-FFF2-40B4-BE49-F238E27FC236}">
                <a16:creationId xmlns:a16="http://schemas.microsoft.com/office/drawing/2014/main" id="{8B268923-AB52-4991-A1D1-CCC4E4B65033}"/>
              </a:ext>
            </a:extLst>
          </p:cNvPr>
          <p:cNvSpPr txBox="1">
            <a:spLocks/>
          </p:cNvSpPr>
          <p:nvPr/>
        </p:nvSpPr>
        <p:spPr>
          <a:xfrm>
            <a:off x="381000" y="1577340"/>
            <a:ext cx="6019800" cy="528066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600" b="1" dirty="0"/>
              <a:t>Feature Importance Analysis (</a:t>
            </a:r>
            <a:r>
              <a:rPr lang="en-US" sz="1600" b="1" dirty="0" err="1"/>
              <a:t>LightGBM</a:t>
            </a:r>
            <a:r>
              <a:rPr lang="en-US" sz="1600" b="1" dirty="0"/>
              <a:t>):</a:t>
            </a:r>
          </a:p>
          <a:p>
            <a:r>
              <a:rPr lang="en-US" sz="1600" dirty="0" err="1"/>
              <a:t>LightGBM</a:t>
            </a:r>
            <a:r>
              <a:rPr lang="en-US" sz="1600" dirty="0"/>
              <a:t> identified the most influential predictors contributing to fire occurrence.</a:t>
            </a:r>
            <a:br>
              <a:rPr lang="en-US" sz="1600" dirty="0"/>
            </a:br>
            <a:r>
              <a:rPr lang="en-US" sz="1600" dirty="0"/>
              <a:t>Top contributing features include:</a:t>
            </a:r>
          </a:p>
          <a:p>
            <a:r>
              <a:rPr lang="en-US" sz="1600" b="1" dirty="0"/>
              <a:t>Temperature (T2M) &amp; Humidity (RH2M) lag features</a:t>
            </a:r>
            <a:endParaRPr lang="en-US" sz="1600" dirty="0"/>
          </a:p>
          <a:p>
            <a:r>
              <a:rPr lang="en-US" sz="1600" b="1" dirty="0"/>
              <a:t>NDVI snapshots (vegetation health indicators)</a:t>
            </a:r>
            <a:endParaRPr lang="en-US" sz="1600" dirty="0"/>
          </a:p>
          <a:p>
            <a:r>
              <a:rPr lang="en-US" sz="1600" b="1" dirty="0"/>
              <a:t>Season &amp; Day-of-Year</a:t>
            </a:r>
            <a:endParaRPr lang="en-US" sz="1600" dirty="0"/>
          </a:p>
          <a:p>
            <a:r>
              <a:rPr lang="en-US" sz="1600" b="1" dirty="0"/>
              <a:t>Precipitation (PRECTOTCORR)</a:t>
            </a:r>
            <a:endParaRPr lang="en-US" sz="1600" dirty="0"/>
          </a:p>
          <a:p>
            <a:r>
              <a:rPr lang="en-US" sz="1600" dirty="0"/>
              <a:t>This confirms that vegetation dryness, heat buildup, and seasonal climate patterns play a major role in fire risk.</a:t>
            </a:r>
          </a:p>
          <a:p>
            <a:r>
              <a:rPr lang="en-US" sz="1600" b="1" dirty="0"/>
              <a:t>Model Interpretability &amp; Insights:</a:t>
            </a:r>
          </a:p>
          <a:p>
            <a:r>
              <a:rPr lang="en-US" sz="1600" b="1" dirty="0"/>
              <a:t>Feature Influence Results:</a:t>
            </a:r>
            <a:br>
              <a:rPr lang="en-US" sz="1600" dirty="0"/>
            </a:br>
            <a:r>
              <a:rPr lang="en-US" sz="1600" dirty="0"/>
              <a:t>Most influential inputs affecting fire prediction:</a:t>
            </a:r>
          </a:p>
          <a:p>
            <a:r>
              <a:rPr lang="en-US" sz="1600" b="1" dirty="0"/>
              <a:t>T2M_lag values (1–7 days)</a:t>
            </a:r>
            <a:endParaRPr lang="en-US" sz="1600" dirty="0"/>
          </a:p>
          <a:p>
            <a:r>
              <a:rPr lang="en-US" sz="1600" b="1" dirty="0"/>
              <a:t>NDVI Snapshot Features</a:t>
            </a:r>
            <a:endParaRPr lang="en-US" sz="1600" dirty="0"/>
          </a:p>
          <a:p>
            <a:r>
              <a:rPr lang="en-US" sz="1600" b="1" dirty="0"/>
              <a:t>RH2M Lag Indicators</a:t>
            </a:r>
            <a:endParaRPr lang="en-US" sz="1600" dirty="0"/>
          </a:p>
          <a:p>
            <a:r>
              <a:rPr lang="en-US" sz="1600" b="1" dirty="0"/>
              <a:t>Seasonal Category (0–3)</a:t>
            </a:r>
            <a:endParaRPr lang="en-US" sz="1600" dirty="0"/>
          </a:p>
          <a:p>
            <a:r>
              <a:rPr lang="en-US" sz="1600" b="1" dirty="0"/>
              <a:t>Day-of-Year (DOY)</a:t>
            </a:r>
            <a:endParaRPr lang="en-US" sz="1600" dirty="0"/>
          </a:p>
          <a:p>
            <a:endParaRPr lang="en-IN" sz="1600" b="1" kern="0" dirty="0">
              <a:solidFill>
                <a:sysClr val="windowText" lastClr="000000"/>
              </a:solidFill>
            </a:endParaRPr>
          </a:p>
          <a:p>
            <a:endParaRPr lang="en-IN" sz="1600" kern="0" dirty="0">
              <a:solidFill>
                <a:sysClr val="windowText" lastClr="000000"/>
              </a:solidFill>
            </a:endParaRPr>
          </a:p>
          <a:p>
            <a:endParaRPr lang="en-IN" kern="0" dirty="0">
              <a:solidFill>
                <a:sysClr val="windowText" lastClr="000000"/>
              </a:solidFill>
            </a:endParaRPr>
          </a:p>
        </p:txBody>
      </p:sp>
      <p:sp>
        <p:nvSpPr>
          <p:cNvPr id="6" name="Content Placeholder 14">
            <a:extLst>
              <a:ext uri="{FF2B5EF4-FFF2-40B4-BE49-F238E27FC236}">
                <a16:creationId xmlns:a16="http://schemas.microsoft.com/office/drawing/2014/main" id="{69CB07A7-247B-41B8-8429-9AAA2E40067A}"/>
              </a:ext>
            </a:extLst>
          </p:cNvPr>
          <p:cNvSpPr txBox="1">
            <a:spLocks/>
          </p:cNvSpPr>
          <p:nvPr/>
        </p:nvSpPr>
        <p:spPr>
          <a:xfrm>
            <a:off x="6400800" y="4038600"/>
            <a:ext cx="5303520" cy="2739211"/>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600" b="1" dirty="0"/>
              <a:t>Key Observations from the Graph:</a:t>
            </a:r>
          </a:p>
          <a:p>
            <a:r>
              <a:rPr lang="en-US" sz="1600" b="1" dirty="0"/>
              <a:t>Stacking Ensemble surpasses all individual models</a:t>
            </a:r>
            <a:r>
              <a:rPr lang="en-US" sz="1600" dirty="0"/>
              <a:t>, showing the strongest predictive performance.</a:t>
            </a:r>
          </a:p>
          <a:p>
            <a:r>
              <a:rPr lang="en-US" sz="1600" dirty="0"/>
              <a:t>It achieves the </a:t>
            </a:r>
            <a:r>
              <a:rPr lang="en-US" sz="1600" b="1" dirty="0"/>
              <a:t>highest accuracy (~91%)</a:t>
            </a:r>
            <a:r>
              <a:rPr lang="en-US" sz="1600" dirty="0"/>
              <a:t>, demonstrating strong generalization for forest fire prediction.</a:t>
            </a:r>
          </a:p>
          <a:p>
            <a:r>
              <a:rPr lang="en-US" sz="1600" b="1" dirty="0"/>
              <a:t>Precision and Recall are well-balanced</a:t>
            </a:r>
            <a:r>
              <a:rPr lang="en-US" sz="1600" dirty="0"/>
              <a:t> compared to other models, indicating fewer false alarms and better fire event detection.</a:t>
            </a:r>
          </a:p>
          <a:p>
            <a:endParaRPr lang="en-US" sz="1600" kern="0" dirty="0">
              <a:solidFill>
                <a:sysClr val="windowText" lastClr="000000"/>
              </a:solidFill>
            </a:endParaRPr>
          </a:p>
          <a:p>
            <a:endParaRPr lang="en-US" sz="1600" kern="0" dirty="0">
              <a:solidFill>
                <a:sysClr val="windowText" lastClr="000000"/>
              </a:solidFill>
            </a:endParaRPr>
          </a:p>
          <a:p>
            <a:endParaRPr lang="en-IN" kern="0" dirty="0">
              <a:solidFill>
                <a:sysClr val="windowText" lastClr="000000"/>
              </a:solidFill>
            </a:endParaRPr>
          </a:p>
        </p:txBody>
      </p:sp>
      <p:pic>
        <p:nvPicPr>
          <p:cNvPr id="7" name="Picture 1">
            <a:extLst>
              <a:ext uri="{FF2B5EF4-FFF2-40B4-BE49-F238E27FC236}">
                <a16:creationId xmlns:a16="http://schemas.microsoft.com/office/drawing/2014/main" id="{F8CB0110-3026-4FE0-9E16-29661376E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553200" y="1676400"/>
            <a:ext cx="3963691"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966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7312781-0474-4394-9A1C-C324D9C6D339}"/>
              </a:ext>
            </a:extLst>
          </p:cNvPr>
          <p:cNvSpPr>
            <a:spLocks noGrp="1"/>
          </p:cNvSpPr>
          <p:nvPr>
            <p:ph type="title"/>
          </p:nvPr>
        </p:nvSpPr>
        <p:spPr>
          <a:xfrm>
            <a:off x="2806699" y="529843"/>
            <a:ext cx="6578600" cy="701040"/>
          </a:xfrm>
        </p:spPr>
        <p:txBody>
          <a:bodyPr/>
          <a:lstStyle/>
          <a:p>
            <a:r>
              <a:rPr lang="en-IN" dirty="0"/>
              <a:t>RESULTS &amp; ANALYSIS</a:t>
            </a:r>
          </a:p>
        </p:txBody>
      </p:sp>
      <p:sp>
        <p:nvSpPr>
          <p:cNvPr id="5" name="Text Placeholder 2">
            <a:extLst>
              <a:ext uri="{FF2B5EF4-FFF2-40B4-BE49-F238E27FC236}">
                <a16:creationId xmlns:a16="http://schemas.microsoft.com/office/drawing/2014/main" id="{EA033E79-D7E6-4DD3-A54F-971A74DF8EFE}"/>
              </a:ext>
            </a:extLst>
          </p:cNvPr>
          <p:cNvSpPr>
            <a:spLocks noGrp="1"/>
          </p:cNvSpPr>
          <p:nvPr>
            <p:ph type="body" idx="1"/>
          </p:nvPr>
        </p:nvSpPr>
        <p:spPr>
          <a:xfrm>
            <a:off x="772274" y="1295400"/>
            <a:ext cx="10356850" cy="738664"/>
          </a:xfrm>
        </p:spPr>
        <p:txBody>
          <a:bodyPr/>
          <a:lstStyle/>
          <a:p>
            <a:r>
              <a:rPr lang="en-US" sz="2400" b="1" dirty="0"/>
              <a:t>Comparative Analysis – Previous Works </a:t>
            </a:r>
            <a:r>
              <a:rPr lang="en-US" sz="2400" b="1" dirty="0" err="1"/>
              <a:t>vs</a:t>
            </a:r>
            <a:r>
              <a:rPr lang="en-US" sz="2400" b="1" dirty="0"/>
              <a:t> Present Work</a:t>
            </a:r>
          </a:p>
          <a:p>
            <a:endParaRPr lang="en-IN" sz="2400" b="1" dirty="0"/>
          </a:p>
        </p:txBody>
      </p:sp>
      <p:graphicFrame>
        <p:nvGraphicFramePr>
          <p:cNvPr id="6" name="Table 5">
            <a:extLst>
              <a:ext uri="{FF2B5EF4-FFF2-40B4-BE49-F238E27FC236}">
                <a16:creationId xmlns:a16="http://schemas.microsoft.com/office/drawing/2014/main" id="{9E7FFEC6-9CB4-4ABD-8CAF-E55A8BC85464}"/>
              </a:ext>
            </a:extLst>
          </p:cNvPr>
          <p:cNvGraphicFramePr>
            <a:graphicFrameLocks noGrp="1"/>
          </p:cNvGraphicFramePr>
          <p:nvPr>
            <p:extLst>
              <p:ext uri="{D42A27DB-BD31-4B8C-83A1-F6EECF244321}">
                <p14:modId xmlns:p14="http://schemas.microsoft.com/office/powerpoint/2010/main" val="372908359"/>
              </p:ext>
            </p:extLst>
          </p:nvPr>
        </p:nvGraphicFramePr>
        <p:xfrm>
          <a:off x="762000" y="1828800"/>
          <a:ext cx="9413199" cy="4846471"/>
        </p:xfrm>
        <a:graphic>
          <a:graphicData uri="http://schemas.openxmlformats.org/drawingml/2006/table">
            <a:tbl>
              <a:tblPr/>
              <a:tblGrid>
                <a:gridCol w="22860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3393399">
                  <a:extLst>
                    <a:ext uri="{9D8B030D-6E8A-4147-A177-3AD203B41FA5}">
                      <a16:colId xmlns:a16="http://schemas.microsoft.com/office/drawing/2014/main" val="20002"/>
                    </a:ext>
                  </a:extLst>
                </a:gridCol>
              </a:tblGrid>
              <a:tr h="612373">
                <a:tc>
                  <a:txBody>
                    <a:bodyPr/>
                    <a:lstStyle/>
                    <a:p>
                      <a:r>
                        <a:rPr lang="en-IN" sz="1200" b="1" dirty="0"/>
                        <a:t>Aspect</a:t>
                      </a:r>
                      <a:endParaRPr lang="en-IN" sz="1200" dirty="0"/>
                    </a:p>
                  </a:txBody>
                  <a:tcPr anchor="ctr">
                    <a:lnL>
                      <a:noFill/>
                    </a:lnL>
                    <a:lnR>
                      <a:noFill/>
                    </a:lnR>
                    <a:lnT>
                      <a:noFill/>
                    </a:lnT>
                    <a:lnB>
                      <a:noFill/>
                    </a:lnB>
                  </a:tcPr>
                </a:tc>
                <a:tc>
                  <a:txBody>
                    <a:bodyPr/>
                    <a:lstStyle/>
                    <a:p>
                      <a:r>
                        <a:rPr lang="en-IN" sz="1200" b="1"/>
                        <a:t>Previous Works</a:t>
                      </a:r>
                      <a:endParaRPr lang="en-IN" sz="1200"/>
                    </a:p>
                  </a:txBody>
                  <a:tcPr anchor="ctr">
                    <a:lnL>
                      <a:noFill/>
                    </a:lnL>
                    <a:lnR>
                      <a:noFill/>
                    </a:lnR>
                    <a:lnT>
                      <a:noFill/>
                    </a:lnT>
                    <a:lnB>
                      <a:noFill/>
                    </a:lnB>
                  </a:tcPr>
                </a:tc>
                <a:tc>
                  <a:txBody>
                    <a:bodyPr/>
                    <a:lstStyle/>
                    <a:p>
                      <a:r>
                        <a:rPr lang="en-IN" sz="1200" b="1"/>
                        <a:t>Present Work (Proposed Model)</a:t>
                      </a:r>
                      <a:endParaRPr lang="en-IN" sz="1200"/>
                    </a:p>
                  </a:txBody>
                  <a:tcPr anchor="ctr">
                    <a:lnL>
                      <a:noFill/>
                    </a:lnL>
                    <a:lnR>
                      <a:noFill/>
                    </a:lnR>
                    <a:lnT>
                      <a:noFill/>
                    </a:lnT>
                    <a:lnB>
                      <a:noFill/>
                    </a:lnB>
                  </a:tcPr>
                </a:tc>
                <a:extLst>
                  <a:ext uri="{0D108BD9-81ED-4DB2-BD59-A6C34878D82A}">
                    <a16:rowId xmlns:a16="http://schemas.microsoft.com/office/drawing/2014/main" val="10000"/>
                  </a:ext>
                </a:extLst>
              </a:tr>
              <a:tr h="553283">
                <a:tc>
                  <a:txBody>
                    <a:bodyPr/>
                    <a:lstStyle/>
                    <a:p>
                      <a:r>
                        <a:rPr lang="en-IN" sz="1200" b="1"/>
                        <a:t>Focus Area</a:t>
                      </a:r>
                      <a:endParaRPr lang="en-IN" sz="1200"/>
                    </a:p>
                  </a:txBody>
                  <a:tcPr anchor="ctr">
                    <a:lnL>
                      <a:noFill/>
                    </a:lnL>
                    <a:lnR>
                      <a:noFill/>
                    </a:lnR>
                    <a:lnT>
                      <a:noFill/>
                    </a:lnT>
                    <a:lnB>
                      <a:noFill/>
                    </a:lnB>
                  </a:tcPr>
                </a:tc>
                <a:tc>
                  <a:txBody>
                    <a:bodyPr/>
                    <a:lstStyle/>
                    <a:p>
                      <a:r>
                        <a:rPr lang="en-US" sz="1200"/>
                        <a:t>Basic fire detection or hotspot mapping</a:t>
                      </a:r>
                    </a:p>
                  </a:txBody>
                  <a:tcPr anchor="ctr">
                    <a:lnL>
                      <a:noFill/>
                    </a:lnL>
                    <a:lnR>
                      <a:noFill/>
                    </a:lnR>
                    <a:lnT>
                      <a:noFill/>
                    </a:lnT>
                    <a:lnB>
                      <a:noFill/>
                    </a:lnB>
                  </a:tcPr>
                </a:tc>
                <a:tc>
                  <a:txBody>
                    <a:bodyPr/>
                    <a:lstStyle/>
                    <a:p>
                      <a:r>
                        <a:rPr lang="en-US" sz="1200"/>
                        <a:t>Complete fire prediction using </a:t>
                      </a:r>
                      <a:r>
                        <a:rPr lang="en-US" sz="1200" b="1"/>
                        <a:t>NDVI + NASA weather + fire history</a:t>
                      </a:r>
                      <a:endParaRPr lang="en-US" sz="1200"/>
                    </a:p>
                  </a:txBody>
                  <a:tcPr anchor="ctr">
                    <a:lnL>
                      <a:noFill/>
                    </a:lnL>
                    <a:lnR>
                      <a:noFill/>
                    </a:lnR>
                    <a:lnT>
                      <a:noFill/>
                    </a:lnT>
                    <a:lnB>
                      <a:noFill/>
                    </a:lnB>
                  </a:tcPr>
                </a:tc>
                <a:extLst>
                  <a:ext uri="{0D108BD9-81ED-4DB2-BD59-A6C34878D82A}">
                    <a16:rowId xmlns:a16="http://schemas.microsoft.com/office/drawing/2014/main" val="10001"/>
                  </a:ext>
                </a:extLst>
              </a:tr>
              <a:tr h="553283">
                <a:tc>
                  <a:txBody>
                    <a:bodyPr/>
                    <a:lstStyle/>
                    <a:p>
                      <a:r>
                        <a:rPr lang="en-IN" sz="1200" b="1"/>
                        <a:t>Methodology</a:t>
                      </a:r>
                      <a:endParaRPr lang="en-IN" sz="1200"/>
                    </a:p>
                  </a:txBody>
                  <a:tcPr anchor="ctr">
                    <a:lnL>
                      <a:noFill/>
                    </a:lnL>
                    <a:lnR>
                      <a:noFill/>
                    </a:lnR>
                    <a:lnT>
                      <a:noFill/>
                    </a:lnT>
                    <a:lnB>
                      <a:noFill/>
                    </a:lnB>
                  </a:tcPr>
                </a:tc>
                <a:tc>
                  <a:txBody>
                    <a:bodyPr/>
                    <a:lstStyle/>
                    <a:p>
                      <a:r>
                        <a:rPr lang="en-IN" sz="1200"/>
                        <a:t>Single models (RF, SVM, Logistic Regression)</a:t>
                      </a:r>
                    </a:p>
                  </a:txBody>
                  <a:tcPr anchor="ctr">
                    <a:lnL>
                      <a:noFill/>
                    </a:lnL>
                    <a:lnR>
                      <a:noFill/>
                    </a:lnR>
                    <a:lnT>
                      <a:noFill/>
                    </a:lnT>
                    <a:lnB>
                      <a:noFill/>
                    </a:lnB>
                  </a:tcPr>
                </a:tc>
                <a:tc>
                  <a:txBody>
                    <a:bodyPr/>
                    <a:lstStyle/>
                    <a:p>
                      <a:r>
                        <a:rPr lang="en-US" sz="1200" b="1"/>
                        <a:t>Stacked Ensemble</a:t>
                      </a:r>
                      <a:r>
                        <a:rPr lang="en-US" sz="1200"/>
                        <a:t> (RF + GB + Naïve Bayes) with </a:t>
                      </a:r>
                      <a:r>
                        <a:rPr lang="en-US" sz="1200" b="1"/>
                        <a:t>LightGBM feature selection</a:t>
                      </a:r>
                      <a:endParaRPr lang="en-US" sz="1200"/>
                    </a:p>
                  </a:txBody>
                  <a:tcPr anchor="ctr">
                    <a:lnL>
                      <a:noFill/>
                    </a:lnL>
                    <a:lnR>
                      <a:noFill/>
                    </a:lnR>
                    <a:lnT>
                      <a:noFill/>
                    </a:lnT>
                    <a:lnB>
                      <a:noFill/>
                    </a:lnB>
                  </a:tcPr>
                </a:tc>
                <a:extLst>
                  <a:ext uri="{0D108BD9-81ED-4DB2-BD59-A6C34878D82A}">
                    <a16:rowId xmlns:a16="http://schemas.microsoft.com/office/drawing/2014/main" val="10002"/>
                  </a:ext>
                </a:extLst>
              </a:tr>
              <a:tr h="553283">
                <a:tc>
                  <a:txBody>
                    <a:bodyPr/>
                    <a:lstStyle/>
                    <a:p>
                      <a:r>
                        <a:rPr lang="en-IN" sz="1200" b="1"/>
                        <a:t>Data Scope</a:t>
                      </a:r>
                      <a:endParaRPr lang="en-IN" sz="1200"/>
                    </a:p>
                  </a:txBody>
                  <a:tcPr anchor="ctr">
                    <a:lnL>
                      <a:noFill/>
                    </a:lnL>
                    <a:lnR>
                      <a:noFill/>
                    </a:lnR>
                    <a:lnT>
                      <a:noFill/>
                    </a:lnT>
                    <a:lnB>
                      <a:noFill/>
                    </a:lnB>
                  </a:tcPr>
                </a:tc>
                <a:tc>
                  <a:txBody>
                    <a:bodyPr/>
                    <a:lstStyle/>
                    <a:p>
                      <a:r>
                        <a:rPr lang="en-US" sz="1200"/>
                        <a:t>Limited to thermal anomalies or small datasets</a:t>
                      </a:r>
                    </a:p>
                  </a:txBody>
                  <a:tcPr anchor="ctr">
                    <a:lnL>
                      <a:noFill/>
                    </a:lnL>
                    <a:lnR>
                      <a:noFill/>
                    </a:lnR>
                    <a:lnT>
                      <a:noFill/>
                    </a:lnT>
                    <a:lnB>
                      <a:noFill/>
                    </a:lnB>
                  </a:tcPr>
                </a:tc>
                <a:tc>
                  <a:txBody>
                    <a:bodyPr/>
                    <a:lstStyle/>
                    <a:p>
                      <a:r>
                        <a:rPr lang="en-US" sz="1200" b="1"/>
                        <a:t>Integrated multi-year dataset:</a:t>
                      </a:r>
                      <a:r>
                        <a:rPr lang="en-US" sz="1200"/>
                        <a:t> MODIS NDVI, NASA POWER weather, FIRMS fire points</a:t>
                      </a:r>
                    </a:p>
                  </a:txBody>
                  <a:tcPr anchor="ctr">
                    <a:lnL>
                      <a:noFill/>
                    </a:lnL>
                    <a:lnR>
                      <a:noFill/>
                    </a:lnR>
                    <a:lnT>
                      <a:noFill/>
                    </a:lnT>
                    <a:lnB>
                      <a:noFill/>
                    </a:lnB>
                  </a:tcPr>
                </a:tc>
                <a:extLst>
                  <a:ext uri="{0D108BD9-81ED-4DB2-BD59-A6C34878D82A}">
                    <a16:rowId xmlns:a16="http://schemas.microsoft.com/office/drawing/2014/main" val="10003"/>
                  </a:ext>
                </a:extLst>
              </a:tr>
              <a:tr h="553283">
                <a:tc>
                  <a:txBody>
                    <a:bodyPr/>
                    <a:lstStyle/>
                    <a:p>
                      <a:r>
                        <a:rPr lang="en-IN" sz="1200" b="1"/>
                        <a:t>Interpretability</a:t>
                      </a:r>
                      <a:endParaRPr lang="en-IN" sz="1200"/>
                    </a:p>
                  </a:txBody>
                  <a:tcPr anchor="ctr">
                    <a:lnL>
                      <a:noFill/>
                    </a:lnL>
                    <a:lnR>
                      <a:noFill/>
                    </a:lnR>
                    <a:lnT>
                      <a:noFill/>
                    </a:lnT>
                    <a:lnB>
                      <a:noFill/>
                    </a:lnB>
                  </a:tcPr>
                </a:tc>
                <a:tc>
                  <a:txBody>
                    <a:bodyPr/>
                    <a:lstStyle/>
                    <a:p>
                      <a:r>
                        <a:rPr lang="en-US" sz="1200" dirty="0"/>
                        <a:t>Mostly black-box with no feature explanation</a:t>
                      </a:r>
                    </a:p>
                  </a:txBody>
                  <a:tcPr anchor="ctr">
                    <a:lnL>
                      <a:noFill/>
                    </a:lnL>
                    <a:lnR>
                      <a:noFill/>
                    </a:lnR>
                    <a:lnT>
                      <a:noFill/>
                    </a:lnT>
                    <a:lnB>
                      <a:noFill/>
                    </a:lnB>
                  </a:tcPr>
                </a:tc>
                <a:tc>
                  <a:txBody>
                    <a:bodyPr/>
                    <a:lstStyle/>
                    <a:p>
                      <a:r>
                        <a:rPr lang="en-US" sz="1200" b="1"/>
                        <a:t>Feature importance analysis</a:t>
                      </a:r>
                      <a:r>
                        <a:rPr lang="en-US" sz="1200"/>
                        <a:t> using LightGBM and correlation insights</a:t>
                      </a:r>
                    </a:p>
                  </a:txBody>
                  <a:tcPr anchor="ctr">
                    <a:lnL>
                      <a:noFill/>
                    </a:lnL>
                    <a:lnR>
                      <a:noFill/>
                    </a:lnR>
                    <a:lnT>
                      <a:noFill/>
                    </a:lnT>
                    <a:lnB>
                      <a:noFill/>
                    </a:lnB>
                  </a:tcPr>
                </a:tc>
                <a:extLst>
                  <a:ext uri="{0D108BD9-81ED-4DB2-BD59-A6C34878D82A}">
                    <a16:rowId xmlns:a16="http://schemas.microsoft.com/office/drawing/2014/main" val="10004"/>
                  </a:ext>
                </a:extLst>
              </a:tr>
              <a:tr h="553283">
                <a:tc>
                  <a:txBody>
                    <a:bodyPr/>
                    <a:lstStyle/>
                    <a:p>
                      <a:r>
                        <a:rPr lang="en-IN" sz="1200" b="1"/>
                        <a:t>Output</a:t>
                      </a:r>
                      <a:endParaRPr lang="en-IN" sz="1200"/>
                    </a:p>
                  </a:txBody>
                  <a:tcPr anchor="ctr">
                    <a:lnL>
                      <a:noFill/>
                    </a:lnL>
                    <a:lnR>
                      <a:noFill/>
                    </a:lnR>
                    <a:lnT>
                      <a:noFill/>
                    </a:lnT>
                    <a:lnB>
                      <a:noFill/>
                    </a:lnB>
                  </a:tcPr>
                </a:tc>
                <a:tc>
                  <a:txBody>
                    <a:bodyPr/>
                    <a:lstStyle/>
                    <a:p>
                      <a:r>
                        <a:rPr lang="en-IN" sz="1200"/>
                        <a:t>Binary detection only</a:t>
                      </a:r>
                    </a:p>
                  </a:txBody>
                  <a:tcPr anchor="ctr">
                    <a:lnL>
                      <a:noFill/>
                    </a:lnL>
                    <a:lnR>
                      <a:noFill/>
                    </a:lnR>
                    <a:lnT>
                      <a:noFill/>
                    </a:lnT>
                    <a:lnB>
                      <a:noFill/>
                    </a:lnB>
                  </a:tcPr>
                </a:tc>
                <a:tc>
                  <a:txBody>
                    <a:bodyPr/>
                    <a:lstStyle/>
                    <a:p>
                      <a:r>
                        <a:rPr lang="en-US" sz="1200" b="1"/>
                        <a:t>Risk prediction + probability score + lag-based environmental insights</a:t>
                      </a:r>
                      <a:endParaRPr lang="en-US" sz="1200"/>
                    </a:p>
                  </a:txBody>
                  <a:tcPr anchor="ctr">
                    <a:lnL>
                      <a:noFill/>
                    </a:lnL>
                    <a:lnR>
                      <a:noFill/>
                    </a:lnR>
                    <a:lnT>
                      <a:noFill/>
                    </a:lnT>
                    <a:lnB>
                      <a:noFill/>
                    </a:lnB>
                  </a:tcPr>
                </a:tc>
                <a:extLst>
                  <a:ext uri="{0D108BD9-81ED-4DB2-BD59-A6C34878D82A}">
                    <a16:rowId xmlns:a16="http://schemas.microsoft.com/office/drawing/2014/main" val="10005"/>
                  </a:ext>
                </a:extLst>
              </a:tr>
              <a:tr h="316921">
                <a:tc>
                  <a:txBody>
                    <a:bodyPr/>
                    <a:lstStyle/>
                    <a:p>
                      <a:r>
                        <a:rPr lang="en-IN" sz="1200" b="1"/>
                        <a:t>Accuracy / Performance</a:t>
                      </a:r>
                      <a:endParaRPr lang="en-IN" sz="1200"/>
                    </a:p>
                  </a:txBody>
                  <a:tcPr anchor="ctr">
                    <a:lnL>
                      <a:noFill/>
                    </a:lnL>
                    <a:lnR>
                      <a:noFill/>
                    </a:lnR>
                    <a:lnT>
                      <a:noFill/>
                    </a:lnT>
                    <a:lnB>
                      <a:noFill/>
                    </a:lnB>
                  </a:tcPr>
                </a:tc>
                <a:tc>
                  <a:txBody>
                    <a:bodyPr/>
                    <a:lstStyle/>
                    <a:p>
                      <a:r>
                        <a:rPr lang="en-IN" sz="1200"/>
                        <a:t>80–90% (approx.)</a:t>
                      </a:r>
                    </a:p>
                  </a:txBody>
                  <a:tcPr anchor="ctr">
                    <a:lnL>
                      <a:noFill/>
                    </a:lnL>
                    <a:lnR>
                      <a:noFill/>
                    </a:lnR>
                    <a:lnT>
                      <a:noFill/>
                    </a:lnT>
                    <a:lnB>
                      <a:noFill/>
                    </a:lnB>
                  </a:tcPr>
                </a:tc>
                <a:tc>
                  <a:txBody>
                    <a:bodyPr/>
                    <a:lstStyle/>
                    <a:p>
                      <a:r>
                        <a:rPr lang="en-US" sz="1200" b="1"/>
                        <a:t>91.42% accuracy</a:t>
                      </a:r>
                      <a:r>
                        <a:rPr lang="en-US" sz="1200"/>
                        <a:t>, improved recall for rare fire events</a:t>
                      </a:r>
                    </a:p>
                  </a:txBody>
                  <a:tcPr anchor="ctr">
                    <a:lnL>
                      <a:noFill/>
                    </a:lnL>
                    <a:lnR>
                      <a:noFill/>
                    </a:lnR>
                    <a:lnT>
                      <a:noFill/>
                    </a:lnT>
                    <a:lnB>
                      <a:noFill/>
                    </a:lnB>
                  </a:tcPr>
                </a:tc>
                <a:extLst>
                  <a:ext uri="{0D108BD9-81ED-4DB2-BD59-A6C34878D82A}">
                    <a16:rowId xmlns:a16="http://schemas.microsoft.com/office/drawing/2014/main" val="10006"/>
                  </a:ext>
                </a:extLst>
              </a:tr>
              <a:tr h="316921">
                <a:tc>
                  <a:txBody>
                    <a:bodyPr/>
                    <a:lstStyle/>
                    <a:p>
                      <a:r>
                        <a:rPr lang="en-IN" sz="1200" b="1"/>
                        <a:t>Scalability</a:t>
                      </a:r>
                      <a:endParaRPr lang="en-IN" sz="1200"/>
                    </a:p>
                  </a:txBody>
                  <a:tcPr anchor="ctr">
                    <a:lnL>
                      <a:noFill/>
                    </a:lnL>
                    <a:lnR>
                      <a:noFill/>
                    </a:lnR>
                    <a:lnT>
                      <a:noFill/>
                    </a:lnT>
                    <a:lnB>
                      <a:noFill/>
                    </a:lnB>
                  </a:tcPr>
                </a:tc>
                <a:tc>
                  <a:txBody>
                    <a:bodyPr/>
                    <a:lstStyle/>
                    <a:p>
                      <a:r>
                        <a:rPr lang="en-IN" sz="1200"/>
                        <a:t>Region-specific, limited generalization</a:t>
                      </a:r>
                    </a:p>
                  </a:txBody>
                  <a:tcPr anchor="ctr">
                    <a:lnL>
                      <a:noFill/>
                    </a:lnL>
                    <a:lnR>
                      <a:noFill/>
                    </a:lnR>
                    <a:lnT>
                      <a:noFill/>
                    </a:lnT>
                    <a:lnB>
                      <a:noFill/>
                    </a:lnB>
                  </a:tcPr>
                </a:tc>
                <a:tc>
                  <a:txBody>
                    <a:bodyPr/>
                    <a:lstStyle/>
                    <a:p>
                      <a:r>
                        <a:rPr lang="en-US" sz="1200"/>
                        <a:t>Scalable to other forest regions with satellite-based inputs</a:t>
                      </a:r>
                    </a:p>
                  </a:txBody>
                  <a:tcPr anchor="ctr">
                    <a:lnL>
                      <a:noFill/>
                    </a:lnL>
                    <a:lnR>
                      <a:noFill/>
                    </a:lnR>
                    <a:lnT>
                      <a:noFill/>
                    </a:lnT>
                    <a:lnB>
                      <a:noFill/>
                    </a:lnB>
                  </a:tcPr>
                </a:tc>
                <a:extLst>
                  <a:ext uri="{0D108BD9-81ED-4DB2-BD59-A6C34878D82A}">
                    <a16:rowId xmlns:a16="http://schemas.microsoft.com/office/drawing/2014/main" val="10007"/>
                  </a:ext>
                </a:extLst>
              </a:tr>
              <a:tr h="553283">
                <a:tc>
                  <a:txBody>
                    <a:bodyPr/>
                    <a:lstStyle/>
                    <a:p>
                      <a:r>
                        <a:rPr lang="en-IN" sz="1200" b="1"/>
                        <a:t>Decision Support</a:t>
                      </a:r>
                      <a:endParaRPr lang="en-IN" sz="1200"/>
                    </a:p>
                  </a:txBody>
                  <a:tcPr anchor="ctr">
                    <a:lnL>
                      <a:noFill/>
                    </a:lnL>
                    <a:lnR>
                      <a:noFill/>
                    </a:lnR>
                    <a:lnT>
                      <a:noFill/>
                    </a:lnT>
                    <a:lnB>
                      <a:noFill/>
                    </a:lnB>
                  </a:tcPr>
                </a:tc>
                <a:tc>
                  <a:txBody>
                    <a:bodyPr/>
                    <a:lstStyle/>
                    <a:p>
                      <a:r>
                        <a:rPr lang="en-IN" sz="1200" dirty="0"/>
                        <a:t>No actionable insights</a:t>
                      </a:r>
                    </a:p>
                  </a:txBody>
                  <a:tcPr anchor="ctr">
                    <a:lnL>
                      <a:noFill/>
                    </a:lnL>
                    <a:lnR>
                      <a:noFill/>
                    </a:lnR>
                    <a:lnT>
                      <a:noFill/>
                    </a:lnT>
                    <a:lnB>
                      <a:noFill/>
                    </a:lnB>
                  </a:tcPr>
                </a:tc>
                <a:tc>
                  <a:txBody>
                    <a:bodyPr/>
                    <a:lstStyle/>
                    <a:p>
                      <a:r>
                        <a:rPr lang="en-US" sz="1200" dirty="0"/>
                        <a:t>Helps in </a:t>
                      </a:r>
                      <a:r>
                        <a:rPr lang="en-US" sz="1200" b="1" dirty="0"/>
                        <a:t>early risk assessment</a:t>
                      </a:r>
                      <a:r>
                        <a:rPr lang="en-US" sz="1200" dirty="0"/>
                        <a:t>, supporting forest department planning</a:t>
                      </a:r>
                    </a:p>
                  </a:txBody>
                  <a:tcPr anchor="ctr">
                    <a:lnL>
                      <a:noFill/>
                    </a:lnL>
                    <a:lnR>
                      <a:noFill/>
                    </a:lnR>
                    <a:lnT>
                      <a:noFill/>
                    </a:lnT>
                    <a:lnB>
                      <a:noFill/>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5889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838200"/>
            <a:ext cx="9280821" cy="693780"/>
          </a:xfrm>
          <a:prstGeom prst="rect">
            <a:avLst/>
          </a:prstGeom>
        </p:spPr>
        <p:txBody>
          <a:bodyPr vert="horz" wrap="square" lIns="0" tIns="16510" rIns="0" bIns="0" rtlCol="0">
            <a:spAutoFit/>
          </a:bodyPr>
          <a:lstStyle/>
          <a:p>
            <a:pPr marL="12700">
              <a:lnSpc>
                <a:spcPct val="100000"/>
              </a:lnSpc>
              <a:spcBef>
                <a:spcPts val="130"/>
              </a:spcBef>
            </a:pPr>
            <a:r>
              <a:rPr spc="20" dirty="0"/>
              <a:t>CONCLUSION</a:t>
            </a:r>
            <a:r>
              <a:rPr spc="-275" dirty="0"/>
              <a:t> </a:t>
            </a:r>
            <a:r>
              <a:rPr lang="en-US" spc="25" dirty="0"/>
              <a:t>&amp;</a:t>
            </a:r>
            <a:r>
              <a:rPr spc="-65" dirty="0"/>
              <a:t> </a:t>
            </a:r>
            <a:r>
              <a:rPr spc="25" dirty="0"/>
              <a:t>FUTURE</a:t>
            </a:r>
            <a:r>
              <a:rPr spc="-250" dirty="0"/>
              <a:t> </a:t>
            </a:r>
            <a:r>
              <a:rPr spc="25" dirty="0"/>
              <a:t>SCOPE</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10-02</a:t>
            </a:r>
            <a:r>
              <a:rPr spc="5" dirty="0"/>
              <a:t>-202</a:t>
            </a:r>
            <a:r>
              <a:rPr lang="en-IN" spc="5" dirty="0"/>
              <a:t>6</a:t>
            </a:r>
            <a:endParaRPr spc="5" dirty="0"/>
          </a:p>
        </p:txBody>
      </p:sp>
      <p:sp>
        <p:nvSpPr>
          <p:cNvPr id="5" name="object 5"/>
          <p:cNvSpPr txBox="1"/>
          <p:nvPr/>
        </p:nvSpPr>
        <p:spPr>
          <a:xfrm>
            <a:off x="3886200" y="6451049"/>
            <a:ext cx="12983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22</a:t>
            </a:fld>
            <a:endParaRPr dirty="0"/>
          </a:p>
        </p:txBody>
      </p:sp>
      <p:sp>
        <p:nvSpPr>
          <p:cNvPr id="3" name="object 3"/>
          <p:cNvSpPr txBox="1"/>
          <p:nvPr/>
        </p:nvSpPr>
        <p:spPr>
          <a:xfrm>
            <a:off x="917575" y="1828800"/>
            <a:ext cx="8836025" cy="792525"/>
          </a:xfrm>
          <a:prstGeom prst="rect">
            <a:avLst/>
          </a:prstGeom>
        </p:spPr>
        <p:txBody>
          <a:bodyPr vert="horz" wrap="square" lIns="0" tIns="99060" rIns="0" bIns="0" rtlCol="0">
            <a:spAutoFit/>
          </a:bodyPr>
          <a:lstStyle/>
          <a:p>
            <a:pPr>
              <a:lnSpc>
                <a:spcPct val="100000"/>
              </a:lnSpc>
              <a:spcBef>
                <a:spcPts val="50"/>
              </a:spcBef>
            </a:pPr>
            <a:endParaRPr lang="en-IN" sz="4500" dirty="0">
              <a:latin typeface="Times New Roman"/>
              <a:cs typeface="Times New Roman"/>
            </a:endParaRPr>
          </a:p>
        </p:txBody>
      </p:sp>
      <p:sp>
        <p:nvSpPr>
          <p:cNvPr id="10" name="TextBox 9">
            <a:extLst>
              <a:ext uri="{FF2B5EF4-FFF2-40B4-BE49-F238E27FC236}">
                <a16:creationId xmlns:a16="http://schemas.microsoft.com/office/drawing/2014/main" id="{9DC4A0A2-9D3F-B7E9-6CA7-0DAE36D65ACB}"/>
              </a:ext>
            </a:extLst>
          </p:cNvPr>
          <p:cNvSpPr txBox="1"/>
          <p:nvPr/>
        </p:nvSpPr>
        <p:spPr>
          <a:xfrm>
            <a:off x="540918" y="1647170"/>
            <a:ext cx="11193882" cy="489364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t>The proposed </a:t>
            </a:r>
            <a:r>
              <a:rPr lang="en-US" sz="2400" dirty="0" err="1"/>
              <a:t>NallaFireNet</a:t>
            </a:r>
            <a:r>
              <a:rPr lang="en-US" sz="2400" dirty="0"/>
              <a:t> model accurately predicts fire-prone days using NDVI and synthetic weather data, enhancing early warning capabilities.</a:t>
            </a:r>
          </a:p>
          <a:p>
            <a:pPr marL="342900" indent="-342900" algn="just">
              <a:lnSpc>
                <a:spcPct val="150000"/>
              </a:lnSpc>
              <a:buFont typeface="Arial" panose="020B0604020202020204" pitchFamily="34" charset="0"/>
              <a:buChar char="•"/>
            </a:pPr>
            <a:r>
              <a:rPr lang="en-US" sz="2400" dirty="0"/>
              <a:t>The ensemble of XGBoost and LightGBM improves recall for rare fire events, supporting proactive forest management and quick response.</a:t>
            </a:r>
          </a:p>
          <a:p>
            <a:pPr marL="342900" indent="-342900" algn="just">
              <a:lnSpc>
                <a:spcPct val="150000"/>
              </a:lnSpc>
              <a:buFont typeface="Arial" panose="020B0604020202020204" pitchFamily="34" charset="0"/>
              <a:buChar char="•"/>
            </a:pPr>
            <a:r>
              <a:rPr lang="en-US" sz="2400" dirty="0"/>
              <a:t>The model can be expanded for real-time deployment with live dashboards for forest authorities.</a:t>
            </a:r>
          </a:p>
          <a:p>
            <a:pPr marL="342900" indent="-342900" algn="just">
              <a:lnSpc>
                <a:spcPct val="150000"/>
              </a:lnSpc>
              <a:buFont typeface="Arial" panose="020B0604020202020204" pitchFamily="34" charset="0"/>
              <a:buChar char="•"/>
            </a:pPr>
            <a:r>
              <a:rPr lang="en-US" sz="2400" dirty="0"/>
              <a:t>Future work includes applying advanced temporal models like LSTM or Transformers for improved seasonal prediction.</a:t>
            </a:r>
            <a:endParaRPr lang="en-IN" sz="2400" dirty="0"/>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7910" y="529843"/>
            <a:ext cx="3807460" cy="701040"/>
          </a:xfrm>
          <a:prstGeom prst="rect">
            <a:avLst/>
          </a:prstGeom>
        </p:spPr>
        <p:txBody>
          <a:bodyPr vert="horz" wrap="square" lIns="0" tIns="16510" rIns="0" bIns="0" rtlCol="0">
            <a:spAutoFit/>
          </a:bodyPr>
          <a:lstStyle/>
          <a:p>
            <a:pPr marL="12700">
              <a:lnSpc>
                <a:spcPct val="100000"/>
              </a:lnSpc>
              <a:spcBef>
                <a:spcPts val="130"/>
              </a:spcBef>
            </a:pPr>
            <a:r>
              <a:rPr spc="15" dirty="0"/>
              <a:t>REFERENCES</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038600" y="6451049"/>
            <a:ext cx="11459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2" y="6451049"/>
            <a:ext cx="928054"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23</a:t>
            </a:fld>
            <a:endParaRPr dirty="0"/>
          </a:p>
        </p:txBody>
      </p:sp>
      <p:sp>
        <p:nvSpPr>
          <p:cNvPr id="3" name="object 3"/>
          <p:cNvSpPr txBox="1"/>
          <p:nvPr/>
        </p:nvSpPr>
        <p:spPr>
          <a:xfrm>
            <a:off x="381000" y="1230883"/>
            <a:ext cx="11430000" cy="6248505"/>
          </a:xfrm>
          <a:prstGeom prst="rect">
            <a:avLst/>
          </a:prstGeom>
        </p:spPr>
        <p:txBody>
          <a:bodyPr vert="horz" wrap="square" lIns="0" tIns="15875" rIns="0" bIns="0" rtlCol="0">
            <a:spAutoFit/>
          </a:bodyPr>
          <a:lstStyle/>
          <a:p>
            <a:pPr marL="457200" indent="-457200">
              <a:lnSpc>
                <a:spcPts val="2455"/>
              </a:lnSpc>
              <a:spcBef>
                <a:spcPts val="125"/>
              </a:spcBef>
              <a:buFontTx/>
              <a:buAutoNum type="arabicPeriod"/>
              <a:tabLst>
                <a:tab pos="457200" algn="l"/>
                <a:tab pos="470534" algn="l"/>
              </a:tabLst>
            </a:pPr>
            <a:r>
              <a:rPr lang="en-IN" dirty="0"/>
              <a:t>Y. Yu, L. Liu, Z. Chang, Y. Li, and K. Shi, “Detecting Forest Fires in Southwest China From Remote Sensing Nighttime Lights Using the Random Forest Classification Model,” IEEE J. Sel. Topics Appl. Earth Observ. Remote Sens., vol. 17, pp. 10759–10771, Jun. 2024.</a:t>
            </a:r>
            <a:r>
              <a:rPr lang="en-US" sz="1800" dirty="0">
                <a:solidFill>
                  <a:srgbClr val="000000"/>
                </a:solidFill>
                <a:effectLst/>
                <a:latin typeface="Times New Roman" panose="02020603050405020304" pitchFamily="18" charset="0"/>
                <a:ea typeface="MS Mincho" panose="02020609040205080304" pitchFamily="49" charset="-128"/>
              </a:rPr>
              <a:t>.</a:t>
            </a:r>
          </a:p>
          <a:p>
            <a:pPr marL="457200" indent="-457200">
              <a:lnSpc>
                <a:spcPts val="2455"/>
              </a:lnSpc>
              <a:spcBef>
                <a:spcPts val="125"/>
              </a:spcBef>
              <a:buFontTx/>
              <a:buAutoNum type="arabicPeriod"/>
              <a:tabLst>
                <a:tab pos="457200" algn="l"/>
                <a:tab pos="470534" algn="l"/>
              </a:tabLst>
            </a:pPr>
            <a:endParaRPr lang="en-IN" sz="1800" dirty="0">
              <a:effectLst/>
              <a:latin typeface="Times New Roman" panose="02020603050405020304" pitchFamily="18" charset="0"/>
              <a:ea typeface="MS Mincho" panose="02020609040205080304" pitchFamily="49" charset="-128"/>
            </a:endParaRPr>
          </a:p>
          <a:p>
            <a:pPr marL="457200" indent="-457200">
              <a:lnSpc>
                <a:spcPts val="2455"/>
              </a:lnSpc>
              <a:spcBef>
                <a:spcPts val="125"/>
              </a:spcBef>
              <a:buFontTx/>
              <a:buAutoNum type="arabicPeriod"/>
              <a:tabLst>
                <a:tab pos="457200" algn="l"/>
                <a:tab pos="470534" algn="l"/>
              </a:tabLst>
            </a:pPr>
            <a:r>
              <a:rPr lang="en-IN" dirty="0"/>
              <a:t>S. K. Chaitanya, B. S. S. Vutukuri, G. R. Dandamudi, U. S. Varri, and N. K. Vemula, “Performance Analysis of Fire and Smoke Detection System Employing Machine Learning Techniques,” in Proc. ICCRTEE, 2025, pp. 1–6.</a:t>
            </a:r>
          </a:p>
          <a:p>
            <a:pPr marL="457200" indent="-457200">
              <a:lnSpc>
                <a:spcPts val="2455"/>
              </a:lnSpc>
              <a:spcBef>
                <a:spcPts val="125"/>
              </a:spcBef>
              <a:buFontTx/>
              <a:buAutoNum type="arabicPeriod"/>
              <a:tabLst>
                <a:tab pos="457200" algn="l"/>
                <a:tab pos="470534" algn="l"/>
              </a:tabLst>
            </a:pPr>
            <a:endParaRPr lang="en-US" sz="1800" dirty="0">
              <a:solidFill>
                <a:srgbClr val="0D0D0D"/>
              </a:solidFill>
              <a:effectLst/>
              <a:latin typeface="Times New Roman" panose="02020603050405020304" pitchFamily="18" charset="0"/>
              <a:ea typeface="MS Mincho" panose="02020609040205080304" pitchFamily="49" charset="-128"/>
            </a:endParaRPr>
          </a:p>
          <a:p>
            <a:pPr marL="457200" indent="-457200">
              <a:lnSpc>
                <a:spcPts val="2455"/>
              </a:lnSpc>
              <a:spcBef>
                <a:spcPts val="125"/>
              </a:spcBef>
              <a:buFontTx/>
              <a:buAutoNum type="arabicPeriod"/>
              <a:tabLst>
                <a:tab pos="457200" algn="l"/>
                <a:tab pos="470534" algn="l"/>
              </a:tabLst>
            </a:pPr>
            <a:r>
              <a:rPr lang="en-US" sz="1800" dirty="0">
                <a:effectLst/>
                <a:latin typeface="Times New Roman" panose="02020603050405020304" pitchFamily="18" charset="0"/>
                <a:ea typeface="MS Mincho" panose="02020609040205080304" pitchFamily="49" charset="-128"/>
              </a:rPr>
              <a:t> </a:t>
            </a:r>
            <a:r>
              <a:rPr lang="en-IN" dirty="0"/>
              <a:t>G. M. I. Alam, N. Tasnia, T. Biswas, M. J. Hossen, S. A. Tanim, and M. S. U. Miah, “Real-Time Detection of Forest Fires Using </a:t>
            </a:r>
            <a:r>
              <a:rPr lang="en-IN" dirty="0" err="1"/>
              <a:t>FireNet</a:t>
            </a:r>
            <a:r>
              <a:rPr lang="en-IN" dirty="0"/>
              <a:t>-CNN and Explainable AI Techniques,” IEEE Access, vol. 13, pp. 51150–51165, Mar. 2025.</a:t>
            </a:r>
          </a:p>
          <a:p>
            <a:pPr marL="457200" indent="-457200">
              <a:lnSpc>
                <a:spcPts val="2455"/>
              </a:lnSpc>
              <a:spcBef>
                <a:spcPts val="125"/>
              </a:spcBef>
              <a:buFontTx/>
              <a:buAutoNum type="arabicPeriod"/>
              <a:tabLst>
                <a:tab pos="457200" algn="l"/>
                <a:tab pos="470534" algn="l"/>
              </a:tabLst>
            </a:pPr>
            <a:endParaRPr lang="en-IN" sz="1800" dirty="0">
              <a:effectLst/>
              <a:latin typeface="Times New Roman" panose="02020603050405020304" pitchFamily="18" charset="0"/>
              <a:ea typeface="MS Mincho" panose="02020609040205080304" pitchFamily="49" charset="-128"/>
            </a:endParaRPr>
          </a:p>
          <a:p>
            <a:pPr marL="457200" indent="-457200">
              <a:lnSpc>
                <a:spcPts val="2455"/>
              </a:lnSpc>
              <a:spcBef>
                <a:spcPts val="125"/>
              </a:spcBef>
              <a:buFontTx/>
              <a:buAutoNum type="arabicPeriod"/>
              <a:tabLst>
                <a:tab pos="457200" algn="l"/>
                <a:tab pos="470534" algn="l"/>
              </a:tabLst>
            </a:pPr>
            <a:r>
              <a:rPr lang="en-IN" dirty="0"/>
              <a:t>N. K. Ojha and M. Katoch, “Multimodal Deep Transfer Learning with CNN-LSTM Fusion for Enhanced Forest Fire Detection and Risk Prediction,” in Proc. ICPCSN, 2025, pp. 397–404.</a:t>
            </a:r>
          </a:p>
          <a:p>
            <a:pPr marL="457200" indent="-457200">
              <a:lnSpc>
                <a:spcPts val="2455"/>
              </a:lnSpc>
              <a:spcBef>
                <a:spcPts val="125"/>
              </a:spcBef>
              <a:buFontTx/>
              <a:buAutoNum type="arabicPeriod"/>
              <a:tabLst>
                <a:tab pos="457200" algn="l"/>
                <a:tab pos="470534" algn="l"/>
              </a:tabLst>
            </a:pPr>
            <a:endParaRPr lang="en-IN" dirty="0"/>
          </a:p>
          <a:p>
            <a:pPr marL="457200" indent="-457200">
              <a:lnSpc>
                <a:spcPts val="2455"/>
              </a:lnSpc>
              <a:spcBef>
                <a:spcPts val="125"/>
              </a:spcBef>
              <a:buFontTx/>
              <a:buAutoNum type="arabicPeriod"/>
              <a:tabLst>
                <a:tab pos="457200" algn="l"/>
                <a:tab pos="470534" algn="l"/>
              </a:tabLst>
            </a:pPr>
            <a:r>
              <a:rPr lang="en-IN" dirty="0"/>
              <a:t>M. Sivanuja, R. Rao, P. R. Shalem Raju, K. S. Kumar, M. Prasad, and P. K. Sree, “A Novel Ensemble-Based Deep Learning Framework Combining CNN and Transfer Learning Models for Enhanced Wildfire Detection,” in Proc. ICCRTEE, 2025, pp. 1–7</a:t>
            </a:r>
            <a:endParaRPr lang="en-IN" sz="1800" dirty="0">
              <a:effectLst/>
              <a:latin typeface="Times New Roman" panose="02020603050405020304" pitchFamily="18" charset="0"/>
              <a:ea typeface="MS Mincho" panose="02020609040205080304" pitchFamily="49" charset="-128"/>
            </a:endParaRPr>
          </a:p>
          <a:p>
            <a:pPr marL="457200" indent="-457200">
              <a:lnSpc>
                <a:spcPts val="2455"/>
              </a:lnSpc>
              <a:spcBef>
                <a:spcPts val="125"/>
              </a:spcBef>
              <a:buFontTx/>
              <a:buAutoNum type="arabicPeriod"/>
              <a:tabLst>
                <a:tab pos="457200" algn="l"/>
                <a:tab pos="470534" algn="l"/>
              </a:tabLst>
            </a:pPr>
            <a:endParaRPr lang="en-IN" sz="1800" dirty="0">
              <a:effectLst/>
              <a:latin typeface="Times New Roman" panose="02020603050405020304" pitchFamily="18" charset="0"/>
              <a:ea typeface="MS Mincho" panose="02020609040205080304" pitchFamily="49" charset="-128"/>
            </a:endParaRPr>
          </a:p>
          <a:p>
            <a:pPr>
              <a:lnSpc>
                <a:spcPts val="2455"/>
              </a:lnSpc>
              <a:spcBef>
                <a:spcPts val="125"/>
              </a:spcBef>
              <a:tabLst>
                <a:tab pos="457200" algn="l"/>
                <a:tab pos="470534" algn="l"/>
              </a:tabLst>
            </a:pPr>
            <a:endParaRPr lang="en-IN" sz="1800" dirty="0">
              <a:effectLst/>
              <a:latin typeface="Times New Roman" panose="02020603050405020304" pitchFamily="18" charset="0"/>
              <a:ea typeface="MS Mincho" panose="02020609040205080304" pitchFamily="49" charset="-128"/>
            </a:endParaRPr>
          </a:p>
          <a:p>
            <a:pPr marL="457200" indent="-457200">
              <a:lnSpc>
                <a:spcPts val="2455"/>
              </a:lnSpc>
              <a:spcBef>
                <a:spcPts val="125"/>
              </a:spcBef>
              <a:buAutoNum type="arabicPeriod"/>
              <a:tabLst>
                <a:tab pos="457200" algn="l"/>
                <a:tab pos="470534" algn="l"/>
              </a:tabLst>
            </a:pPr>
            <a:endParaRPr lang="en-IN" sz="2150"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F3FC2A-AE2B-4DE6-9ED8-47974EA5441F}"/>
              </a:ext>
            </a:extLst>
          </p:cNvPr>
          <p:cNvSpPr>
            <a:spLocks noGrp="1"/>
          </p:cNvSpPr>
          <p:nvPr>
            <p:ph type="title"/>
          </p:nvPr>
        </p:nvSpPr>
        <p:spPr>
          <a:xfrm>
            <a:off x="2806699" y="529843"/>
            <a:ext cx="6578600" cy="701040"/>
          </a:xfrm>
        </p:spPr>
        <p:txBody>
          <a:bodyPr/>
          <a:lstStyle/>
          <a:p>
            <a:r>
              <a:rPr lang="en-IN" dirty="0"/>
              <a:t>         REFERENCES</a:t>
            </a:r>
          </a:p>
        </p:txBody>
      </p:sp>
      <p:sp>
        <p:nvSpPr>
          <p:cNvPr id="5" name="Rectangle 4">
            <a:extLst>
              <a:ext uri="{FF2B5EF4-FFF2-40B4-BE49-F238E27FC236}">
                <a16:creationId xmlns:a16="http://schemas.microsoft.com/office/drawing/2014/main" id="{E37FC3C6-EAD6-47DE-BD62-1A3EF789B849}"/>
              </a:ext>
            </a:extLst>
          </p:cNvPr>
          <p:cNvSpPr/>
          <p:nvPr/>
        </p:nvSpPr>
        <p:spPr>
          <a:xfrm>
            <a:off x="1143000" y="1371600"/>
            <a:ext cx="10439400" cy="4524315"/>
          </a:xfrm>
          <a:prstGeom prst="rect">
            <a:avLst/>
          </a:prstGeom>
        </p:spPr>
        <p:txBody>
          <a:bodyPr wrap="square">
            <a:spAutoFit/>
          </a:bodyPr>
          <a:lstStyle/>
          <a:p>
            <a:r>
              <a:rPr lang="en-IN" dirty="0"/>
              <a:t>6. H. Jo, M. Won, F. Kraxner, S. W. Jeon, Y. Son, A. Krasovskiy, and W.-K. Lee, “Projecting Forest Fire Prob ability in South Korea Under Climate Change Using AI &amp; Process-Based Hybrid Model (FLAM-Net),” IEEE J. Sel. Topics Appl. Earth Observ. Remote Sens., vol. 18, pp. 13003–13016, May 2025. </a:t>
            </a:r>
          </a:p>
          <a:p>
            <a:endParaRPr lang="en-IN" dirty="0"/>
          </a:p>
          <a:p>
            <a:r>
              <a:rPr lang="en-IN" dirty="0"/>
              <a:t>7.  N. M. J. Swaroopan and A. J. M. Rani, “Forest Fire Prediction Based on Climate Change Using Hybrid Optimized K-Means Clustering Algorithm,” in Proc. RMK MATE, 2025, pp. 1–6.</a:t>
            </a:r>
          </a:p>
          <a:p>
            <a:endParaRPr lang="en-IN" dirty="0"/>
          </a:p>
          <a:p>
            <a:r>
              <a:rPr lang="en-IN" dirty="0"/>
              <a:t>8.  N. Datta, M. Saqib, M. T. Aziz, R. R. Rakhimov, B. Madaminov, and T. Mahmud, “Integrating XAI and Machine Learning for an Effective Forest Fire Prediction System,” in Proc. ICETECC, 2025, pp. 1–7.</a:t>
            </a:r>
          </a:p>
          <a:p>
            <a:endParaRPr lang="en-IN" dirty="0"/>
          </a:p>
          <a:p>
            <a:r>
              <a:rPr lang="en-IN" dirty="0"/>
              <a:t>9. T. S. R. Raj, G. Balamuralikrishnan, J. R. F. Raj, D. Vikkiramapandian, R. S. Krishnan, and J. N. Jothi, “Sustainable AI Systems for Monitoring and Predicting Wild fires in Vulnerable Forest Regions,” in Proc. ICMSCI, 2025, pp. 1129–1135. </a:t>
            </a:r>
          </a:p>
          <a:p>
            <a:endParaRPr lang="en-IN" dirty="0"/>
          </a:p>
          <a:p>
            <a:r>
              <a:rPr lang="en-IN" dirty="0"/>
              <a:t>10.  P. Singh, R. Kaur, and A. Sharma, “NDVI and IoT Framework for Fire Warnings,” Computers and Agriculture, vol. 8, pp. 87–96, 2022.</a:t>
            </a:r>
          </a:p>
        </p:txBody>
      </p:sp>
    </p:spTree>
    <p:extLst>
      <p:ext uri="{BB962C8B-B14F-4D97-AF65-F5344CB8AC3E}">
        <p14:creationId xmlns:p14="http://schemas.microsoft.com/office/powerpoint/2010/main" val="2513482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737F6-A7A4-467F-9561-6356023B1F21}"/>
              </a:ext>
            </a:extLst>
          </p:cNvPr>
          <p:cNvSpPr>
            <a:spLocks noGrp="1"/>
          </p:cNvSpPr>
          <p:nvPr>
            <p:ph type="title"/>
          </p:nvPr>
        </p:nvSpPr>
        <p:spPr/>
        <p:txBody>
          <a:bodyPr/>
          <a:lstStyle/>
          <a:p>
            <a:pPr algn="ctr"/>
            <a:r>
              <a:rPr lang="en-US" dirty="0"/>
              <a:t>REFERENCE</a:t>
            </a:r>
            <a:endParaRPr lang="en-IN" dirty="0"/>
          </a:p>
        </p:txBody>
      </p:sp>
      <p:sp>
        <p:nvSpPr>
          <p:cNvPr id="3" name="Text Placeholder 2">
            <a:extLst>
              <a:ext uri="{FF2B5EF4-FFF2-40B4-BE49-F238E27FC236}">
                <a16:creationId xmlns:a16="http://schemas.microsoft.com/office/drawing/2014/main" id="{9909BAFD-A17F-41C3-97D5-F4C978D38EFE}"/>
              </a:ext>
            </a:extLst>
          </p:cNvPr>
          <p:cNvSpPr>
            <a:spLocks noGrp="1"/>
          </p:cNvSpPr>
          <p:nvPr>
            <p:ph type="body" idx="1"/>
          </p:nvPr>
        </p:nvSpPr>
        <p:spPr>
          <a:xfrm>
            <a:off x="917575" y="1336357"/>
            <a:ext cx="10356850" cy="4936223"/>
          </a:xfrm>
        </p:spPr>
        <p:txBody>
          <a:bodyPr/>
          <a:lstStyle/>
          <a:p>
            <a:pPr marL="342900" indent="-342900" algn="just">
              <a:lnSpc>
                <a:spcPct val="150000"/>
              </a:lnSpc>
              <a:buFont typeface="+mj-lt"/>
              <a:buAutoNum type="arabicPeriod" startAt="11"/>
            </a:pPr>
            <a:r>
              <a:rPr lang="en-IN" dirty="0">
                <a:latin typeface="Times New Roman" panose="02020603050405020304" pitchFamily="18" charset="0"/>
                <a:cs typeface="Times New Roman" panose="02020603050405020304" pitchFamily="18" charset="0"/>
              </a:rPr>
              <a:t> R. Kumar, S. Gupta, and A. Verma, “LSTM Model for Forest Fire Forecasting,” Remote Sens., vol. 13, no. 4, pp. 665–674, 2021. </a:t>
            </a:r>
          </a:p>
          <a:p>
            <a:pPr marL="342900" indent="-342900" algn="just">
              <a:lnSpc>
                <a:spcPct val="150000"/>
              </a:lnSpc>
              <a:buFont typeface="+mj-lt"/>
              <a:buAutoNum type="arabicPeriod" startAt="11"/>
            </a:pPr>
            <a:r>
              <a:rPr lang="en-IN" dirty="0">
                <a:latin typeface="Times New Roman" panose="02020603050405020304" pitchFamily="18" charset="0"/>
                <a:cs typeface="Times New Roman" panose="02020603050405020304" pitchFamily="18" charset="0"/>
              </a:rPr>
              <a:t>M. Gacemi, M. Ghabi, and N. Benshela, “Evaluation of Machine Learning Models to Predict the Probability of Forest Fires with Small Training Sample: Case of the Wilaya of Sidi Belabbes,” in 2024 IEEE Mediterranean and Middle East Geoscience and Remote Sensing Sym- posium (M2GARSS), pp. 134–138.</a:t>
            </a:r>
          </a:p>
          <a:p>
            <a:pPr marL="342900" indent="-342900" algn="just">
              <a:lnSpc>
                <a:spcPct val="150000"/>
              </a:lnSpc>
              <a:buFont typeface="+mj-lt"/>
              <a:buAutoNum type="arabicPeriod" startAt="11"/>
            </a:pPr>
            <a:r>
              <a:rPr lang="en-IN" dirty="0">
                <a:latin typeface="Times New Roman" panose="02020603050405020304" pitchFamily="18" charset="0"/>
                <a:cs typeface="Times New Roman" panose="02020603050405020304" pitchFamily="18" charset="0"/>
              </a:rPr>
              <a:t> S. Barik, R. Das, and A. R. Rout, “Forest Fire Prediction Using Machine Learning,” in 2021 2nd International Conference on Smart Electronics and Communication (ICOSEC), IEEE, pp. 872–877, 2021.</a:t>
            </a:r>
          </a:p>
          <a:p>
            <a:pPr marL="342900" indent="-342900" algn="just">
              <a:lnSpc>
                <a:spcPct val="150000"/>
              </a:lnSpc>
              <a:buFont typeface="+mj-lt"/>
              <a:buAutoNum type="arabicPeriod" startAt="11"/>
            </a:pPr>
            <a:r>
              <a:rPr lang="en-IN" dirty="0">
                <a:latin typeface="Times New Roman" panose="02020603050405020304" pitchFamily="18" charset="0"/>
                <a:cs typeface="Times New Roman" panose="02020603050405020304" pitchFamily="18" charset="0"/>
              </a:rPr>
              <a:t>P. Moral, P. </a:t>
            </a:r>
            <a:r>
              <a:rPr lang="en-IN" dirty="0" err="1">
                <a:latin typeface="Times New Roman" panose="02020603050405020304" pitchFamily="18" charset="0"/>
                <a:cs typeface="Times New Roman" panose="02020603050405020304" pitchFamily="18" charset="0"/>
              </a:rPr>
              <a:t>Parasar</a:t>
            </a:r>
            <a:r>
              <a:rPr lang="en-IN" dirty="0">
                <a:latin typeface="Times New Roman" panose="02020603050405020304" pitchFamily="18" charset="0"/>
                <a:cs typeface="Times New Roman" panose="02020603050405020304" pitchFamily="18" charset="0"/>
              </a:rPr>
              <a:t>, N. R. Mukherjee, N. Kumari, A.P. Krishna, D. Mustafi, and A. Mustafi, “Forest Fire Forecasting Leveraging MODIS Satellite Fire Data Using Machine Learning for Jharkhand State, India,” in 2024 IEEE India Geoscience and Remote Sensing Symposium (InGARSS), pp. 1–6, 2024. </a:t>
            </a:r>
          </a:p>
          <a:p>
            <a:pPr marL="342900" indent="-342900" algn="just">
              <a:lnSpc>
                <a:spcPct val="150000"/>
              </a:lnSpc>
              <a:buFont typeface="+mj-lt"/>
              <a:buAutoNum type="arabicPeriod" startAt="11"/>
            </a:pPr>
            <a:r>
              <a:rPr lang="en-IN" dirty="0">
                <a:latin typeface="Times New Roman" panose="02020603050405020304" pitchFamily="18" charset="0"/>
                <a:cs typeface="Times New Roman" panose="02020603050405020304" pitchFamily="18" charset="0"/>
              </a:rPr>
              <a:t>J. Jang, S. Yoon, and Y. Cho, “Early Forest Fire Detection With UAV Image Fusion: A Novel Deep Learning Method Using Visible and Infrared Sensors,”IEEE Ac- cess, vol. 10, pp. 16032–16044, 2022.</a:t>
            </a:r>
          </a:p>
        </p:txBody>
      </p:sp>
    </p:spTree>
    <p:extLst>
      <p:ext uri="{BB962C8B-B14F-4D97-AF65-F5344CB8AC3E}">
        <p14:creationId xmlns:p14="http://schemas.microsoft.com/office/powerpoint/2010/main" val="901018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75A9545-1FCA-4C3D-A66B-A5D4BD857837}"/>
              </a:ext>
            </a:extLst>
          </p:cNvPr>
          <p:cNvSpPr>
            <a:spLocks noGrp="1"/>
          </p:cNvSpPr>
          <p:nvPr>
            <p:ph type="title"/>
          </p:nvPr>
        </p:nvSpPr>
        <p:spPr>
          <a:xfrm>
            <a:off x="2438400" y="529843"/>
            <a:ext cx="6946899" cy="1354217"/>
          </a:xfrm>
        </p:spPr>
        <p:txBody>
          <a:bodyPr/>
          <a:lstStyle/>
          <a:p>
            <a:r>
              <a:rPr lang="en-IN" dirty="0"/>
              <a:t>ACKNOWLEDGEMENTS</a:t>
            </a:r>
          </a:p>
        </p:txBody>
      </p:sp>
      <p:sp>
        <p:nvSpPr>
          <p:cNvPr id="5" name="Text Placeholder 2">
            <a:extLst>
              <a:ext uri="{FF2B5EF4-FFF2-40B4-BE49-F238E27FC236}">
                <a16:creationId xmlns:a16="http://schemas.microsoft.com/office/drawing/2014/main" id="{9DA5842C-3DF1-4004-B58B-27EB9A688713}"/>
              </a:ext>
            </a:extLst>
          </p:cNvPr>
          <p:cNvSpPr>
            <a:spLocks noGrp="1"/>
          </p:cNvSpPr>
          <p:nvPr>
            <p:ph type="body" idx="1"/>
          </p:nvPr>
        </p:nvSpPr>
        <p:spPr>
          <a:xfrm>
            <a:off x="917575" y="1336357"/>
            <a:ext cx="10356850" cy="3508653"/>
          </a:xfrm>
        </p:spPr>
        <p:txBody>
          <a:bodyPr/>
          <a:lstStyle/>
          <a:p>
            <a:endParaRPr lang="en-US" dirty="0"/>
          </a:p>
          <a:p>
            <a:endParaRPr lang="en-US" sz="2400" dirty="0"/>
          </a:p>
          <a:p>
            <a:r>
              <a:rPr lang="en-US" sz="2400" dirty="0"/>
              <a:t>We gratefully acknowledge</a:t>
            </a:r>
            <a:br>
              <a:rPr lang="en-US" sz="2400" dirty="0"/>
            </a:br>
            <a:r>
              <a:rPr lang="en-US" sz="2400" b="1" dirty="0"/>
              <a:t>Department of Computer Science and Engineering, Narasaraopeta Engineering College, Guntur, India</a:t>
            </a:r>
            <a:r>
              <a:rPr lang="en-US" sz="2400" dirty="0"/>
              <a:t>,</a:t>
            </a:r>
            <a:br>
              <a:rPr lang="en-US" sz="2400" dirty="0"/>
            </a:br>
            <a:r>
              <a:rPr lang="en-US" sz="2400" dirty="0"/>
              <a:t>for providing the facilities, mentorship, and support to carry out this research</a:t>
            </a:r>
            <a:r>
              <a:rPr lang="en-US" dirty="0"/>
              <a:t>.</a:t>
            </a:r>
          </a:p>
          <a:p>
            <a:endParaRPr lang="en-US" dirty="0"/>
          </a:p>
          <a:p>
            <a:r>
              <a:rPr lang="en-US" sz="2400" dirty="0"/>
              <a:t>Special thanks to</a:t>
            </a:r>
            <a:br>
              <a:rPr lang="en-US" sz="2400" dirty="0"/>
            </a:br>
            <a:r>
              <a:rPr lang="en-US" sz="2400" b="1" dirty="0"/>
              <a:t>Dr. S. Siva </a:t>
            </a:r>
            <a:r>
              <a:rPr lang="en-US" sz="2400" b="1" dirty="0" err="1"/>
              <a:t>Nageswararao</a:t>
            </a:r>
            <a:r>
              <a:rPr lang="en-US" sz="2400" b="1" dirty="0"/>
              <a:t> </a:t>
            </a:r>
            <a:r>
              <a:rPr lang="en-US" sz="2400" dirty="0"/>
              <a:t>and </a:t>
            </a:r>
            <a:r>
              <a:rPr lang="en-US" sz="2400" b="1" dirty="0"/>
              <a:t>Mr. </a:t>
            </a:r>
            <a:r>
              <a:rPr lang="en-US" sz="2400" b="1" dirty="0" err="1"/>
              <a:t>Dodda</a:t>
            </a:r>
            <a:r>
              <a:rPr lang="en-US" sz="2400" b="1" dirty="0"/>
              <a:t> </a:t>
            </a:r>
            <a:r>
              <a:rPr lang="en-US" sz="2400" b="1" dirty="0" err="1"/>
              <a:t>Venkata</a:t>
            </a:r>
            <a:r>
              <a:rPr lang="en-US" sz="2400" b="1" dirty="0"/>
              <a:t> Reddy</a:t>
            </a:r>
            <a:br>
              <a:rPr lang="en-US" sz="2400" dirty="0"/>
            </a:br>
            <a:r>
              <a:rPr lang="en-US" sz="2400" dirty="0"/>
              <a:t>for their valuable guidance and continuous encouragement.</a:t>
            </a:r>
            <a:endParaRPr lang="en-IN" sz="2400" dirty="0"/>
          </a:p>
        </p:txBody>
      </p:sp>
    </p:spTree>
    <p:extLst>
      <p:ext uri="{BB962C8B-B14F-4D97-AF65-F5344CB8AC3E}">
        <p14:creationId xmlns:p14="http://schemas.microsoft.com/office/powerpoint/2010/main" val="450068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10-02-2026</a:t>
            </a:r>
          </a:p>
        </p:txBody>
      </p:sp>
      <p:sp>
        <p:nvSpPr>
          <p:cNvPr id="5" name="object 5"/>
          <p:cNvSpPr txBox="1"/>
          <p:nvPr/>
        </p:nvSpPr>
        <p:spPr>
          <a:xfrm>
            <a:off x="4114800" y="6451049"/>
            <a:ext cx="10697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69719"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27</a:t>
            </a:fld>
            <a:endParaRPr dirty="0"/>
          </a:p>
        </p:txBody>
      </p:sp>
      <p:pic>
        <p:nvPicPr>
          <p:cNvPr id="9" name="Content Placeholder 2">
            <a:extLst>
              <a:ext uri="{FF2B5EF4-FFF2-40B4-BE49-F238E27FC236}">
                <a16:creationId xmlns:a16="http://schemas.microsoft.com/office/drawing/2014/main" id="{FC0D0F7C-B2FD-C5B2-B778-D72F8FE13278}"/>
              </a:ext>
            </a:extLst>
          </p:cNvPr>
          <p:cNvPicPr>
            <a:picLocks noGrp="1" noChangeAspect="1"/>
          </p:cNvPicPr>
          <p:nvPr/>
        </p:nvPicPr>
        <p:blipFill>
          <a:blip r:embed="rId2">
            <a:extLst>
              <a:ext uri="{28A0092B-C50C-407E-A947-70E740481C1C}">
                <a14:useLocalDpi xmlns:a14="http://schemas.microsoft.com/office/drawing/2010/main" val="0"/>
              </a:ext>
            </a:extLst>
          </a:blip>
          <a:srcRect/>
          <a:stretch/>
        </p:blipFill>
        <p:spPr>
          <a:xfrm>
            <a:off x="1503320" y="589052"/>
            <a:ext cx="9185360" cy="517720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10-02-2026</a:t>
            </a:r>
          </a:p>
        </p:txBody>
      </p:sp>
      <p:sp>
        <p:nvSpPr>
          <p:cNvPr id="5" name="object 5"/>
          <p:cNvSpPr txBox="1"/>
          <p:nvPr/>
        </p:nvSpPr>
        <p:spPr>
          <a:xfrm>
            <a:off x="4426330" y="6451049"/>
            <a:ext cx="1066002"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66001"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CB9</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28</a:t>
            </a:fld>
            <a:endParaRPr dirty="0"/>
          </a:p>
        </p:txBody>
      </p:sp>
      <p:pic>
        <p:nvPicPr>
          <p:cNvPr id="9" name="Content Placeholder 1">
            <a:extLst>
              <a:ext uri="{FF2B5EF4-FFF2-40B4-BE49-F238E27FC236}">
                <a16:creationId xmlns:a16="http://schemas.microsoft.com/office/drawing/2014/main" id="{41706558-8090-A4A6-08CA-B0EFAA70C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8639" y="1046480"/>
            <a:ext cx="8655341" cy="4592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2193</TotalTime>
  <Words>4309</Words>
  <Application>Microsoft Office PowerPoint</Application>
  <PresentationFormat>Widescreen</PresentationFormat>
  <Paragraphs>460</Paragraphs>
  <Slides>28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MS Mincho</vt:lpstr>
      <vt:lpstr>SimSun</vt:lpstr>
      <vt:lpstr>Arial</vt:lpstr>
      <vt:lpstr>Arial MT</vt:lpstr>
      <vt:lpstr>Calibri</vt:lpstr>
      <vt:lpstr>Courier New</vt:lpstr>
      <vt:lpstr>Söhne</vt:lpstr>
      <vt:lpstr>Times New Roman</vt:lpstr>
      <vt:lpstr>Office Theme</vt:lpstr>
      <vt:lpstr>Department of Computer Science and Engineering A Machine Learning Framework for Forest Fire Prediction in the Nallamala Forest Using NDVI and Synthetic Weather Data</vt:lpstr>
      <vt:lpstr>OUTLINE</vt:lpstr>
      <vt:lpstr>ABSTRACT</vt:lpstr>
      <vt:lpstr>INTRODUCTION</vt:lpstr>
      <vt:lpstr>PROBLEM STATEMENT</vt:lpstr>
      <vt:lpstr>LITERATURE SURVEY</vt:lpstr>
      <vt:lpstr>LITERATURE SURVEY</vt:lpstr>
      <vt:lpstr>RESEARCH GAPS</vt:lpstr>
      <vt:lpstr>OBJECTIVES</vt:lpstr>
      <vt:lpstr>METHODOLOGY</vt:lpstr>
      <vt:lpstr>FLOW DIAGRAM</vt:lpstr>
      <vt:lpstr>Working process</vt:lpstr>
      <vt:lpstr>IMPLEMENTATION</vt:lpstr>
      <vt:lpstr>IMPLEMENTATION</vt:lpstr>
      <vt:lpstr>IMPLEMENTATION</vt:lpstr>
      <vt:lpstr>IMPLEMENTATION</vt:lpstr>
      <vt:lpstr>IMPLEMENTATION</vt:lpstr>
      <vt:lpstr>RESULTS &amp; ANALYSIS</vt:lpstr>
      <vt:lpstr>RESULT &amp; ANALYSIS</vt:lpstr>
      <vt:lpstr>RESULTS &amp; ANALYSIS</vt:lpstr>
      <vt:lpstr>RESULTS &amp; ANALYSIS</vt:lpstr>
      <vt:lpstr>CONCLUSION &amp; FUTURE SCOPE</vt:lpstr>
      <vt:lpstr>REFERENCES</vt:lpstr>
      <vt:lpstr>         REFERENCES</vt:lpstr>
      <vt:lpstr>REFERENCE</vt:lpstr>
      <vt:lpstr>ACKNOWLEDGEMENTS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
  <cp:lastModifiedBy>NAVEENKUMAR</cp:lastModifiedBy>
  <cp:revision>92</cp:revision>
  <dcterms:created xsi:type="dcterms:W3CDTF">2024-03-31T16:53:22Z</dcterms:created>
  <dcterms:modified xsi:type="dcterms:W3CDTF">2026-02-10T03:15:36Z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2023-12-24T00:00:00Z</vt:filetime>
  </property>
  <property fmtid="{D5CDD505-2E9C-101B-9397-08002B2CF9AE}" pid="3" name="LastSaved">
    <vt:filetime>2024-03-31T00:00:00Z</vt:filetime>
  </property>
</Properties>
</file>